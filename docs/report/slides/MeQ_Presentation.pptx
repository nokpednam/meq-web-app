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8917BC9-EF25-4785-93BC-AB4BA4CB0820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FFFF99D-ABB3-42F5-AA41-CA0CF895F5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185979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th-TH"/>
              <a:t>สวัสดีครับ ผม ... วันนี้จะนำเสนอโปรเจกต์ </a:t>
            </a:r>
            <a:r>
              <a:rPr lang="en-US"/>
              <a:t>MeQ </a:t>
            </a:r>
            <a:r>
              <a:rPr lang="th-TH"/>
              <a:t>ระบบคิวสนามบาสและแจ้งซ่อมของมหาวิทยาลัยนเรศวร (20 วินาที)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FFFF99D-ABB3-42F5-AA41-CA0CF895F5B1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130258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th-TH"/>
              <a:t>ตอนเย็นทีมที่มารอมีมากกว่าจำนวนสนาม คิวมีอยู่แค่ในความจำของผู้เล่น ทีมที่มาใหม่ต้องถามว่าใครต่อคิวท้ายสุด ทุกคนมองไม่เห็นลำดับ และไม่มีอะไรบังคับให้เป็นไปตามลำดับ เลยทะเลาะกันบ่อย งานวิจัยเรื่องคิวบอกว่าความยุติธรรมที่ผู้คนมองเห็นสำคัญพอ ๆ กับเวลาที่ต้องรอ อีกปัญหาหนึ่งคืออุปกรณ์เสียแล้วไม่มีช่องทางแจ้ง ระบบจองของมหาวิทยาลัยมีอยู่แล้ว แต่ใช้สำหรับจองล่วงหน้า ไม่ได้รองรับคนที่เดินมาเล่น (1 นาที)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FFFF99D-ABB3-42F5-AA41-CA0CF895F5B1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287065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th-TH"/>
              <a:t>คำถามหลักคือ คิวที่ฐานข้อมูลเป็นคนบังคับกติกา บวกกับการแจ้งเตือนผ่าน </a:t>
            </a:r>
            <a:r>
              <a:rPr lang="en-US"/>
              <a:t>LINE </a:t>
            </a:r>
            <a:r>
              <a:rPr lang="th-TH"/>
              <a:t>จะใช้แทนการต่อคิวแบบปากต่อปากได้ไหม ผมแบ่งเป็นวัตถุประสงค์ 4 ข้อ และตั้งเกณฑ์วัดผล 7 ตัวไว้ก่อนเริ่มวัดผล (1 นาที)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FFFF99D-ABB3-42F5-AA41-CA0CF895F5B1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403388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MeQ </a:t>
            </a:r>
            <a:r>
              <a:rPr lang="th-TH"/>
              <a:t>เป็นเว็บแอปที่เปิดบนมือถือ ไม่ต้องติดตั้ง ผู้ใช้ล็อกอินด้วย </a:t>
            </a:r>
            <a:r>
              <a:rPr lang="en-US"/>
              <a:t>LINE </a:t>
            </a:r>
            <a:r>
              <a:rPr lang="th-TH"/>
              <a:t>สร้างทีม เชิญเพื่อน แล้วเข้าคิวสนามที่ต้องการ เมื่อถึงคิว ระบบเรียกทีมและแจ้งเตือนผ่าน </a:t>
            </a:r>
            <a:r>
              <a:rPr lang="en-US"/>
              <a:t>LINE </a:t>
            </a:r>
            <a:r>
              <a:rPr lang="th-TH"/>
              <a:t>ทุกคนในทีมต้องเช็กอินที่สนาม พอเล่นจบ ทั้งสองทีมส่งคะแนน ระบบตรวจว่าคะแนนตรงกันแล้วบันทึกลงสถิติ (1 นาที)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FFFF99D-ABB3-42F5-AA41-CA0CF895F5B1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864319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th-TH"/>
              <a:t>กติกาเหล่านี้เป็นกติกาที่ผู้เล่นใช้กันอยู่แล้วที่สนาม ผมแค่เอามาให้ระบบบังคับใช้แทนคน ที่ผู้เล่นสนใจที่สุดคือข้อทีมชนะอยู่ต่อได้ 2 เกมแล้วต้องพัก เพื่อไม่ให้ทีมเก่งทีมเดียวครองสนามทั้งคืน (1 นาที)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FFFF99D-ABB3-42F5-AA41-CA0CF895F5B1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460985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th-TH"/>
              <a:t>ผู้เล่นถ่ายรูปจุดที่เสียแล้วส่งรายงาน แอดมินได้รับแจ้งเตือนผ่าน </a:t>
            </a:r>
            <a:r>
              <a:rPr lang="en-US"/>
              <a:t>LINE </a:t>
            </a:r>
            <a:r>
              <a:rPr lang="th-TH"/>
              <a:t>ทันที ทุกครั้งที่สถานะเปลี่ยน ผู้แจ้งได้รับแจ้งเตือน และระบบเก็บประวัติไว้ทุกขั้น (40 วินาที)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FFFF99D-ABB3-42F5-AA41-CA0CF895F5B1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856349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th-TH"/>
              <a:t>หน้าเว็บทำด้วย </a:t>
            </a:r>
            <a:r>
              <a:rPr lang="en-US"/>
              <a:t>Next.js </a:t>
            </a:r>
            <a:r>
              <a:rPr lang="th-TH"/>
              <a:t>และ </a:t>
            </a:r>
            <a:r>
              <a:rPr lang="en-US"/>
              <a:t>deploy </a:t>
            </a:r>
            <a:r>
              <a:rPr lang="th-TH"/>
              <a:t>บน </a:t>
            </a:r>
            <a:r>
              <a:rPr lang="en-US"/>
              <a:t>Vercel </a:t>
            </a:r>
            <a:r>
              <a:rPr lang="th-TH"/>
              <a:t>ฝั่งหลังบ้านใช้ </a:t>
            </a:r>
            <a:r>
              <a:rPr lang="en-US"/>
              <a:t>Supabase </a:t>
            </a:r>
            <a:r>
              <a:rPr lang="th-TH"/>
              <a:t>ซึ่งมีฐานข้อมูล </a:t>
            </a:r>
            <a:r>
              <a:rPr lang="en-US"/>
              <a:t>PostgreSQL </a:t>
            </a:r>
            <a:r>
              <a:rPr lang="th-TH"/>
              <a:t>ระบบล็อกอิน และที่เก็บรูป การแจ้งเตือนส่งผ่าน </a:t>
            </a:r>
            <a:r>
              <a:rPr lang="en-US"/>
              <a:t>LINE Messaging API </a:t>
            </a:r>
            <a:r>
              <a:rPr lang="th-TH"/>
              <a:t>ทั้งหมดใช้บริการแบบฟรี (1 นาที 10 วินาที)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FFFF99D-ABB3-42F5-AA41-CA0CF895F5B1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019843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th-TH"/>
              <a:t>นี่คือหัวใจของงาน ถ้าให้หน้าเว็บเป็นคนตัดสินกติกา คนที่รู้วิธีก็โกงได้ หรือถ้าสองทีมกดเข้าคิวพร้อมกันก็อาจได้คิวซ้อนกัน ผมจึงให้ฐานข้อมูลเป็นกรรมการ ทุกการเปลี่ยนแปลงต้องผ่านฟังก์ชันที่ตรวจสิทธิ์และกติกาภายใน </a:t>
            </a:r>
            <a:r>
              <a:rPr lang="en-US"/>
              <a:t>transaction </a:t>
            </a:r>
            <a:r>
              <a:rPr lang="th-TH"/>
              <a:t>ตำแหน่ง </a:t>
            </a:r>
            <a:r>
              <a:rPr lang="en-US"/>
              <a:t>GPS </a:t>
            </a:r>
            <a:r>
              <a:rPr lang="th-TH"/>
              <a:t>ก็คำนวณระยะทางที่เซิร์ฟเวอร์ ไม่เชื่อค่าที่หน้าเว็บส่งมาว่าอยู่ในระยะ (1 นาที 10 วินาที)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FFFF99D-ABB3-42F5-AA41-CA0CF895F5B1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882483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th-TH"/>
              <a:t>ผมพัฒนาแบบสร้าง ทดสอบ แล้วปรับปรุง ทุกครั้งที่แก้โค้ด </a:t>
            </a:r>
            <a:r>
              <a:rPr lang="en-US"/>
              <a:t>GitHub </a:t>
            </a:r>
            <a:r>
              <a:rPr lang="th-TH"/>
              <a:t>จะรันเทสอัตโนมัติ 147 ข้อ ถ้าข้อไหนไม่ผ่านจะ </a:t>
            </a:r>
            <a:r>
              <a:rPr lang="en-US"/>
              <a:t>merge </a:t>
            </a:r>
            <a:r>
              <a:rPr lang="th-TH"/>
              <a:t>ไม่ได้ และบั๊กที่เจอจากการทดสอบที่สนามจริง แก้แล้วจะเขียนเทสเพิ่มเพื่อไม่ให้บั๊กนั้นกลับมาอีก (50 วินาที)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FFFF99D-ABB3-42F5-AA41-CA0CF895F5B1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659998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th-TH"/>
              <a:t>เล่าทีละขั้นตามภาพ (1) หัวหน้าทีมกดเข้าคิวที่หน้าสนาม เห็นลำดับของตัวเองทันที (2) เมื่อถึงคิว ระบบส่ง </a:t>
            </a:r>
            <a:r>
              <a:rPr lang="en-US"/>
              <a:t>LINE </a:t>
            </a:r>
            <a:r>
              <a:rPr lang="th-TH"/>
              <a:t>ไปที่หัวหน้าทีม ไม่ต้องยืนรอที่สนาม (ภาพนี้เป็นตัวอย่างข้อความ </a:t>
            </a:r>
            <a:r>
              <a:rPr lang="en-US"/>
              <a:t>LINE </a:t>
            </a:r>
            <a:r>
              <a:rPr lang="th-TH"/>
              <a:t>จากระบบ) (3) สมาชิกทุกคนกดยืนยันตำแหน่ง เซิร์ฟเวอร์คำนวณระยะ แล้วหัวหน้ากดยืนยันทีมพร้อม (4) เล่นจบ แต่ละทีมกรอกคะแนนของผู้เล่นตัวเอง ระบบตรวจว่าตรงกัน (5) ระบบสรุปผล ทีมชนะเลือกเล่นต่อ ทีมแพ้เลือกต่อคิวใหม่ภายใน 3 นาที (1 นาที 30 วินาที)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FFFF99D-ABB3-42F5-AA41-CA0CF895F5B1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130525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th-TH"/>
              <a:t>วันที่ 17 ต.ค. ผมพาผู้เล่น 13 คน 4 ทีม มาใช้ระบบจริงที่สนาม ตั้งแต่ 5 โมงครึ่งถึง 6 โมงครึ่ง ตามแผนจะเทสที่สนามในร่ม แต่วันนั้นกำลังซ่อมไฟสนาม ไม่มีไฟ คนเลยไม่มาเล่น ผมจึงย้ายไปเทสที่สนามคณะวิทยาศาสตร์ซึ่งมีสนามเดียว เล่นแบบ 3</a:t>
            </a:r>
            <a:r>
              <a:rPr lang="en-US"/>
              <a:t>x3 </a:t>
            </a:r>
            <a:r>
              <a:rPr lang="th-TH"/>
              <a:t>ตอนแรกเช็กอินไม่ผ่านเพราะพิกัดในระบบยังชี้ไปที่สนามในร่ม ผมตั้งพิกัดใหม่ที่สนามนั้นทันที (40 วินาที)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FFFF99D-ABB3-42F5-AA41-CA0CF895F5B1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908193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KPI </a:t>
            </a:r>
            <a:r>
              <a:rPr lang="th-TH"/>
              <a:t>แต่ละตัววัดคนละเรื่องและใช้เครื่องมือต่างกัน </a:t>
            </a:r>
            <a:r>
              <a:rPr lang="en-US"/>
              <a:t>KPI-1 </a:t>
            </a:r>
            <a:r>
              <a:rPr lang="th-TH"/>
              <a:t>จำลองผู้ใช้ 50 คนกดเข้าออกคิวพร้อมกัน แล้วใช้ </a:t>
            </a:r>
            <a:r>
              <a:rPr lang="en-US"/>
              <a:t>SQL 9 </a:t>
            </a:r>
            <a:r>
              <a:rPr lang="th-TH"/>
              <a:t>ข้อตรวจว่ามีอะไรผิดกติกาไหม </a:t>
            </a:r>
            <a:r>
              <a:rPr lang="en-US"/>
              <a:t>KPI-2 </a:t>
            </a:r>
            <a:r>
              <a:rPr lang="th-TH"/>
              <a:t>คือเทสอัตโนมัติ </a:t>
            </a:r>
            <a:r>
              <a:rPr lang="en-US"/>
              <a:t>KPI-3 </a:t>
            </a:r>
            <a:r>
              <a:rPr lang="th-TH"/>
              <a:t>วัดเวลาส่ง </a:t>
            </a:r>
            <a:r>
              <a:rPr lang="en-US"/>
              <a:t>LINE </a:t>
            </a:r>
            <a:r>
              <a:rPr lang="th-TH"/>
              <a:t>จากข้อมูลจริงวันทดสอบ </a:t>
            </a:r>
            <a:r>
              <a:rPr lang="en-US"/>
              <a:t>KPI-4 </a:t>
            </a:r>
            <a:r>
              <a:rPr lang="th-TH"/>
              <a:t>ทำตามสถานการณ์แจ้งซ่อม 7 ขั้นบนระบบจริง </a:t>
            </a:r>
            <a:r>
              <a:rPr lang="en-US"/>
              <a:t>KPI-5 </a:t>
            </a:r>
            <a:r>
              <a:rPr lang="th-TH"/>
              <a:t>วัดความเร็วด้วย </a:t>
            </a:r>
            <a:r>
              <a:rPr lang="en-US"/>
              <a:t>k6 </a:t>
            </a:r>
            <a:r>
              <a:rPr lang="th-TH"/>
              <a:t>และ </a:t>
            </a:r>
            <a:r>
              <a:rPr lang="en-US"/>
              <a:t>Lighthouse KPI-6 </a:t>
            </a:r>
            <a:r>
              <a:rPr lang="th-TH"/>
              <a:t>คือแบบสอบถาม </a:t>
            </a:r>
            <a:r>
              <a:rPr lang="en-US"/>
              <a:t>SUS </a:t>
            </a:r>
            <a:r>
              <a:rPr lang="th-TH"/>
              <a:t>และ </a:t>
            </a:r>
            <a:r>
              <a:rPr lang="en-US"/>
              <a:t>KPI-7 </a:t>
            </a:r>
            <a:r>
              <a:rPr lang="th-TH"/>
              <a:t>ตรวจความปลอดภัยด้วยหลายเครื่องมือ ทุกเกณฑ์ตั้งไว้ก่อนวัดผล (1 นาที)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FFFF99D-ABB3-42F5-AA41-CA0CF895F5B1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99601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th-TH"/>
              <a:t>เทส 147 ข้อแบ่งเป็นสองส่วน ส่วนแรกคือเทสฐานข้อมูล 115 ข้อ เกือบครึ่งเป็นเรื่องสิทธิ์ ว่าใครอ่านหรือแก้อะไรได้บ้าง รองลงมาคือการเช็กอินด้วยตำแหน่ง กติกาชนะสองเกมแล้วพัก และการต่อคิวใหม่ อีกส่วนคือ </a:t>
            </a:r>
            <a:r>
              <a:rPr lang="en-US"/>
              <a:t>unit test 32 </a:t>
            </a:r>
            <a:r>
              <a:rPr lang="th-TH"/>
              <a:t>ข้อ ตรวจฝั่งโค้ด </a:t>
            </a:r>
            <a:r>
              <a:rPr lang="en-US"/>
              <a:t>TypeScript </a:t>
            </a:r>
            <a:r>
              <a:rPr lang="th-TH"/>
              <a:t>เช่น ข้อความ </a:t>
            </a:r>
            <a:r>
              <a:rPr lang="en-US"/>
              <a:t>LINE </a:t>
            </a:r>
            <a:r>
              <a:rPr lang="th-TH"/>
              <a:t>และ </a:t>
            </a:r>
            <a:r>
              <a:rPr lang="en-US"/>
              <a:t>security headers </a:t>
            </a:r>
            <a:r>
              <a:rPr lang="th-TH"/>
              <a:t>ทุกครั้งที่แก้โค้ด </a:t>
            </a:r>
            <a:r>
              <a:rPr lang="en-US"/>
              <a:t>GitHub </a:t>
            </a:r>
            <a:r>
              <a:rPr lang="th-TH"/>
              <a:t>จะรันทั้ง 147 ข้อ ถ้าไม่ผ่านจะ </a:t>
            </a:r>
            <a:r>
              <a:rPr lang="en-US"/>
              <a:t>merge </a:t>
            </a:r>
            <a:r>
              <a:rPr lang="th-TH"/>
              <a:t>ไม่ได้ (1 นาที)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FFFF99D-ABB3-42F5-AA41-CA0CF895F5B1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790623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th-TH"/>
              <a:t>ทุกเกณฑ์ตั้งไว้ก่อนวัดผล ผลออกมาผ่าน 6 จาก 7 ตัว ตัวที่ไม่ผ่านคือ </a:t>
            </a:r>
            <a:r>
              <a:rPr lang="en-US"/>
              <a:t>SUS </a:t>
            </a:r>
            <a:r>
              <a:rPr lang="th-TH"/>
              <a:t>ได้ 67.5 จากผู้เล่น 13 คน ต่ำกว่าเกณฑ์ 68 อยู่ 0.5 คะแนน ถือว่าก้ำกึ่ง ข้อที่ได้คะแนนน้อยคือต้องมีคนช่วยตอนใช้ครั้งแรก โดยเฉพาะ </a:t>
            </a:r>
            <a:r>
              <a:rPr lang="en-US"/>
              <a:t>KPI-1 </a:t>
            </a:r>
            <a:r>
              <a:rPr lang="th-TH"/>
              <a:t>ที่จำลองผู้ใช้ 50 คนกดเข้าออกคิวพร้อมกัน ไม่มีครั้งไหนที่คิวผิดกติกาเลย และมีการกดเข้าคิวซ้ำพร้อมกัน 533 ครั้ง ระบบไม่ยอมรับแม้แต่ครั้งเดียว (1 นาที 30 วินาที)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FFFF99D-ABB3-42F5-AA41-CA0CF895F5B1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90982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th-TH"/>
              <a:t>สิ่งที่ได้เรียนรู้มากที่สุดคือ เทสอัตโนมัติผ่านหมดก็ยังไม่พอ ต้องให้คนจริงใช้จริง บั๊กที่ร้ายแรงที่สุดเจอจากการทดสอบที่สนาม รวมทั้งหมดเจอข้อบกพร่องในโค้ด 11 จุด แก้ครบและเพิ่มเทสทุกครั้ง และปัญหาการตั้งค่าพิกัด 1 จุดที่แก้ที่สนาม (1 นาที)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FFFF99D-ABB3-42F5-AA41-CA0CF895F5B1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60897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th-TH"/>
              <a:t>ข้อจำกัดที่ตอบตรง ๆ ได้คือ ถ้ามีคนปลอม </a:t>
            </a:r>
            <a:r>
              <a:rPr lang="en-US"/>
              <a:t>GPS </a:t>
            </a:r>
            <a:r>
              <a:rPr lang="th-TH"/>
              <a:t>ระบบตรวจไม่ได้ และคะแนนเป็นค่าที่ผู้เล่นกรอกเอง ระบบตรวจได้แค่ว่าสองทีมกรอกตรงกัน งานต่อยอดคือขยายไปสนามกีฬาอื่น และใช้ </a:t>
            </a:r>
            <a:r>
              <a:rPr lang="en-US"/>
              <a:t>QR code </a:t>
            </a:r>
            <a:r>
              <a:rPr lang="th-TH"/>
              <a:t>ที่สนามเพื่อยืนยันว่ามาจริง (1 นาที)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FFFF99D-ABB3-42F5-AA41-CA0CF895F5B1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087214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th-TH"/>
              <a:t>ขอบคุณครับ ยินดีตอบคำถามครับ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FFFF99D-ABB3-42F5-AA41-CA0CF895F5B1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810508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C8B2D8-2110-C22E-8039-AB994A356AE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356E675-696A-DEAB-11E6-8A2791AD97C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16C96DF-4AE7-2FD1-AFCE-932E4B5972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72CA5E-280A-4B65-87FD-4C6C19C43265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4B42528-DA57-5016-7F84-4777655564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C5F558-6994-92A5-60E8-221CCDB5B4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876518-4327-4CFE-83AF-E6DEF44DB8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40754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C50FFD-AA20-E1F6-64C9-24E3EFA5E6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D0E025-2D56-2728-B196-65AE943A6A2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C812E2C-E3B7-C6A7-8867-A542E35637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72CA5E-280A-4B65-87FD-4C6C19C43265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D0A72EE-D857-EB17-1CBA-72B5ABB826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49DAEE6-0890-1AB4-A6CD-60CB6B59C0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876518-4327-4CFE-83AF-E6DEF44DB8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71640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535FD1-45ED-CDB6-D44D-E74936D6CD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A40745F-6EDB-C274-6BD9-F9C972201A3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3D735DD-F8CE-62A6-7A7A-1F0C2AE2A7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72CA5E-280A-4B65-87FD-4C6C19C43265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DC4EB11-A673-ACFF-B3B6-89FFB61CFE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03FE10-846C-822C-0AE5-949D49D889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876518-4327-4CFE-83AF-E6DEF44DB8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945031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760EAD-5069-2562-E029-0922190A45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79731C-DF93-2320-96C5-4C17B246B40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E460877-603B-3E7B-9AD1-C4C24D6D5AA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6FCC37F-1500-5493-C0D2-4062263C8A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72CA5E-280A-4B65-87FD-4C6C19C43265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0CD7461-3E21-FC9C-5E37-DEA4815FF6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FC2D8A7-8938-9D1A-5368-33412B9F0F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876518-4327-4CFE-83AF-E6DEF44DB8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96037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11038D-A5F7-E5E1-BD20-5ABC93E1CD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29CBDD0-B475-5D56-E9C4-2ADD96DC544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95EE9A9-EB69-040C-4235-3E4FAF3FA12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6A5B400-13F6-17CB-36A0-12E246D0F22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7EBDB01-29A3-5219-5057-9640320C200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DB92459-E347-03A0-7B51-07E4EE63B6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72CA5E-280A-4B65-87FD-4C6C19C43265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B5C90E9-D648-365A-8FC8-E19D6E38DA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FF44E36-4220-DF67-63C1-8A2D177BB3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876518-4327-4CFE-83AF-E6DEF44DB8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59634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42FDD4-04DA-AFCF-7572-F7ED71C1AD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5D73342-9FB5-CFFD-E6AE-D7E25A3FF2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72CA5E-280A-4B65-87FD-4C6C19C43265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E580F19-4698-CD46-40BE-2FE32D83F9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EF3ACEB-CDA1-61C6-A635-AE0699E0D2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876518-4327-4CFE-83AF-E6DEF44DB8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753855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9409750-928D-F7E2-11C5-21F5CCA310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72CA5E-280A-4B65-87FD-4C6C19C43265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9BA89D8-544B-1110-5824-A9CC9E42CC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EBA4DE0-9840-8BD6-E38C-0334F5F9B7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876518-4327-4CFE-83AF-E6DEF44DB8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219706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F427B0-C0B4-21EF-68B3-E3CBA5B6C4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2747F2-E8AC-1B61-E520-73B99F15395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B7D74C5-9D48-F65A-89D8-C8DF546F083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9A1D1ED-B5BF-431B-B32A-22A0B809CB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72CA5E-280A-4B65-87FD-4C6C19C43265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D12C456-1E02-1E62-A35A-AB74A103B4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8259344-16B0-F552-DF54-4942D10529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876518-4327-4CFE-83AF-E6DEF44DB8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923224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DFBDA9-C14C-A45A-9A69-251268D11D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B82B731-6E61-EC07-E1D2-D84C4E06EACB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0B5308A-9FC5-676E-9558-9D4DA184515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61C1EB2-F0CE-2ADA-794E-305CE9C6A6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72CA5E-280A-4B65-87FD-4C6C19C43265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D8D3E21-63EB-9317-ABD8-705C440481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9ED40DC-5545-C02B-C9B7-EABBAB88EA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876518-4327-4CFE-83AF-E6DEF44DB8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58903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D0464C-D3DA-9F0A-455E-4F6B5801A9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9358B0A-0647-ED8C-CFA6-87C44183605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A5B3D40-B379-7176-C138-D62A37C213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72CA5E-280A-4B65-87FD-4C6C19C43265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D6DCA72-9512-1F9E-63C7-9B362D47FF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D936FE6-A68B-3D9D-5A21-822A3974FF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876518-4327-4CFE-83AF-E6DEF44DB8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984485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317AD56-4511-5F60-2CDC-B54D59E3B9F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E68E4A3-A26C-FC9B-05FD-E5A81CC31FF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6C5EF47-9A09-A3B4-CB52-AA4AEECAFC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72CA5E-280A-4B65-87FD-4C6C19C43265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01F1306-5108-C976-23E9-BB3C30D52A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F2DFE59-B30D-1703-7C79-6560B5C97F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876518-4327-4CFE-83AF-E6DEF44DB8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1375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3AC3A4A-0C4C-F9F0-F9EA-9264C04256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8900955-5AAD-D318-9EC3-2A43BAA32D7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4D988AB-B8BD-4712-05B0-5D2EBA8AF58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D72CA5E-280A-4B65-87FD-4C6C19C43265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A964760-09A0-268D-34A4-9F2692AC5ED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17DCAE7-F9CF-D6FF-A56E-971B92F7C2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876518-4327-4CFE-83AF-E6DEF44DB8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483851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png"/><Relationship Id="rId5" Type="http://schemas.openxmlformats.org/officeDocument/2006/relationships/image" Target="../media/image2.png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0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4.png"/><Relationship Id="rId5" Type="http://schemas.openxmlformats.org/officeDocument/2006/relationships/image" Target="../media/image6.png"/><Relationship Id="rId4" Type="http://schemas.openxmlformats.org/officeDocument/2006/relationships/image" Target="../media/image1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7.jpg"/><Relationship Id="rId4" Type="http://schemas.openxmlformats.org/officeDocument/2006/relationships/image" Target="../media/image16.jp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1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7C0FFAA-CF6A-3293-A884-E60C6D10FBAA}"/>
              </a:ext>
            </a:extLst>
          </p:cNvPr>
          <p:cNvSpPr txBox="1"/>
          <p:nvPr/>
        </p:nvSpPr>
        <p:spPr>
          <a:xfrm>
            <a:off x="609600" y="1524000"/>
            <a:ext cx="6096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b="1">
                <a:solidFill>
                  <a:srgbClr val="E8682C"/>
                </a:solidFill>
                <a:latin typeface="Arial" panose="020B0604020202020204" pitchFamily="34" charset="0"/>
              </a:rPr>
              <a:t>FINAL-YEAR PROJECT · COMPUTER SCIENCE · NARESUAN UNIVERSITY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058DB54-F45D-58A2-FC2D-666136E827BC}"/>
              </a:ext>
            </a:extLst>
          </p:cNvPr>
          <p:cNvSpPr txBox="1"/>
          <p:nvPr/>
        </p:nvSpPr>
        <p:spPr>
          <a:xfrm>
            <a:off x="609600" y="1854200"/>
            <a:ext cx="6096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7200" b="1">
                <a:solidFill>
                  <a:srgbClr val="FFFFFF"/>
                </a:solidFill>
                <a:latin typeface="Arial" panose="020B0604020202020204" pitchFamily="34" charset="0"/>
              </a:rPr>
              <a:t>MeQ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6023558-23FC-E028-8982-AD14C403716E}"/>
              </a:ext>
            </a:extLst>
          </p:cNvPr>
          <p:cNvSpPr txBox="1"/>
          <p:nvPr/>
        </p:nvSpPr>
        <p:spPr>
          <a:xfrm>
            <a:off x="609600" y="3048000"/>
            <a:ext cx="5969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2400">
                <a:solidFill>
                  <a:srgbClr val="FFFFFF"/>
                </a:solidFill>
                <a:latin typeface="Arial" panose="020B0604020202020204" pitchFamily="34" charset="0"/>
              </a:rPr>
              <a:t>A mobile web application for basketball court queues and maintenance reports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B164FBC-6366-1D4D-E666-A21689CFE218}"/>
              </a:ext>
            </a:extLst>
          </p:cNvPr>
          <p:cNvSpPr txBox="1"/>
          <p:nvPr/>
        </p:nvSpPr>
        <p:spPr>
          <a:xfrm>
            <a:off x="609600" y="4724400"/>
            <a:ext cx="5969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>
                <a:solidFill>
                  <a:srgbClr val="C9CED8"/>
                </a:solidFill>
                <a:latin typeface="Arial" panose="020B0604020202020204" pitchFamily="34" charset="0"/>
              </a:rPr>
              <a:t>[Your name] · [Student ID]</a:t>
            </a:r>
          </a:p>
          <a:p>
            <a:r>
              <a:rPr lang="en-US" sz="1600">
                <a:solidFill>
                  <a:srgbClr val="C9CED8"/>
                </a:solidFill>
                <a:latin typeface="Arial" panose="020B0604020202020204" pitchFamily="34" charset="0"/>
              </a:rPr>
              <a:t>Advisor: [Advisor name]</a:t>
            </a:r>
          </a:p>
          <a:p>
            <a:r>
              <a:rPr lang="en-US" sz="1600">
                <a:solidFill>
                  <a:srgbClr val="C9CED8"/>
                </a:solidFill>
                <a:latin typeface="Arial" panose="020B0604020202020204" pitchFamily="34" charset="0"/>
              </a:rPr>
              <a:t>2026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238DBDF-0B99-AD93-1C02-51605982DC0F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12000" y="889000"/>
            <a:ext cx="2286000" cy="5080000"/>
          </a:xfrm>
          <a:prstGeom prst="rect">
            <a:avLst/>
          </a:prstGeom>
          <a:ln w="12700">
            <a:solidFill>
              <a:srgbClr val="D0D4DC"/>
            </a:solidFill>
          </a:ln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F417683D-9B47-6412-FDD3-4216890121D4}"/>
              </a:ext>
            </a:extLst>
          </p:cNvPr>
          <p:cNvPicPr>
            <a:picLocks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98000" y="889000"/>
            <a:ext cx="2286000" cy="5080000"/>
          </a:xfrm>
          <a:prstGeom prst="rect">
            <a:avLst/>
          </a:prstGeom>
          <a:ln w="12700">
            <a:solidFill>
              <a:srgbClr val="D0D4DC"/>
            </a:solidFill>
          </a:ln>
        </p:spPr>
      </p:pic>
    </p:spTree>
    <p:extLst>
      <p:ext uri="{BB962C8B-B14F-4D97-AF65-F5344CB8AC3E}">
        <p14:creationId xmlns:p14="http://schemas.microsoft.com/office/powerpoint/2010/main" val="55728730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BEDC445-29AF-6845-5CC3-B3922E49DC4A}"/>
              </a:ext>
            </a:extLst>
          </p:cNvPr>
          <p:cNvSpPr txBox="1"/>
          <p:nvPr/>
        </p:nvSpPr>
        <p:spPr>
          <a:xfrm>
            <a:off x="609600" y="381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b="1">
                <a:solidFill>
                  <a:srgbClr val="E8682C"/>
                </a:solidFill>
                <a:latin typeface="Arial" panose="020B0604020202020204" pitchFamily="34" charset="0"/>
              </a:rPr>
              <a:t>WHY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0061884-BE2F-C682-F950-A494CF737EAD}"/>
              </a:ext>
            </a:extLst>
          </p:cNvPr>
          <p:cNvSpPr txBox="1"/>
          <p:nvPr/>
        </p:nvSpPr>
        <p:spPr>
          <a:xfrm>
            <a:off x="609600" y="635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000" b="1">
                <a:solidFill>
                  <a:srgbClr val="1E2430"/>
                </a:solidFill>
                <a:latin typeface="Arial" panose="020B0604020202020204" pitchFamily="34" charset="0"/>
              </a:rPr>
              <a:t>No one can see the queue, and no one can enforce it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FF3CA0E-9F75-4787-6F61-E93C7C080616}"/>
              </a:ext>
            </a:extLst>
          </p:cNvPr>
          <p:cNvSpPr txBox="1"/>
          <p:nvPr/>
        </p:nvSpPr>
        <p:spPr>
          <a:xfrm>
            <a:off x="609600" y="1587500"/>
            <a:ext cx="533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254000" indent="-254000">
              <a:spcAft>
                <a:spcPts val="1100"/>
              </a:spcAft>
              <a:buClr>
                <a:srgbClr val="E8682C"/>
              </a:buClr>
              <a:buFont typeface="+mj-lt"/>
              <a:buChar char="•"/>
            </a:pPr>
            <a:r>
              <a:rPr lang="en-US">
                <a:solidFill>
                  <a:srgbClr val="1E2430"/>
                </a:solidFill>
                <a:latin typeface="Arial" panose="020B0604020202020204" pitchFamily="34" charset="0"/>
              </a:rPr>
              <a:t>3 courts (3x3 A, 3x3 B, 5x5), free walk-in play, crowded every evening</a:t>
            </a:r>
          </a:p>
          <a:p>
            <a:pPr marL="254000" indent="-254000">
              <a:spcAft>
                <a:spcPts val="1100"/>
              </a:spcAft>
              <a:buClr>
                <a:srgbClr val="E8682C"/>
              </a:buClr>
              <a:buFont typeface="+mj-lt"/>
              <a:buChar char="•"/>
            </a:pPr>
            <a:r>
              <a:rPr lang="en-US">
                <a:solidFill>
                  <a:srgbClr val="1E2430"/>
                </a:solidFill>
                <a:latin typeface="Arial" panose="020B0604020202020204" pitchFamily="34" charset="0"/>
              </a:rPr>
              <a:t>The queue lives only in players' memory: "Who is last?"</a:t>
            </a:r>
          </a:p>
          <a:p>
            <a:pPr marL="254000" indent="-254000">
              <a:spcAft>
                <a:spcPts val="1100"/>
              </a:spcAft>
              <a:buClr>
                <a:srgbClr val="E8682C"/>
              </a:buClr>
              <a:buFont typeface="+mj-lt"/>
              <a:buChar char="•"/>
            </a:pPr>
            <a:r>
              <a:rPr lang="en-US">
                <a:solidFill>
                  <a:srgbClr val="1E2430"/>
                </a:solidFill>
                <a:latin typeface="Arial" panose="020B0604020202020204" pitchFamily="34" charset="0"/>
              </a:rPr>
              <a:t>No one can see the order or enforce it, so disputes follow</a:t>
            </a:r>
          </a:p>
          <a:p>
            <a:pPr marL="254000" indent="-254000">
              <a:spcAft>
                <a:spcPts val="1100"/>
              </a:spcAft>
              <a:buClr>
                <a:srgbClr val="E8682C"/>
              </a:buClr>
              <a:buFont typeface="+mj-lt"/>
              <a:buChar char="•"/>
            </a:pPr>
            <a:r>
              <a:rPr lang="en-US">
                <a:solidFill>
                  <a:srgbClr val="1E2430"/>
                </a:solidFill>
                <a:latin typeface="Arial" panose="020B0604020202020204" pitchFamily="34" charset="0"/>
              </a:rPr>
              <a:t>Broken hoops and lights go unreported</a:t>
            </a:r>
          </a:p>
          <a:p>
            <a:pPr marL="254000" indent="-254000">
              <a:spcAft>
                <a:spcPts val="1100"/>
              </a:spcAft>
              <a:buClr>
                <a:srgbClr val="E8682C"/>
              </a:buClr>
              <a:buFont typeface="+mj-lt"/>
              <a:buChar char="•"/>
            </a:pPr>
            <a:r>
              <a:rPr lang="en-US">
                <a:solidFill>
                  <a:srgbClr val="1E2430"/>
                </a:solidFill>
                <a:latin typeface="Arial" panose="020B0604020202020204" pitchFamily="34" charset="0"/>
              </a:rPr>
              <a:t>The NU sports booking system handles reservations, not walk-in queues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C6E7AE9-4457-461A-DE79-AD2BB1BE4C10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50000" y="1778000"/>
            <a:ext cx="5232400" cy="2819400"/>
          </a:xfrm>
          <a:prstGeom prst="rect">
            <a:avLst/>
          </a:prstGeom>
          <a:ln w="12700">
            <a:solidFill>
              <a:srgbClr val="D0D4DC"/>
            </a:solidFill>
          </a:ln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DA9CA416-6544-AF74-C0DB-FA5AABC19C48}"/>
              </a:ext>
            </a:extLst>
          </p:cNvPr>
          <p:cNvSpPr txBox="1"/>
          <p:nvPr/>
        </p:nvSpPr>
        <p:spPr>
          <a:xfrm>
            <a:off x="6350000" y="4724400"/>
            <a:ext cx="52324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200">
                <a:solidFill>
                  <a:srgbClr val="5B6270"/>
                </a:solidFill>
                <a:latin typeface="Arial" panose="020B0604020202020204" pitchFamily="34" charset="0"/>
              </a:rPr>
              <a:t>The official NU sports page handles reservations, not walk-in play</a:t>
            </a:r>
          </a:p>
        </p:txBody>
      </p:sp>
    </p:spTree>
    <p:extLst>
      <p:ext uri="{BB962C8B-B14F-4D97-AF65-F5344CB8AC3E}">
        <p14:creationId xmlns:p14="http://schemas.microsoft.com/office/powerpoint/2010/main" val="179714874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4264216-2F34-A8BA-F8EF-E942803E5193}"/>
              </a:ext>
            </a:extLst>
          </p:cNvPr>
          <p:cNvSpPr txBox="1"/>
          <p:nvPr/>
        </p:nvSpPr>
        <p:spPr>
          <a:xfrm>
            <a:off x="609600" y="381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b="1">
                <a:solidFill>
                  <a:srgbClr val="E8682C"/>
                </a:solidFill>
                <a:latin typeface="Arial" panose="020B0604020202020204" pitchFamily="34" charset="0"/>
              </a:rPr>
              <a:t>WHY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F9B7192-1F24-7BDC-71FF-589EB1D7584A}"/>
              </a:ext>
            </a:extLst>
          </p:cNvPr>
          <p:cNvSpPr txBox="1"/>
          <p:nvPr/>
        </p:nvSpPr>
        <p:spPr>
          <a:xfrm>
            <a:off x="609600" y="635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000" b="1">
                <a:solidFill>
                  <a:srgbClr val="1E2430"/>
                </a:solidFill>
                <a:latin typeface="Arial" panose="020B0604020202020204" pitchFamily="34" charset="0"/>
              </a:rPr>
              <a:t>Research question and objectives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59C88A44-C314-AAD7-AEC2-397D721E6DA0}"/>
              </a:ext>
            </a:extLst>
          </p:cNvPr>
          <p:cNvSpPr/>
          <p:nvPr/>
        </p:nvSpPr>
        <p:spPr>
          <a:xfrm>
            <a:off x="609600" y="1422400"/>
            <a:ext cx="10972800" cy="1066800"/>
          </a:xfrm>
          <a:prstGeom prst="roundRect">
            <a:avLst>
              <a:gd name="adj" fmla="val 12000"/>
            </a:avLst>
          </a:prstGeom>
          <a:solidFill>
            <a:srgbClr val="FDEEE5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04800" rIns="304800" rtlCol="0" anchor="ctr"/>
          <a:lstStyle/>
          <a:p>
            <a:r>
              <a:rPr lang="en-US" sz="2000" i="1">
                <a:solidFill>
                  <a:srgbClr val="1E2430"/>
                </a:solidFill>
                <a:latin typeface="Arial" panose="020B0604020202020204" pitchFamily="34" charset="0"/>
              </a:rPr>
              <a:t>Can a queue whose rules are enforced by the database, together with push notifications, replace word-of-mouth queuing?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D1C4A6C0-43CA-C3BD-BBEE-97637359B0DA}"/>
              </a:ext>
            </a:extLst>
          </p:cNvPr>
          <p:cNvSpPr/>
          <p:nvPr/>
        </p:nvSpPr>
        <p:spPr>
          <a:xfrm>
            <a:off x="609600" y="2819400"/>
            <a:ext cx="2590800" cy="3175000"/>
          </a:xfrm>
          <a:prstGeom prst="roundRect">
            <a:avLst>
              <a:gd name="adj" fmla="val 6863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C880D08F-5E87-7F7C-653A-33ED70B94BF4}"/>
              </a:ext>
            </a:extLst>
          </p:cNvPr>
          <p:cNvSpPr/>
          <p:nvPr/>
        </p:nvSpPr>
        <p:spPr>
          <a:xfrm>
            <a:off x="863600" y="3073400"/>
            <a:ext cx="508000" cy="508000"/>
          </a:xfrm>
          <a:prstGeom prst="ellipse">
            <a:avLst/>
          </a:prstGeom>
          <a:solidFill>
            <a:srgbClr val="E868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b="1">
                <a:solidFill>
                  <a:srgbClr val="FFFFFF"/>
                </a:solidFill>
                <a:latin typeface="Arial" panose="020B0604020202020204" pitchFamily="34" charset="0"/>
              </a:rPr>
              <a:t>1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463A8B2-EB85-898E-5001-7629BA2874C4}"/>
              </a:ext>
            </a:extLst>
          </p:cNvPr>
          <p:cNvSpPr txBox="1"/>
          <p:nvPr/>
        </p:nvSpPr>
        <p:spPr>
          <a:xfrm>
            <a:off x="863600" y="3810000"/>
            <a:ext cx="208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b="1">
                <a:solidFill>
                  <a:srgbClr val="1E2430"/>
                </a:solidFill>
                <a:latin typeface="Arial" panose="020B0604020202020204" pitchFamily="34" charset="0"/>
              </a:rPr>
              <a:t>Queues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A45ACF9-D522-BF5A-432A-53B79DB7FE73}"/>
              </a:ext>
            </a:extLst>
          </p:cNvPr>
          <p:cNvSpPr txBox="1"/>
          <p:nvPr/>
        </p:nvSpPr>
        <p:spPr>
          <a:xfrm>
            <a:off x="863600" y="4241800"/>
            <a:ext cx="208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500">
                <a:solidFill>
                  <a:srgbClr val="5B6270"/>
                </a:solidFill>
                <a:latin typeface="Arial" panose="020B0604020202020204" pitchFamily="34" charset="0"/>
              </a:rPr>
              <a:t>Show every court's queue and enforce the court rules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4538E0C8-8208-1E5F-9F9E-A79BE8C0AC31}"/>
              </a:ext>
            </a:extLst>
          </p:cNvPr>
          <p:cNvSpPr/>
          <p:nvPr/>
        </p:nvSpPr>
        <p:spPr>
          <a:xfrm>
            <a:off x="3403600" y="2819400"/>
            <a:ext cx="2590800" cy="3175000"/>
          </a:xfrm>
          <a:prstGeom prst="roundRect">
            <a:avLst>
              <a:gd name="adj" fmla="val 6863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E7E23AD9-C763-E117-27FC-A09351588B49}"/>
              </a:ext>
            </a:extLst>
          </p:cNvPr>
          <p:cNvSpPr/>
          <p:nvPr/>
        </p:nvSpPr>
        <p:spPr>
          <a:xfrm>
            <a:off x="3657600" y="3073400"/>
            <a:ext cx="508000" cy="508000"/>
          </a:xfrm>
          <a:prstGeom prst="ellipse">
            <a:avLst/>
          </a:prstGeom>
          <a:solidFill>
            <a:srgbClr val="E868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b="1">
                <a:solidFill>
                  <a:srgbClr val="FFFFFF"/>
                </a:solidFill>
                <a:latin typeface="Arial" panose="020B0604020202020204" pitchFamily="34" charset="0"/>
              </a:rPr>
              <a:t>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316E442-25EA-6549-114E-F2D25D3D767F}"/>
              </a:ext>
            </a:extLst>
          </p:cNvPr>
          <p:cNvSpPr txBox="1"/>
          <p:nvPr/>
        </p:nvSpPr>
        <p:spPr>
          <a:xfrm>
            <a:off x="3657600" y="3810000"/>
            <a:ext cx="208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b="1">
                <a:solidFill>
                  <a:srgbClr val="1E2430"/>
                </a:solidFill>
                <a:latin typeface="Arial" panose="020B0604020202020204" pitchFamily="34" charset="0"/>
              </a:rPr>
              <a:t>Presence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E146C7A-51CB-BE03-CFA1-AF5263D6A03E}"/>
              </a:ext>
            </a:extLst>
          </p:cNvPr>
          <p:cNvSpPr txBox="1"/>
          <p:nvPr/>
        </p:nvSpPr>
        <p:spPr>
          <a:xfrm>
            <a:off x="3657600" y="4241800"/>
            <a:ext cx="208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500">
                <a:solidFill>
                  <a:srgbClr val="5B6270"/>
                </a:solidFill>
                <a:latin typeface="Arial" panose="020B0604020202020204" pitchFamily="34" charset="0"/>
              </a:rPr>
              <a:t>Verify that teams are at the court, with GPS checked on the server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15AA8683-3B22-A4FC-11C4-A1ED58CA45A5}"/>
              </a:ext>
            </a:extLst>
          </p:cNvPr>
          <p:cNvSpPr/>
          <p:nvPr/>
        </p:nvSpPr>
        <p:spPr>
          <a:xfrm>
            <a:off x="6197600" y="2819400"/>
            <a:ext cx="2590800" cy="3175000"/>
          </a:xfrm>
          <a:prstGeom prst="roundRect">
            <a:avLst>
              <a:gd name="adj" fmla="val 6863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14816845-157E-CFE6-13A6-E020F13A340F}"/>
              </a:ext>
            </a:extLst>
          </p:cNvPr>
          <p:cNvSpPr/>
          <p:nvPr/>
        </p:nvSpPr>
        <p:spPr>
          <a:xfrm>
            <a:off x="6451600" y="3073400"/>
            <a:ext cx="508000" cy="508000"/>
          </a:xfrm>
          <a:prstGeom prst="ellipse">
            <a:avLst/>
          </a:prstGeom>
          <a:solidFill>
            <a:srgbClr val="E868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b="1">
                <a:solidFill>
                  <a:srgbClr val="FFFFFF"/>
                </a:solidFill>
                <a:latin typeface="Arial" panose="020B0604020202020204" pitchFamily="34" charset="0"/>
              </a:rPr>
              <a:t>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9EC86F0-0591-BF37-B1FB-F86B33324428}"/>
              </a:ext>
            </a:extLst>
          </p:cNvPr>
          <p:cNvSpPr txBox="1"/>
          <p:nvPr/>
        </p:nvSpPr>
        <p:spPr>
          <a:xfrm>
            <a:off x="6451600" y="3810000"/>
            <a:ext cx="208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b="1">
                <a:solidFill>
                  <a:srgbClr val="1E2430"/>
                </a:solidFill>
                <a:latin typeface="Arial" panose="020B0604020202020204" pitchFamily="34" charset="0"/>
              </a:rPr>
              <a:t>Maintenance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6E76C99-AE5C-62F6-32B8-A93BF400BD4A}"/>
              </a:ext>
            </a:extLst>
          </p:cNvPr>
          <p:cNvSpPr txBox="1"/>
          <p:nvPr/>
        </p:nvSpPr>
        <p:spPr>
          <a:xfrm>
            <a:off x="6451600" y="4241800"/>
            <a:ext cx="208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500">
                <a:solidFill>
                  <a:srgbClr val="5B6270"/>
                </a:solidFill>
                <a:latin typeface="Arial" panose="020B0604020202020204" pitchFamily="34" charset="0"/>
              </a:rPr>
              <a:t>Reports with photos, tracked to resolution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4E05933E-5D01-1D6D-D7A1-202AEA32F6EC}"/>
              </a:ext>
            </a:extLst>
          </p:cNvPr>
          <p:cNvSpPr/>
          <p:nvPr/>
        </p:nvSpPr>
        <p:spPr>
          <a:xfrm>
            <a:off x="8991600" y="2819400"/>
            <a:ext cx="2590800" cy="3175000"/>
          </a:xfrm>
          <a:prstGeom prst="roundRect">
            <a:avLst>
              <a:gd name="adj" fmla="val 6863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151AD5F9-EAFD-53E6-09A3-F4FED5D6E991}"/>
              </a:ext>
            </a:extLst>
          </p:cNvPr>
          <p:cNvSpPr/>
          <p:nvPr/>
        </p:nvSpPr>
        <p:spPr>
          <a:xfrm>
            <a:off x="9245600" y="3073400"/>
            <a:ext cx="508000" cy="508000"/>
          </a:xfrm>
          <a:prstGeom prst="ellipse">
            <a:avLst/>
          </a:prstGeom>
          <a:solidFill>
            <a:srgbClr val="E868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b="1">
                <a:solidFill>
                  <a:srgbClr val="FFFFFF"/>
                </a:solidFill>
                <a:latin typeface="Arial" panose="020B0604020202020204" pitchFamily="34" charset="0"/>
              </a:rPr>
              <a:t>4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4AA824D-146B-50E4-2567-3B929ECD6499}"/>
              </a:ext>
            </a:extLst>
          </p:cNvPr>
          <p:cNvSpPr txBox="1"/>
          <p:nvPr/>
        </p:nvSpPr>
        <p:spPr>
          <a:xfrm>
            <a:off x="9245600" y="3810000"/>
            <a:ext cx="208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b="1">
                <a:solidFill>
                  <a:srgbClr val="1E2430"/>
                </a:solidFill>
                <a:latin typeface="Arial" panose="020B0604020202020204" pitchFamily="34" charset="0"/>
              </a:rPr>
              <a:t>Notify, evaluate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9D8F4CB-CA83-3EE9-611B-63BBB42301B6}"/>
              </a:ext>
            </a:extLst>
          </p:cNvPr>
          <p:cNvSpPr txBox="1"/>
          <p:nvPr/>
        </p:nvSpPr>
        <p:spPr>
          <a:xfrm>
            <a:off x="9245600" y="4241800"/>
            <a:ext cx="208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500">
                <a:solidFill>
                  <a:srgbClr val="5B6270"/>
                </a:solidFill>
                <a:latin typeface="Arial" panose="020B0604020202020204" pitchFamily="34" charset="0"/>
              </a:rPr>
              <a:t>LINE notifications and 7 KPIs fixed before measuring</a:t>
            </a:r>
          </a:p>
        </p:txBody>
      </p:sp>
    </p:spTree>
    <p:extLst>
      <p:ext uri="{BB962C8B-B14F-4D97-AF65-F5344CB8AC3E}">
        <p14:creationId xmlns:p14="http://schemas.microsoft.com/office/powerpoint/2010/main" val="208272474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67E00A0-AE99-8EC5-A192-D46FC7843AC1}"/>
              </a:ext>
            </a:extLst>
          </p:cNvPr>
          <p:cNvSpPr txBox="1"/>
          <p:nvPr/>
        </p:nvSpPr>
        <p:spPr>
          <a:xfrm>
            <a:off x="609600" y="381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b="1">
                <a:solidFill>
                  <a:srgbClr val="E8682C"/>
                </a:solidFill>
                <a:latin typeface="Arial" panose="020B0604020202020204" pitchFamily="34" charset="0"/>
              </a:rPr>
              <a:t>WHAT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5D28BC4-B84A-2129-DBF2-DA524787CCCA}"/>
              </a:ext>
            </a:extLst>
          </p:cNvPr>
          <p:cNvSpPr txBox="1"/>
          <p:nvPr/>
        </p:nvSpPr>
        <p:spPr>
          <a:xfrm>
            <a:off x="609600" y="635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000" b="1">
                <a:solidFill>
                  <a:srgbClr val="1E2430"/>
                </a:solidFill>
                <a:latin typeface="Arial" panose="020B0604020202020204" pitchFamily="34" charset="0"/>
              </a:rPr>
              <a:t>MeQ in one picture: from sign-in to statistics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7AA205C-4632-1CB7-811A-3AA189907A00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5000" y="1397000"/>
            <a:ext cx="1885950" cy="4191000"/>
          </a:xfrm>
          <a:prstGeom prst="rect">
            <a:avLst/>
          </a:prstGeom>
          <a:ln w="12700">
            <a:solidFill>
              <a:srgbClr val="D0D4DC"/>
            </a:solidFill>
          </a:ln>
        </p:spPr>
      </p:pic>
      <p:sp>
        <p:nvSpPr>
          <p:cNvPr id="6" name="Oval 5">
            <a:extLst>
              <a:ext uri="{FF2B5EF4-FFF2-40B4-BE49-F238E27FC236}">
                <a16:creationId xmlns:a16="http://schemas.microsoft.com/office/drawing/2014/main" id="{1CD44A13-112F-2698-0289-9FCE320EAFD1}"/>
              </a:ext>
            </a:extLst>
          </p:cNvPr>
          <p:cNvSpPr/>
          <p:nvPr/>
        </p:nvSpPr>
        <p:spPr>
          <a:xfrm>
            <a:off x="609600" y="5740400"/>
            <a:ext cx="355600" cy="355600"/>
          </a:xfrm>
          <a:prstGeom prst="ellipse">
            <a:avLst/>
          </a:prstGeom>
          <a:solidFill>
            <a:srgbClr val="E868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300" b="1">
                <a:solidFill>
                  <a:srgbClr val="FFFFFF"/>
                </a:solidFill>
                <a:latin typeface="Arial" panose="020B0604020202020204" pitchFamily="34" charset="0"/>
              </a:rPr>
              <a:t>1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F87362F-E2B5-249F-FF55-D7B5F79804E9}"/>
              </a:ext>
            </a:extLst>
          </p:cNvPr>
          <p:cNvSpPr txBox="1"/>
          <p:nvPr/>
        </p:nvSpPr>
        <p:spPr>
          <a:xfrm>
            <a:off x="1066800" y="5791200"/>
            <a:ext cx="1651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400" b="1">
                <a:solidFill>
                  <a:srgbClr val="1E2430"/>
                </a:solidFill>
                <a:latin typeface="Arial" panose="020B0604020202020204" pitchFamily="34" charset="0"/>
              </a:rPr>
              <a:t>Sign in with LINE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EC91A7FA-37C8-E577-B7D5-3863893C32D7}"/>
              </a:ext>
            </a:extLst>
          </p:cNvPr>
          <p:cNvPicPr>
            <a:picLocks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08300" y="1397000"/>
            <a:ext cx="1885950" cy="4191000"/>
          </a:xfrm>
          <a:prstGeom prst="rect">
            <a:avLst/>
          </a:prstGeom>
          <a:ln w="12700">
            <a:solidFill>
              <a:srgbClr val="D0D4DC"/>
            </a:solidFill>
          </a:ln>
        </p:spPr>
      </p:pic>
      <p:sp>
        <p:nvSpPr>
          <p:cNvPr id="10" name="Oval 9">
            <a:extLst>
              <a:ext uri="{FF2B5EF4-FFF2-40B4-BE49-F238E27FC236}">
                <a16:creationId xmlns:a16="http://schemas.microsoft.com/office/drawing/2014/main" id="{C25C1759-A1AD-2345-2B85-E30A80C5D951}"/>
              </a:ext>
            </a:extLst>
          </p:cNvPr>
          <p:cNvSpPr/>
          <p:nvPr/>
        </p:nvSpPr>
        <p:spPr>
          <a:xfrm>
            <a:off x="2882900" y="5740400"/>
            <a:ext cx="355600" cy="355600"/>
          </a:xfrm>
          <a:prstGeom prst="ellipse">
            <a:avLst/>
          </a:prstGeom>
          <a:solidFill>
            <a:srgbClr val="E868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300" b="1">
                <a:solidFill>
                  <a:srgbClr val="FFFFFF"/>
                </a:solidFill>
                <a:latin typeface="Arial" panose="020B0604020202020204" pitchFamily="34" charset="0"/>
              </a:rPr>
              <a:t>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933BA6F-C330-947F-B324-4FA377E9BF60}"/>
              </a:ext>
            </a:extLst>
          </p:cNvPr>
          <p:cNvSpPr txBox="1"/>
          <p:nvPr/>
        </p:nvSpPr>
        <p:spPr>
          <a:xfrm>
            <a:off x="3340100" y="5791200"/>
            <a:ext cx="1651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400" b="1">
                <a:solidFill>
                  <a:srgbClr val="1E2430"/>
                </a:solidFill>
                <a:latin typeface="Arial" panose="020B0604020202020204" pitchFamily="34" charset="0"/>
              </a:rPr>
              <a:t>Create a team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2CC59202-82E8-7831-652F-393EF913EAD5}"/>
              </a:ext>
            </a:extLst>
          </p:cNvPr>
          <p:cNvPicPr>
            <a:picLocks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81600" y="1397000"/>
            <a:ext cx="1885950" cy="4191000"/>
          </a:xfrm>
          <a:prstGeom prst="rect">
            <a:avLst/>
          </a:prstGeom>
          <a:ln w="12700">
            <a:solidFill>
              <a:srgbClr val="D0D4DC"/>
            </a:solidFill>
          </a:ln>
        </p:spPr>
      </p:pic>
      <p:sp>
        <p:nvSpPr>
          <p:cNvPr id="14" name="Oval 13">
            <a:extLst>
              <a:ext uri="{FF2B5EF4-FFF2-40B4-BE49-F238E27FC236}">
                <a16:creationId xmlns:a16="http://schemas.microsoft.com/office/drawing/2014/main" id="{B426B2AA-5DA4-1852-760B-1E6FE42EE847}"/>
              </a:ext>
            </a:extLst>
          </p:cNvPr>
          <p:cNvSpPr/>
          <p:nvPr/>
        </p:nvSpPr>
        <p:spPr>
          <a:xfrm>
            <a:off x="5156200" y="5740400"/>
            <a:ext cx="355600" cy="355600"/>
          </a:xfrm>
          <a:prstGeom prst="ellipse">
            <a:avLst/>
          </a:prstGeom>
          <a:solidFill>
            <a:srgbClr val="E868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300" b="1">
                <a:solidFill>
                  <a:srgbClr val="FFFFFF"/>
                </a:solidFill>
                <a:latin typeface="Arial" panose="020B0604020202020204" pitchFamily="34" charset="0"/>
              </a:rPr>
              <a:t>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79AD79B-EE73-3331-1205-A3C297058A05}"/>
              </a:ext>
            </a:extLst>
          </p:cNvPr>
          <p:cNvSpPr txBox="1"/>
          <p:nvPr/>
        </p:nvSpPr>
        <p:spPr>
          <a:xfrm>
            <a:off x="5613400" y="5791200"/>
            <a:ext cx="1651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400" b="1">
                <a:solidFill>
                  <a:srgbClr val="1E2430"/>
                </a:solidFill>
                <a:latin typeface="Arial" panose="020B0604020202020204" pitchFamily="34" charset="0"/>
              </a:rPr>
              <a:t>Join a court queue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F4093016-6A0C-3888-4CBE-48600E1D8BB2}"/>
              </a:ext>
            </a:extLst>
          </p:cNvPr>
          <p:cNvPicPr>
            <a:picLocks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54900" y="1397000"/>
            <a:ext cx="1885950" cy="4191000"/>
          </a:xfrm>
          <a:prstGeom prst="rect">
            <a:avLst/>
          </a:prstGeom>
          <a:ln w="12700">
            <a:solidFill>
              <a:srgbClr val="D0D4DC"/>
            </a:solidFill>
          </a:ln>
        </p:spPr>
      </p:pic>
      <p:sp>
        <p:nvSpPr>
          <p:cNvPr id="18" name="Oval 17">
            <a:extLst>
              <a:ext uri="{FF2B5EF4-FFF2-40B4-BE49-F238E27FC236}">
                <a16:creationId xmlns:a16="http://schemas.microsoft.com/office/drawing/2014/main" id="{86D85E3A-EC8F-2CCA-A256-3D98B985CE39}"/>
              </a:ext>
            </a:extLst>
          </p:cNvPr>
          <p:cNvSpPr/>
          <p:nvPr/>
        </p:nvSpPr>
        <p:spPr>
          <a:xfrm>
            <a:off x="7429500" y="5740400"/>
            <a:ext cx="355600" cy="355600"/>
          </a:xfrm>
          <a:prstGeom prst="ellipse">
            <a:avLst/>
          </a:prstGeom>
          <a:solidFill>
            <a:srgbClr val="E868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300" b="1">
                <a:solidFill>
                  <a:srgbClr val="FFFFFF"/>
                </a:solidFill>
                <a:latin typeface="Arial" panose="020B0604020202020204" pitchFamily="34" charset="0"/>
              </a:rPr>
              <a:t>4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24BA891-9F1D-CD5B-447D-AA600AADFD01}"/>
              </a:ext>
            </a:extLst>
          </p:cNvPr>
          <p:cNvSpPr txBox="1"/>
          <p:nvPr/>
        </p:nvSpPr>
        <p:spPr>
          <a:xfrm>
            <a:off x="7886700" y="5791200"/>
            <a:ext cx="1651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400" b="1">
                <a:solidFill>
                  <a:srgbClr val="1E2430"/>
                </a:solidFill>
                <a:latin typeface="Arial" panose="020B0604020202020204" pitchFamily="34" charset="0"/>
              </a:rPr>
              <a:t>Check in at the court</a:t>
            </a: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9573D234-DCB6-4E43-8EB3-47F602E7BEE5}"/>
              </a:ext>
            </a:extLst>
          </p:cNvPr>
          <p:cNvPicPr>
            <a:picLocks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28200" y="1397000"/>
            <a:ext cx="1885950" cy="4191000"/>
          </a:xfrm>
          <a:prstGeom prst="rect">
            <a:avLst/>
          </a:prstGeom>
          <a:ln w="12700">
            <a:solidFill>
              <a:srgbClr val="D0D4DC"/>
            </a:solidFill>
          </a:ln>
        </p:spPr>
      </p:pic>
      <p:sp>
        <p:nvSpPr>
          <p:cNvPr id="22" name="Oval 21">
            <a:extLst>
              <a:ext uri="{FF2B5EF4-FFF2-40B4-BE49-F238E27FC236}">
                <a16:creationId xmlns:a16="http://schemas.microsoft.com/office/drawing/2014/main" id="{00A25E58-2AC9-E51E-7DEE-78659FAF3945}"/>
              </a:ext>
            </a:extLst>
          </p:cNvPr>
          <p:cNvSpPr/>
          <p:nvPr/>
        </p:nvSpPr>
        <p:spPr>
          <a:xfrm>
            <a:off x="9702800" y="5740400"/>
            <a:ext cx="355600" cy="355600"/>
          </a:xfrm>
          <a:prstGeom prst="ellipse">
            <a:avLst/>
          </a:prstGeom>
          <a:solidFill>
            <a:srgbClr val="E868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300" b="1">
                <a:solidFill>
                  <a:srgbClr val="FFFFFF"/>
                </a:solidFill>
                <a:latin typeface="Arial" panose="020B0604020202020204" pitchFamily="34" charset="0"/>
              </a:rPr>
              <a:t>5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9948A24-9AA6-5FEC-AADD-D7216467E031}"/>
              </a:ext>
            </a:extLst>
          </p:cNvPr>
          <p:cNvSpPr txBox="1"/>
          <p:nvPr/>
        </p:nvSpPr>
        <p:spPr>
          <a:xfrm>
            <a:off x="10160000" y="5791200"/>
            <a:ext cx="1651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400" b="1">
                <a:solidFill>
                  <a:srgbClr val="1E2430"/>
                </a:solidFill>
                <a:latin typeface="Arial" panose="020B0604020202020204" pitchFamily="34" charset="0"/>
              </a:rPr>
              <a:t>Result and statistics</a:t>
            </a:r>
          </a:p>
        </p:txBody>
      </p:sp>
    </p:spTree>
    <p:extLst>
      <p:ext uri="{BB962C8B-B14F-4D97-AF65-F5344CB8AC3E}">
        <p14:creationId xmlns:p14="http://schemas.microsoft.com/office/powerpoint/2010/main" val="1416737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99FFFAE-8E19-72A5-D63D-88CE0837628C}"/>
              </a:ext>
            </a:extLst>
          </p:cNvPr>
          <p:cNvSpPr txBox="1"/>
          <p:nvPr/>
        </p:nvSpPr>
        <p:spPr>
          <a:xfrm>
            <a:off x="609600" y="381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b="1">
                <a:solidFill>
                  <a:srgbClr val="E8682C"/>
                </a:solidFill>
                <a:latin typeface="Arial" panose="020B0604020202020204" pitchFamily="34" charset="0"/>
              </a:rPr>
              <a:t>WHAT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260EC78-926E-0AFD-EED9-9CB28314D93E}"/>
              </a:ext>
            </a:extLst>
          </p:cNvPr>
          <p:cNvSpPr txBox="1"/>
          <p:nvPr/>
        </p:nvSpPr>
        <p:spPr>
          <a:xfrm>
            <a:off x="609600" y="635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000" b="1">
                <a:solidFill>
                  <a:srgbClr val="1E2430"/>
                </a:solidFill>
                <a:latin typeface="Arial" panose="020B0604020202020204" pitchFamily="34" charset="0"/>
              </a:rPr>
              <a:t>The court rules, enforced by the system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D7097E93-CD98-EEC7-C912-88626C323ADB}"/>
              </a:ext>
            </a:extLst>
          </p:cNvPr>
          <p:cNvSpPr/>
          <p:nvPr/>
        </p:nvSpPr>
        <p:spPr>
          <a:xfrm>
            <a:off x="609600" y="1498600"/>
            <a:ext cx="457200" cy="457200"/>
          </a:xfrm>
          <a:prstGeom prst="ellipse">
            <a:avLst/>
          </a:prstGeom>
          <a:solidFill>
            <a:srgbClr val="E868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600" b="1">
                <a:solidFill>
                  <a:srgbClr val="FFFFFF"/>
                </a:solidFill>
                <a:latin typeface="Arial" panose="020B0604020202020204" pitchFamily="34" charset="0"/>
              </a:rPr>
              <a:t>1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FF35040-3602-86E7-42DA-036FA9D5EE2D}"/>
              </a:ext>
            </a:extLst>
          </p:cNvPr>
          <p:cNvSpPr txBox="1"/>
          <p:nvPr/>
        </p:nvSpPr>
        <p:spPr>
          <a:xfrm>
            <a:off x="1270000" y="1473200"/>
            <a:ext cx="5842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b="1">
                <a:solidFill>
                  <a:srgbClr val="1E2430"/>
                </a:solidFill>
                <a:latin typeface="Arial" panose="020B0604020202020204" pitchFamily="34" charset="0"/>
              </a:rPr>
              <a:t>Full roster only</a:t>
            </a:r>
          </a:p>
          <a:p>
            <a:r>
              <a:rPr lang="en-US" sz="1500">
                <a:solidFill>
                  <a:srgbClr val="5B6270"/>
                </a:solidFill>
                <a:latin typeface="Arial" panose="020B0604020202020204" pitchFamily="34" charset="0"/>
              </a:rPr>
              <a:t>3x3 needs 3 players; 5x5 needs 5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8857906D-C89A-35FB-C1E8-101546B5E3A0}"/>
              </a:ext>
            </a:extLst>
          </p:cNvPr>
          <p:cNvSpPr/>
          <p:nvPr/>
        </p:nvSpPr>
        <p:spPr>
          <a:xfrm>
            <a:off x="609600" y="2463800"/>
            <a:ext cx="457200" cy="457200"/>
          </a:xfrm>
          <a:prstGeom prst="ellipse">
            <a:avLst/>
          </a:prstGeom>
          <a:solidFill>
            <a:srgbClr val="E868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600" b="1">
                <a:solidFill>
                  <a:srgbClr val="FFFFFF"/>
                </a:solidFill>
                <a:latin typeface="Arial" panose="020B0604020202020204" pitchFamily="34" charset="0"/>
              </a:rPr>
              <a:t>2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26843E2-A30F-52EC-DEBA-4B040A75B504}"/>
              </a:ext>
            </a:extLst>
          </p:cNvPr>
          <p:cNvSpPr txBox="1"/>
          <p:nvPr/>
        </p:nvSpPr>
        <p:spPr>
          <a:xfrm>
            <a:off x="1270000" y="2438400"/>
            <a:ext cx="5842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b="1">
                <a:solidFill>
                  <a:srgbClr val="1E2430"/>
                </a:solidFill>
                <a:latin typeface="Arial" panose="020B0604020202020204" pitchFamily="34" charset="0"/>
              </a:rPr>
              <a:t>One team, one queue</a:t>
            </a:r>
          </a:p>
          <a:p>
            <a:r>
              <a:rPr lang="en-US" sz="1500">
                <a:solidFill>
                  <a:srgbClr val="5B6270"/>
                </a:solidFill>
                <a:latin typeface="Arial" panose="020B0604020202020204" pitchFamily="34" charset="0"/>
              </a:rPr>
              <a:t>A player belongs to one team; a team waits in one queue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888FF61C-4C06-AF42-5146-DFAD71B22A63}"/>
              </a:ext>
            </a:extLst>
          </p:cNvPr>
          <p:cNvSpPr/>
          <p:nvPr/>
        </p:nvSpPr>
        <p:spPr>
          <a:xfrm>
            <a:off x="609600" y="3429000"/>
            <a:ext cx="457200" cy="457200"/>
          </a:xfrm>
          <a:prstGeom prst="ellipse">
            <a:avLst/>
          </a:prstGeom>
          <a:solidFill>
            <a:srgbClr val="E868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600" b="1">
                <a:solidFill>
                  <a:srgbClr val="FFFFFF"/>
                </a:solidFill>
                <a:latin typeface="Arial" panose="020B0604020202020204" pitchFamily="34" charset="0"/>
              </a:rPr>
              <a:t>3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2B54BE6-C0A6-4188-1713-8E5A82424233}"/>
              </a:ext>
            </a:extLst>
          </p:cNvPr>
          <p:cNvSpPr txBox="1"/>
          <p:nvPr/>
        </p:nvSpPr>
        <p:spPr>
          <a:xfrm>
            <a:off x="1270000" y="3403600"/>
            <a:ext cx="5842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b="1">
                <a:solidFill>
                  <a:srgbClr val="1E2430"/>
                </a:solidFill>
                <a:latin typeface="Arial" panose="020B0604020202020204" pitchFamily="34" charset="0"/>
              </a:rPr>
              <a:t>Check-in deadline</a:t>
            </a:r>
          </a:p>
          <a:p>
            <a:r>
              <a:rPr lang="en-US" sz="1500">
                <a:solidFill>
                  <a:srgbClr val="5B6270"/>
                </a:solidFill>
                <a:latin typeface="Arial" panose="020B0604020202020204" pitchFamily="34" charset="0"/>
              </a:rPr>
              <a:t>A called team must check in at the court in time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41CEFF30-D494-5517-7B67-5E35C81ED829}"/>
              </a:ext>
            </a:extLst>
          </p:cNvPr>
          <p:cNvSpPr/>
          <p:nvPr/>
        </p:nvSpPr>
        <p:spPr>
          <a:xfrm>
            <a:off x="609600" y="4394200"/>
            <a:ext cx="457200" cy="457200"/>
          </a:xfrm>
          <a:prstGeom prst="ellipse">
            <a:avLst/>
          </a:prstGeom>
          <a:solidFill>
            <a:srgbClr val="E868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600" b="1">
                <a:solidFill>
                  <a:srgbClr val="FFFFFF"/>
                </a:solidFill>
                <a:latin typeface="Arial" panose="020B0604020202020204" pitchFamily="34" charset="0"/>
              </a:rPr>
              <a:t>4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525A3E4-F7B7-54E7-60E5-3006F8DD4D18}"/>
              </a:ext>
            </a:extLst>
          </p:cNvPr>
          <p:cNvSpPr txBox="1"/>
          <p:nvPr/>
        </p:nvSpPr>
        <p:spPr>
          <a:xfrm>
            <a:off x="1270000" y="4368800"/>
            <a:ext cx="5842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b="1">
                <a:solidFill>
                  <a:srgbClr val="1E2430"/>
                </a:solidFill>
                <a:latin typeface="Arial" panose="020B0604020202020204" pitchFamily="34" charset="0"/>
              </a:rPr>
              <a:t>Winners stay for 2 games</a:t>
            </a:r>
          </a:p>
          <a:p>
            <a:r>
              <a:rPr lang="en-US" sz="1500">
                <a:solidFill>
                  <a:srgbClr val="5B6270"/>
                </a:solidFill>
                <a:latin typeface="Arial" panose="020B0604020202020204" pitchFamily="34" charset="0"/>
              </a:rPr>
              <a:t>Then rest 1 game; losers have 3 minutes to requeue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47F73842-A2AD-26FE-7CBC-4AB0344274FB}"/>
              </a:ext>
            </a:extLst>
          </p:cNvPr>
          <p:cNvSpPr/>
          <p:nvPr/>
        </p:nvSpPr>
        <p:spPr>
          <a:xfrm>
            <a:off x="609600" y="5359400"/>
            <a:ext cx="457200" cy="457200"/>
          </a:xfrm>
          <a:prstGeom prst="ellipse">
            <a:avLst/>
          </a:prstGeom>
          <a:solidFill>
            <a:srgbClr val="E868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600" b="1">
                <a:solidFill>
                  <a:srgbClr val="FFFFFF"/>
                </a:solidFill>
                <a:latin typeface="Arial" panose="020B0604020202020204" pitchFamily="34" charset="0"/>
              </a:rPr>
              <a:t>5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C48ABCB-758E-BBF4-B579-45218476385A}"/>
              </a:ext>
            </a:extLst>
          </p:cNvPr>
          <p:cNvSpPr txBox="1"/>
          <p:nvPr/>
        </p:nvSpPr>
        <p:spPr>
          <a:xfrm>
            <a:off x="1270000" y="5334000"/>
            <a:ext cx="5842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b="1">
                <a:solidFill>
                  <a:srgbClr val="1E2430"/>
                </a:solidFill>
                <a:latin typeface="Arial" panose="020B0604020202020204" pitchFamily="34" charset="0"/>
              </a:rPr>
              <a:t>Both teams agree on the score</a:t>
            </a:r>
          </a:p>
          <a:p>
            <a:r>
              <a:rPr lang="en-US" sz="1500">
                <a:solidFill>
                  <a:srgbClr val="5B6270"/>
                </a:solidFill>
                <a:latin typeface="Arial" panose="020B0604020202020204" pitchFamily="34" charset="0"/>
              </a:rPr>
              <a:t>Otherwise they resubmit, or an admin decides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E92020C3-2974-996C-51AF-FCDAAA7B8746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21600" y="1422400"/>
            <a:ext cx="3873500" cy="5080000"/>
          </a:xfrm>
          <a:prstGeom prst="rect">
            <a:avLst/>
          </a:prstGeom>
          <a:ln w="12700">
            <a:solidFill>
              <a:srgbClr val="D0D4DC"/>
            </a:solidFill>
          </a:ln>
        </p:spPr>
      </p:pic>
    </p:spTree>
    <p:extLst>
      <p:ext uri="{BB962C8B-B14F-4D97-AF65-F5344CB8AC3E}">
        <p14:creationId xmlns:p14="http://schemas.microsoft.com/office/powerpoint/2010/main" val="162646424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D365303-26ED-7827-357B-25BC21C08346}"/>
              </a:ext>
            </a:extLst>
          </p:cNvPr>
          <p:cNvSpPr txBox="1"/>
          <p:nvPr/>
        </p:nvSpPr>
        <p:spPr>
          <a:xfrm>
            <a:off x="609600" y="381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b="1">
                <a:solidFill>
                  <a:srgbClr val="E8682C"/>
                </a:solidFill>
                <a:latin typeface="Arial" panose="020B0604020202020204" pitchFamily="34" charset="0"/>
              </a:rPr>
              <a:t>WHAT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9437223-D818-FEA1-8977-ECC75B920907}"/>
              </a:ext>
            </a:extLst>
          </p:cNvPr>
          <p:cNvSpPr txBox="1"/>
          <p:nvPr/>
        </p:nvSpPr>
        <p:spPr>
          <a:xfrm>
            <a:off x="609600" y="635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000" b="1">
                <a:solidFill>
                  <a:srgbClr val="1E2430"/>
                </a:solidFill>
                <a:latin typeface="Arial" panose="020B0604020202020204" pitchFamily="34" charset="0"/>
              </a:rPr>
              <a:t>Maintenance reports, tracked to resolution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13D56DD-F8F4-12DB-33D2-853245000EB8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" y="1422400"/>
            <a:ext cx="2194560" cy="4876800"/>
          </a:xfrm>
          <a:prstGeom prst="rect">
            <a:avLst/>
          </a:prstGeom>
          <a:ln w="12700">
            <a:solidFill>
              <a:srgbClr val="D0D4DC"/>
            </a:solidFill>
          </a:ln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B9093DA-B93E-CD7F-64A8-53954A9EF9F4}"/>
              </a:ext>
            </a:extLst>
          </p:cNvPr>
          <p:cNvPicPr>
            <a:picLocks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97200" y="1422400"/>
            <a:ext cx="2194560" cy="4876800"/>
          </a:xfrm>
          <a:prstGeom prst="rect">
            <a:avLst/>
          </a:prstGeom>
          <a:ln w="12700">
            <a:solidFill>
              <a:srgbClr val="D0D4DC"/>
            </a:solidFill>
          </a:ln>
        </p:spPr>
      </p:pic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8C8AD928-A53F-4450-BE41-E0D6B97C990C}"/>
              </a:ext>
            </a:extLst>
          </p:cNvPr>
          <p:cNvSpPr/>
          <p:nvPr/>
        </p:nvSpPr>
        <p:spPr>
          <a:xfrm>
            <a:off x="5740400" y="1549400"/>
            <a:ext cx="1270000" cy="660400"/>
          </a:xfrm>
          <a:prstGeom prst="roundRect">
            <a:avLst>
              <a:gd name="adj" fmla="val 12000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0800" rIns="50800" rtlCol="0" anchor="ctr"/>
          <a:lstStyle/>
          <a:p>
            <a:pPr algn="ctr"/>
            <a:r>
              <a:rPr lang="en-US" sz="1300" b="1">
                <a:solidFill>
                  <a:srgbClr val="1E2430"/>
                </a:solidFill>
                <a:latin typeface="Arial" panose="020B0604020202020204" pitchFamily="34" charset="0"/>
              </a:rPr>
              <a:t>New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688571F-9D56-3089-A14A-8ACF7C9FF05E}"/>
              </a:ext>
            </a:extLst>
          </p:cNvPr>
          <p:cNvSpPr txBox="1"/>
          <p:nvPr/>
        </p:nvSpPr>
        <p:spPr>
          <a:xfrm>
            <a:off x="7035800" y="1727200"/>
            <a:ext cx="2032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1600" b="1">
                <a:solidFill>
                  <a:srgbClr val="5B6270"/>
                </a:solidFill>
                <a:latin typeface="Arial" panose="020B0604020202020204" pitchFamily="34" charset="0"/>
              </a:rPr>
              <a:t>→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5C2FBDA4-A8F9-0D6B-D535-E3A27A7B5FB0}"/>
              </a:ext>
            </a:extLst>
          </p:cNvPr>
          <p:cNvSpPr/>
          <p:nvPr/>
        </p:nvSpPr>
        <p:spPr>
          <a:xfrm>
            <a:off x="7239000" y="1549400"/>
            <a:ext cx="1270000" cy="660400"/>
          </a:xfrm>
          <a:prstGeom prst="roundRect">
            <a:avLst>
              <a:gd name="adj" fmla="val 12000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0800" rIns="50800" rtlCol="0" anchor="ctr"/>
          <a:lstStyle/>
          <a:p>
            <a:pPr algn="ctr"/>
            <a:r>
              <a:rPr lang="en-US" sz="1300" b="1">
                <a:solidFill>
                  <a:srgbClr val="1E2430"/>
                </a:solidFill>
                <a:latin typeface="Arial" panose="020B0604020202020204" pitchFamily="34" charset="0"/>
              </a:rPr>
              <a:t>Accepted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3DBCE7F-0856-3F48-6EBC-A77DD5248C1A}"/>
              </a:ext>
            </a:extLst>
          </p:cNvPr>
          <p:cNvSpPr txBox="1"/>
          <p:nvPr/>
        </p:nvSpPr>
        <p:spPr>
          <a:xfrm>
            <a:off x="8534400" y="1727200"/>
            <a:ext cx="2032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1600" b="1">
                <a:solidFill>
                  <a:srgbClr val="5B6270"/>
                </a:solidFill>
                <a:latin typeface="Arial" panose="020B0604020202020204" pitchFamily="34" charset="0"/>
              </a:rPr>
              <a:t>→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8D19416F-3CBF-5AD7-BEE2-AFCE048FAC0E}"/>
              </a:ext>
            </a:extLst>
          </p:cNvPr>
          <p:cNvSpPr/>
          <p:nvPr/>
        </p:nvSpPr>
        <p:spPr>
          <a:xfrm>
            <a:off x="8737600" y="1549400"/>
            <a:ext cx="1270000" cy="660400"/>
          </a:xfrm>
          <a:prstGeom prst="roundRect">
            <a:avLst>
              <a:gd name="adj" fmla="val 12000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0800" rIns="50800" rtlCol="0" anchor="ctr"/>
          <a:lstStyle/>
          <a:p>
            <a:pPr algn="ctr"/>
            <a:r>
              <a:rPr lang="en-US" sz="1300" b="1">
                <a:solidFill>
                  <a:srgbClr val="1E2430"/>
                </a:solidFill>
                <a:latin typeface="Arial" panose="020B0604020202020204" pitchFamily="34" charset="0"/>
              </a:rPr>
              <a:t>Waiting for caretaker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BCB7984-F140-A350-F783-4711F17C7974}"/>
              </a:ext>
            </a:extLst>
          </p:cNvPr>
          <p:cNvSpPr txBox="1"/>
          <p:nvPr/>
        </p:nvSpPr>
        <p:spPr>
          <a:xfrm>
            <a:off x="10033000" y="1727200"/>
            <a:ext cx="2032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1600" b="1">
                <a:solidFill>
                  <a:srgbClr val="5B6270"/>
                </a:solidFill>
                <a:latin typeface="Arial" panose="020B0604020202020204" pitchFamily="34" charset="0"/>
              </a:rPr>
              <a:t>→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FAA141EC-8D51-1860-F61E-B7EDBE76BC0B}"/>
              </a:ext>
            </a:extLst>
          </p:cNvPr>
          <p:cNvSpPr/>
          <p:nvPr/>
        </p:nvSpPr>
        <p:spPr>
          <a:xfrm>
            <a:off x="10236200" y="1549400"/>
            <a:ext cx="1270000" cy="660400"/>
          </a:xfrm>
          <a:prstGeom prst="roundRect">
            <a:avLst>
              <a:gd name="adj" fmla="val 12000"/>
            </a:avLst>
          </a:prstGeom>
          <a:solidFill>
            <a:srgbClr val="E868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0800" rIns="50800" rtlCol="0" anchor="ctr"/>
          <a:lstStyle/>
          <a:p>
            <a:pPr algn="ctr"/>
            <a:r>
              <a:rPr lang="en-US" sz="1300" b="1">
                <a:solidFill>
                  <a:srgbClr val="FFFFFF"/>
                </a:solidFill>
                <a:latin typeface="Arial" panose="020B0604020202020204" pitchFamily="34" charset="0"/>
              </a:rPr>
              <a:t>Resolved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EBC023B-2380-9DB3-3418-1A454617C714}"/>
              </a:ext>
            </a:extLst>
          </p:cNvPr>
          <p:cNvSpPr txBox="1"/>
          <p:nvPr/>
        </p:nvSpPr>
        <p:spPr>
          <a:xfrm>
            <a:off x="5740400" y="2311400"/>
            <a:ext cx="5842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200">
                <a:solidFill>
                  <a:srgbClr val="5B6270"/>
                </a:solidFill>
                <a:latin typeface="Arial" panose="020B0604020202020204" pitchFamily="34" charset="0"/>
              </a:rPr>
              <a:t>or Rejected, if the report is not valid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28BBF9-85F3-8D26-BBED-20FE3EAEA6E2}"/>
              </a:ext>
            </a:extLst>
          </p:cNvPr>
          <p:cNvSpPr txBox="1"/>
          <p:nvPr/>
        </p:nvSpPr>
        <p:spPr>
          <a:xfrm>
            <a:off x="5740400" y="2870200"/>
            <a:ext cx="5842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241300" indent="-241300">
              <a:spcAft>
                <a:spcPts val="1000"/>
              </a:spcAft>
              <a:buClr>
                <a:srgbClr val="E8682C"/>
              </a:buClr>
              <a:buFont typeface="+mj-lt"/>
              <a:buChar char="•"/>
            </a:pPr>
            <a:r>
              <a:rPr lang="en-US" sz="1700">
                <a:solidFill>
                  <a:srgbClr val="1E2430"/>
                </a:solidFill>
                <a:latin typeface="Arial" panose="020B0604020202020204" pitchFamily="34" charset="0"/>
              </a:rPr>
              <a:t>Players report damage with a photo; the admin is notified on LINE</a:t>
            </a:r>
          </a:p>
          <a:p>
            <a:pPr marL="241300" indent="-241300">
              <a:spcAft>
                <a:spcPts val="1000"/>
              </a:spcAft>
              <a:buClr>
                <a:srgbClr val="E8682C"/>
              </a:buClr>
              <a:buFont typeface="+mj-lt"/>
              <a:buChar char="•"/>
            </a:pPr>
            <a:r>
              <a:rPr lang="en-US" sz="1700">
                <a:solidFill>
                  <a:srgbClr val="1E2430"/>
                </a:solidFill>
                <a:latin typeface="Arial" panose="020B0604020202020204" pitchFamily="34" charset="0"/>
              </a:rPr>
              <a:t>The reporter is notified of every status change</a:t>
            </a:r>
          </a:p>
          <a:p>
            <a:pPr marL="241300" indent="-241300">
              <a:spcAft>
                <a:spcPts val="1000"/>
              </a:spcAft>
              <a:buClr>
                <a:srgbClr val="E8682C"/>
              </a:buClr>
              <a:buFont typeface="+mj-lt"/>
              <a:buChar char="•"/>
            </a:pPr>
            <a:r>
              <a:rPr lang="en-US" sz="1700">
                <a:solidFill>
                  <a:srgbClr val="1E2430"/>
                </a:solidFill>
                <a:latin typeface="Arial" panose="020B0604020202020204" pitchFamily="34" charset="0"/>
              </a:rPr>
              <a:t>Every change is recorded in the history</a:t>
            </a:r>
          </a:p>
          <a:p>
            <a:pPr marL="241300" indent="-241300">
              <a:spcAft>
                <a:spcPts val="1000"/>
              </a:spcAft>
              <a:buClr>
                <a:srgbClr val="E8682C"/>
              </a:buClr>
              <a:buFont typeface="+mj-lt"/>
              <a:buChar char="•"/>
            </a:pPr>
            <a:r>
              <a:rPr lang="en-US" sz="1700">
                <a:solidFill>
                  <a:srgbClr val="1E2430"/>
                </a:solidFill>
                <a:latin typeface="Arial" panose="020B0604020202020204" pitchFamily="34" charset="0"/>
              </a:rPr>
              <a:t>A second report of an open problem is refused</a:t>
            </a:r>
          </a:p>
        </p:txBody>
      </p:sp>
    </p:spTree>
    <p:extLst>
      <p:ext uri="{BB962C8B-B14F-4D97-AF65-F5344CB8AC3E}">
        <p14:creationId xmlns:p14="http://schemas.microsoft.com/office/powerpoint/2010/main" val="91756769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365B52B-7B03-4A8F-CB86-63D9D0D109B9}"/>
              </a:ext>
            </a:extLst>
          </p:cNvPr>
          <p:cNvSpPr txBox="1"/>
          <p:nvPr/>
        </p:nvSpPr>
        <p:spPr>
          <a:xfrm>
            <a:off x="609600" y="381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b="1">
                <a:solidFill>
                  <a:srgbClr val="E8682C"/>
                </a:solidFill>
                <a:latin typeface="Arial" panose="020B0604020202020204" pitchFamily="34" charset="0"/>
              </a:rPr>
              <a:t>HOW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A058FDC-D29D-CD7F-ECF8-3CCF58B33EA5}"/>
              </a:ext>
            </a:extLst>
          </p:cNvPr>
          <p:cNvSpPr txBox="1"/>
          <p:nvPr/>
        </p:nvSpPr>
        <p:spPr>
          <a:xfrm>
            <a:off x="609600" y="635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000" b="1">
                <a:solidFill>
                  <a:srgbClr val="1E2430"/>
                </a:solidFill>
                <a:latin typeface="Arial" panose="020B0604020202020204" pitchFamily="34" charset="0"/>
              </a:rPr>
              <a:t>Architecture: free-tier services, one source of truth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D2A2098-5751-9A60-8603-9810100125D4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" y="1473200"/>
            <a:ext cx="7239000" cy="4826000"/>
          </a:xfrm>
          <a:prstGeom prst="rect">
            <a:avLst/>
          </a:prstGeom>
          <a:ln w="12700">
            <a:solidFill>
              <a:srgbClr val="D0D4DC"/>
            </a:solidFill>
          </a:ln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5C6A5411-B6D6-D7D8-73BB-49D60EEFD53F}"/>
              </a:ext>
            </a:extLst>
          </p:cNvPr>
          <p:cNvSpPr/>
          <p:nvPr/>
        </p:nvSpPr>
        <p:spPr>
          <a:xfrm>
            <a:off x="8178800" y="1524000"/>
            <a:ext cx="3403600" cy="1041400"/>
          </a:xfrm>
          <a:prstGeom prst="roundRect">
            <a:avLst>
              <a:gd name="adj" fmla="val 12000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9FE8179-B586-C7FE-6A60-CF4E84E49089}"/>
              </a:ext>
            </a:extLst>
          </p:cNvPr>
          <p:cNvSpPr txBox="1"/>
          <p:nvPr/>
        </p:nvSpPr>
        <p:spPr>
          <a:xfrm>
            <a:off x="8382000" y="1701800"/>
            <a:ext cx="304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 b="1">
                <a:solidFill>
                  <a:srgbClr val="1E2430"/>
                </a:solidFill>
                <a:latin typeface="Arial" panose="020B0604020202020204" pitchFamily="34" charset="0"/>
              </a:rPr>
              <a:t>Next.js 16 on Vercel</a:t>
            </a:r>
          </a:p>
          <a:p>
            <a:r>
              <a:rPr lang="en-US" sz="1300">
                <a:solidFill>
                  <a:srgbClr val="5B6270"/>
                </a:solidFill>
                <a:latin typeface="Arial" panose="020B0604020202020204" pitchFamily="34" charset="0"/>
              </a:rPr>
              <a:t>Pages and Server Actions, in TypeScript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5446ADF0-B615-92B3-4269-3BF3ACCCFFF6}"/>
              </a:ext>
            </a:extLst>
          </p:cNvPr>
          <p:cNvSpPr/>
          <p:nvPr/>
        </p:nvSpPr>
        <p:spPr>
          <a:xfrm>
            <a:off x="8178800" y="2717800"/>
            <a:ext cx="3403600" cy="1041400"/>
          </a:xfrm>
          <a:prstGeom prst="roundRect">
            <a:avLst>
              <a:gd name="adj" fmla="val 12000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DA1E1EB-7EA2-951E-3CDB-5F985BA0EE2A}"/>
              </a:ext>
            </a:extLst>
          </p:cNvPr>
          <p:cNvSpPr txBox="1"/>
          <p:nvPr/>
        </p:nvSpPr>
        <p:spPr>
          <a:xfrm>
            <a:off x="8382000" y="2895600"/>
            <a:ext cx="304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it-IT" sz="1600" b="1">
                <a:solidFill>
                  <a:srgbClr val="1E2430"/>
                </a:solidFill>
                <a:latin typeface="Arial" panose="020B0604020202020204" pitchFamily="34" charset="0"/>
              </a:rPr>
              <a:t>Supabase</a:t>
            </a:r>
          </a:p>
          <a:p>
            <a:r>
              <a:rPr lang="it-IT" sz="1300">
                <a:solidFill>
                  <a:srgbClr val="5B6270"/>
                </a:solidFill>
                <a:latin typeface="Arial" panose="020B0604020202020204" pitchFamily="34" charset="0"/>
              </a:rPr>
              <a:t>PostgreSQL, LINE sign-in, private photo storage</a:t>
            </a:r>
            <a:endParaRPr lang="en-US" sz="1300">
              <a:solidFill>
                <a:srgbClr val="5B6270"/>
              </a:solidFill>
              <a:latin typeface="Arial" panose="020B0604020202020204" pitchFamily="34" charset="0"/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1BA9D33D-785C-FC48-94C8-F234A7B59848}"/>
              </a:ext>
            </a:extLst>
          </p:cNvPr>
          <p:cNvSpPr/>
          <p:nvPr/>
        </p:nvSpPr>
        <p:spPr>
          <a:xfrm>
            <a:off x="8178800" y="3911600"/>
            <a:ext cx="3403600" cy="1041400"/>
          </a:xfrm>
          <a:prstGeom prst="roundRect">
            <a:avLst>
              <a:gd name="adj" fmla="val 12000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F67D7F9-A1F0-DA7A-30DD-2D4770C5AEC5}"/>
              </a:ext>
            </a:extLst>
          </p:cNvPr>
          <p:cNvSpPr txBox="1"/>
          <p:nvPr/>
        </p:nvSpPr>
        <p:spPr>
          <a:xfrm>
            <a:off x="8382000" y="4089400"/>
            <a:ext cx="304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 b="1">
                <a:solidFill>
                  <a:srgbClr val="1E2430"/>
                </a:solidFill>
                <a:latin typeface="Arial" panose="020B0604020202020204" pitchFamily="34" charset="0"/>
              </a:rPr>
              <a:t>LINE Messaging API</a:t>
            </a:r>
          </a:p>
          <a:p>
            <a:r>
              <a:rPr lang="en-US" sz="1300">
                <a:solidFill>
                  <a:srgbClr val="5B6270"/>
                </a:solidFill>
                <a:latin typeface="Arial" panose="020B0604020202020204" pitchFamily="34" charset="0"/>
              </a:rPr>
              <a:t>Push notifications to players and admins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E131ED42-C929-2C75-98E2-2EC54514A715}"/>
              </a:ext>
            </a:extLst>
          </p:cNvPr>
          <p:cNvSpPr/>
          <p:nvPr/>
        </p:nvSpPr>
        <p:spPr>
          <a:xfrm>
            <a:off x="8178800" y="5105400"/>
            <a:ext cx="3403600" cy="1041400"/>
          </a:xfrm>
          <a:prstGeom prst="roundRect">
            <a:avLst>
              <a:gd name="adj" fmla="val 12000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C29B3C9-0E76-B042-CDCF-44860CC81F3C}"/>
              </a:ext>
            </a:extLst>
          </p:cNvPr>
          <p:cNvSpPr txBox="1"/>
          <p:nvPr/>
        </p:nvSpPr>
        <p:spPr>
          <a:xfrm>
            <a:off x="8382000" y="5283200"/>
            <a:ext cx="304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 b="1">
                <a:solidFill>
                  <a:srgbClr val="1E2430"/>
                </a:solidFill>
                <a:latin typeface="Arial" panose="020B0604020202020204" pitchFamily="34" charset="0"/>
              </a:rPr>
              <a:t>pg_cron</a:t>
            </a:r>
          </a:p>
          <a:p>
            <a:r>
              <a:rPr lang="en-US" sz="1300">
                <a:solidFill>
                  <a:srgbClr val="5B6270"/>
                </a:solidFill>
                <a:latin typeface="Arial" panose="020B0604020202020204" pitchFamily="34" charset="0"/>
              </a:rPr>
              <a:t>Advances every queue each 30 seconds</a:t>
            </a:r>
          </a:p>
        </p:txBody>
      </p:sp>
    </p:spTree>
    <p:extLst>
      <p:ext uri="{BB962C8B-B14F-4D97-AF65-F5344CB8AC3E}">
        <p14:creationId xmlns:p14="http://schemas.microsoft.com/office/powerpoint/2010/main" val="316147770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F31504D-45B8-7D8C-4D17-AF7A99EAE36D}"/>
              </a:ext>
            </a:extLst>
          </p:cNvPr>
          <p:cNvSpPr txBox="1"/>
          <p:nvPr/>
        </p:nvSpPr>
        <p:spPr>
          <a:xfrm>
            <a:off x="609600" y="381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b="1">
                <a:solidFill>
                  <a:srgbClr val="E8682C"/>
                </a:solidFill>
                <a:latin typeface="Arial" panose="020B0604020202020204" pitchFamily="34" charset="0"/>
              </a:rPr>
              <a:t>HOW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311753A-4D86-069C-8416-5BB0F95D7308}"/>
              </a:ext>
            </a:extLst>
          </p:cNvPr>
          <p:cNvSpPr txBox="1"/>
          <p:nvPr/>
        </p:nvSpPr>
        <p:spPr>
          <a:xfrm>
            <a:off x="609600" y="635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000" b="1">
                <a:solidFill>
                  <a:srgbClr val="1E2430"/>
                </a:solidFill>
                <a:latin typeface="Arial" panose="020B0604020202020204" pitchFamily="34" charset="0"/>
              </a:rPr>
              <a:t>The database is the referee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002DACE-ABA3-593A-AA9B-E94F7FB7339D}"/>
              </a:ext>
            </a:extLst>
          </p:cNvPr>
          <p:cNvSpPr txBox="1"/>
          <p:nvPr/>
        </p:nvSpPr>
        <p:spPr>
          <a:xfrm>
            <a:off x="609600" y="1473200"/>
            <a:ext cx="5461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2800" b="1">
                <a:solidFill>
                  <a:srgbClr val="E8682C"/>
                </a:solidFill>
                <a:latin typeface="Arial" panose="020B0604020202020204" pitchFamily="34" charset="0"/>
              </a:rPr>
              <a:t>The browser only asks.</a:t>
            </a:r>
          </a:p>
          <a:p>
            <a:r>
              <a:rPr lang="en-US" sz="2800" b="1">
                <a:solidFill>
                  <a:srgbClr val="E8682C"/>
                </a:solidFill>
                <a:latin typeface="Arial" panose="020B0604020202020204" pitchFamily="34" charset="0"/>
              </a:rPr>
              <a:t>The database decides.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8B78271-9860-4A88-CD91-A892162D43BC}"/>
              </a:ext>
            </a:extLst>
          </p:cNvPr>
          <p:cNvSpPr txBox="1"/>
          <p:nvPr/>
        </p:nvSpPr>
        <p:spPr>
          <a:xfrm>
            <a:off x="609600" y="2921000"/>
            <a:ext cx="5461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228600" indent="-228600">
              <a:spcAft>
                <a:spcPts val="1000"/>
              </a:spcAft>
              <a:buClr>
                <a:srgbClr val="E8682C"/>
              </a:buClr>
              <a:buFont typeface="+mj-lt"/>
              <a:buChar char="•"/>
            </a:pPr>
            <a:r>
              <a:rPr lang="en-US" sz="1600">
                <a:solidFill>
                  <a:srgbClr val="1E2430"/>
                </a:solidFill>
                <a:latin typeface="Arial" panose="020B0604020202020204" pitchFamily="34" charset="0"/>
              </a:rPr>
              <a:t>Every change runs in one transaction that checks the user and the rules</a:t>
            </a:r>
          </a:p>
          <a:p>
            <a:pPr marL="228600" indent="-228600">
              <a:spcAft>
                <a:spcPts val="1000"/>
              </a:spcAft>
              <a:buClr>
                <a:srgbClr val="E8682C"/>
              </a:buClr>
              <a:buFont typeface="+mj-lt"/>
              <a:buChar char="•"/>
            </a:pPr>
            <a:r>
              <a:rPr lang="en-US" sz="1600">
                <a:solidFill>
                  <a:srgbClr val="1E2430"/>
                </a:solidFill>
                <a:latin typeface="Arial" panose="020B0604020202020204" pitchFamily="34" charset="0"/>
              </a:rPr>
              <a:t>Row-level security blocks direct writes to queue and score tables</a:t>
            </a:r>
          </a:p>
          <a:p>
            <a:pPr marL="228600" indent="-228600">
              <a:spcAft>
                <a:spcPts val="1000"/>
              </a:spcAft>
              <a:buClr>
                <a:srgbClr val="E8682C"/>
              </a:buClr>
              <a:buFont typeface="+mj-lt"/>
              <a:buChar char="•"/>
            </a:pPr>
            <a:r>
              <a:rPr lang="en-US" sz="1600">
                <a:solidFill>
                  <a:srgbClr val="1E2430"/>
                </a:solidFill>
                <a:latin typeface="Arial" panose="020B0604020202020204" pitchFamily="34" charset="0"/>
              </a:rPr>
              <a:t>GPS: the server computes the distance; a phone's "in range" is never trusted</a:t>
            </a:r>
          </a:p>
          <a:p>
            <a:pPr marL="228600" indent="-228600">
              <a:spcAft>
                <a:spcPts val="1000"/>
              </a:spcAft>
              <a:buClr>
                <a:srgbClr val="E8682C"/>
              </a:buClr>
              <a:buFont typeface="+mj-lt"/>
              <a:buChar char="•"/>
            </a:pPr>
            <a:r>
              <a:rPr lang="en-US" sz="1600">
                <a:solidFill>
                  <a:srgbClr val="1E2430"/>
                </a:solidFill>
                <a:latin typeface="Arial" panose="020B0604020202020204" pitchFamily="34" charset="0"/>
              </a:rPr>
              <a:t>Notifications are saved with the change, so none is lost or sent twice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428AA5CF-9093-2A4E-2297-FDC868F0F636}"/>
              </a:ext>
            </a:extLst>
          </p:cNvPr>
          <p:cNvSpPr/>
          <p:nvPr/>
        </p:nvSpPr>
        <p:spPr>
          <a:xfrm>
            <a:off x="6451600" y="1473200"/>
            <a:ext cx="5130800" cy="3683000"/>
          </a:xfrm>
          <a:prstGeom prst="roundRect">
            <a:avLst>
              <a:gd name="adj" fmla="val 4828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18A2AD0-369D-AA81-3E2C-41B47CCE6B69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54800" y="2413000"/>
            <a:ext cx="4724400" cy="179070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E9F66FEC-714C-AAB7-E199-F65645D71084}"/>
              </a:ext>
            </a:extLst>
          </p:cNvPr>
          <p:cNvSpPr txBox="1"/>
          <p:nvPr/>
        </p:nvSpPr>
        <p:spPr>
          <a:xfrm>
            <a:off x="6654800" y="4445000"/>
            <a:ext cx="47244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>
                <a:solidFill>
                  <a:srgbClr val="5B6270"/>
                </a:solidFill>
                <a:latin typeface="Arial" panose="020B0604020202020204" pitchFamily="34" charset="0"/>
              </a:rPr>
              <a:t>Notification outbox: saved in the same transaction as the change, then sent once</a:t>
            </a:r>
          </a:p>
        </p:txBody>
      </p:sp>
    </p:spTree>
    <p:extLst>
      <p:ext uri="{BB962C8B-B14F-4D97-AF65-F5344CB8AC3E}">
        <p14:creationId xmlns:p14="http://schemas.microsoft.com/office/powerpoint/2010/main" val="303534398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476AE54-DA09-EEE0-A830-EF65EA692991}"/>
              </a:ext>
            </a:extLst>
          </p:cNvPr>
          <p:cNvSpPr txBox="1"/>
          <p:nvPr/>
        </p:nvSpPr>
        <p:spPr>
          <a:xfrm>
            <a:off x="609600" y="381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b="1">
                <a:solidFill>
                  <a:srgbClr val="E8682C"/>
                </a:solidFill>
                <a:latin typeface="Arial" panose="020B0604020202020204" pitchFamily="34" charset="0"/>
              </a:rPr>
              <a:t>HOW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A9515A0-C6D7-F352-8C97-187C2D47C3FA}"/>
              </a:ext>
            </a:extLst>
          </p:cNvPr>
          <p:cNvSpPr txBox="1"/>
          <p:nvPr/>
        </p:nvSpPr>
        <p:spPr>
          <a:xfrm>
            <a:off x="609600" y="635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000" b="1">
                <a:solidFill>
                  <a:srgbClr val="1E2430"/>
                </a:solidFill>
                <a:latin typeface="Arial" panose="020B0604020202020204" pitchFamily="34" charset="0"/>
              </a:rPr>
              <a:t>Built and tested in small, verified steps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5FE8EC0C-52AA-CA57-D139-36987E7F450E}"/>
              </a:ext>
            </a:extLst>
          </p:cNvPr>
          <p:cNvSpPr/>
          <p:nvPr/>
        </p:nvSpPr>
        <p:spPr>
          <a:xfrm>
            <a:off x="609600" y="1498600"/>
            <a:ext cx="2590800" cy="2667000"/>
          </a:xfrm>
          <a:prstGeom prst="roundRect">
            <a:avLst>
              <a:gd name="adj" fmla="val 6863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4B0DF07-8765-368F-EC82-DF7115FE6DAB}"/>
              </a:ext>
            </a:extLst>
          </p:cNvPr>
          <p:cNvSpPr txBox="1"/>
          <p:nvPr/>
        </p:nvSpPr>
        <p:spPr>
          <a:xfrm>
            <a:off x="863600" y="1701800"/>
            <a:ext cx="208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5200" b="1">
                <a:solidFill>
                  <a:srgbClr val="E8682C"/>
                </a:solidFill>
                <a:latin typeface="Arial" panose="020B0604020202020204" pitchFamily="34" charset="0"/>
              </a:rPr>
              <a:t>39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8394F1F-1D5B-2D13-638F-3C12359E5747}"/>
              </a:ext>
            </a:extLst>
          </p:cNvPr>
          <p:cNvSpPr txBox="1"/>
          <p:nvPr/>
        </p:nvSpPr>
        <p:spPr>
          <a:xfrm>
            <a:off x="863600" y="2717800"/>
            <a:ext cx="208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>
                <a:solidFill>
                  <a:srgbClr val="1E2430"/>
                </a:solidFill>
                <a:latin typeface="Arial" panose="020B0604020202020204" pitchFamily="34" charset="0"/>
              </a:rPr>
              <a:t>database migrations, each versioned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B212DC4D-3E5E-E624-7BF1-9572E28DC7DF}"/>
              </a:ext>
            </a:extLst>
          </p:cNvPr>
          <p:cNvSpPr/>
          <p:nvPr/>
        </p:nvSpPr>
        <p:spPr>
          <a:xfrm>
            <a:off x="3403600" y="1498600"/>
            <a:ext cx="2590800" cy="2667000"/>
          </a:xfrm>
          <a:prstGeom prst="roundRect">
            <a:avLst>
              <a:gd name="adj" fmla="val 6863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9434CC5-D19E-4BB4-770D-7FBB683A0200}"/>
              </a:ext>
            </a:extLst>
          </p:cNvPr>
          <p:cNvSpPr txBox="1"/>
          <p:nvPr/>
        </p:nvSpPr>
        <p:spPr>
          <a:xfrm>
            <a:off x="3657600" y="1701800"/>
            <a:ext cx="208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5200" b="1">
                <a:solidFill>
                  <a:srgbClr val="E8682C"/>
                </a:solidFill>
                <a:latin typeface="Arial" panose="020B0604020202020204" pitchFamily="34" charset="0"/>
              </a:rPr>
              <a:t>147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0DA4300-35E0-2AB3-3D31-4A9B791443C2}"/>
              </a:ext>
            </a:extLst>
          </p:cNvPr>
          <p:cNvSpPr txBox="1"/>
          <p:nvPr/>
        </p:nvSpPr>
        <p:spPr>
          <a:xfrm>
            <a:off x="3657600" y="2717800"/>
            <a:ext cx="208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>
                <a:solidFill>
                  <a:srgbClr val="1E2430"/>
                </a:solidFill>
                <a:latin typeface="Arial" panose="020B0604020202020204" pitchFamily="34" charset="0"/>
              </a:rPr>
              <a:t>automated tests on every change: 115 database + 32 unit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EB22F54F-366C-FCE0-778B-87A8A114472D}"/>
              </a:ext>
            </a:extLst>
          </p:cNvPr>
          <p:cNvSpPr/>
          <p:nvPr/>
        </p:nvSpPr>
        <p:spPr>
          <a:xfrm>
            <a:off x="6197600" y="1498600"/>
            <a:ext cx="2590800" cy="2667000"/>
          </a:xfrm>
          <a:prstGeom prst="roundRect">
            <a:avLst>
              <a:gd name="adj" fmla="val 6863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0AF24A5-65C7-4B9B-66D6-016ED0A9FF99}"/>
              </a:ext>
            </a:extLst>
          </p:cNvPr>
          <p:cNvSpPr txBox="1"/>
          <p:nvPr/>
        </p:nvSpPr>
        <p:spPr>
          <a:xfrm>
            <a:off x="6451600" y="1701800"/>
            <a:ext cx="208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5200" b="1">
                <a:solidFill>
                  <a:srgbClr val="E8682C"/>
                </a:solidFill>
                <a:latin typeface="Arial" panose="020B0604020202020204" pitchFamily="34" charset="0"/>
              </a:rPr>
              <a:t>3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F415816-9077-DB7F-101E-8591C446BACE}"/>
              </a:ext>
            </a:extLst>
          </p:cNvPr>
          <p:cNvSpPr txBox="1"/>
          <p:nvPr/>
        </p:nvSpPr>
        <p:spPr>
          <a:xfrm>
            <a:off x="6451600" y="2717800"/>
            <a:ext cx="208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>
                <a:solidFill>
                  <a:srgbClr val="1E2430"/>
                </a:solidFill>
                <a:latin typeface="Arial" panose="020B0604020202020204" pitchFamily="34" charset="0"/>
              </a:rPr>
              <a:t>field sessions with real players on their own phones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379A2B14-E1DF-20CA-898A-2D7D46B69562}"/>
              </a:ext>
            </a:extLst>
          </p:cNvPr>
          <p:cNvSpPr/>
          <p:nvPr/>
        </p:nvSpPr>
        <p:spPr>
          <a:xfrm>
            <a:off x="8991600" y="1498600"/>
            <a:ext cx="2590800" cy="2667000"/>
          </a:xfrm>
          <a:prstGeom prst="roundRect">
            <a:avLst>
              <a:gd name="adj" fmla="val 6863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B3D819B-163B-1BEB-CD49-56B43D3BD6D0}"/>
              </a:ext>
            </a:extLst>
          </p:cNvPr>
          <p:cNvSpPr txBox="1"/>
          <p:nvPr/>
        </p:nvSpPr>
        <p:spPr>
          <a:xfrm>
            <a:off x="9245600" y="1701800"/>
            <a:ext cx="208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5200" b="1">
                <a:solidFill>
                  <a:srgbClr val="E8682C"/>
                </a:solidFill>
                <a:latin typeface="Arial" panose="020B0604020202020204" pitchFamily="34" charset="0"/>
              </a:rPr>
              <a:t>11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E6D2119-65A3-A577-F1EF-135306B07557}"/>
              </a:ext>
            </a:extLst>
          </p:cNvPr>
          <p:cNvSpPr txBox="1"/>
          <p:nvPr/>
        </p:nvSpPr>
        <p:spPr>
          <a:xfrm>
            <a:off x="9245600" y="2717800"/>
            <a:ext cx="208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>
                <a:solidFill>
                  <a:srgbClr val="1E2430"/>
                </a:solidFill>
                <a:latin typeface="Arial" panose="020B0604020202020204" pitchFamily="34" charset="0"/>
              </a:rPr>
              <a:t>defects found and fixed, each covered by a new test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96F601EF-10A5-223E-E786-1823FA4A7D65}"/>
              </a:ext>
            </a:extLst>
          </p:cNvPr>
          <p:cNvSpPr/>
          <p:nvPr/>
        </p:nvSpPr>
        <p:spPr>
          <a:xfrm>
            <a:off x="609600" y="4851400"/>
            <a:ext cx="1930400" cy="711200"/>
          </a:xfrm>
          <a:prstGeom prst="roundRect">
            <a:avLst>
              <a:gd name="adj" fmla="val 12000"/>
            </a:avLst>
          </a:prstGeom>
          <a:solidFill>
            <a:srgbClr val="FDEEE5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>
                <a:solidFill>
                  <a:srgbClr val="1E2430"/>
                </a:solidFill>
                <a:latin typeface="Arial" panose="020B0604020202020204" pitchFamily="34" charset="0"/>
              </a:rPr>
              <a:t>Design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B53E249-80C8-C728-05B0-CA7B8529AEA8}"/>
              </a:ext>
            </a:extLst>
          </p:cNvPr>
          <p:cNvSpPr txBox="1"/>
          <p:nvPr/>
        </p:nvSpPr>
        <p:spPr>
          <a:xfrm>
            <a:off x="2565400" y="5054600"/>
            <a:ext cx="2794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b="1">
                <a:solidFill>
                  <a:srgbClr val="5B6270"/>
                </a:solidFill>
                <a:latin typeface="Arial" panose="020B0604020202020204" pitchFamily="34" charset="0"/>
              </a:rPr>
              <a:t>→</a:t>
            </a: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C55F1DAC-CB98-5A4B-70A0-4EA8DF01332D}"/>
              </a:ext>
            </a:extLst>
          </p:cNvPr>
          <p:cNvSpPr/>
          <p:nvPr/>
        </p:nvSpPr>
        <p:spPr>
          <a:xfrm>
            <a:off x="2870200" y="4851400"/>
            <a:ext cx="1930400" cy="711200"/>
          </a:xfrm>
          <a:prstGeom prst="roundRect">
            <a:avLst>
              <a:gd name="adj" fmla="val 12000"/>
            </a:avLst>
          </a:prstGeom>
          <a:solidFill>
            <a:srgbClr val="FDEEE5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>
                <a:solidFill>
                  <a:srgbClr val="1E2430"/>
                </a:solidFill>
                <a:latin typeface="Arial" panose="020B0604020202020204" pitchFamily="34" charset="0"/>
              </a:rPr>
              <a:t>Build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2692F97-21B6-FFE0-0B77-CEF058489133}"/>
              </a:ext>
            </a:extLst>
          </p:cNvPr>
          <p:cNvSpPr txBox="1"/>
          <p:nvPr/>
        </p:nvSpPr>
        <p:spPr>
          <a:xfrm>
            <a:off x="4826000" y="5054600"/>
            <a:ext cx="2794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b="1">
                <a:solidFill>
                  <a:srgbClr val="5B6270"/>
                </a:solidFill>
                <a:latin typeface="Arial" panose="020B0604020202020204" pitchFamily="34" charset="0"/>
              </a:rPr>
              <a:t>→</a:t>
            </a: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A3906451-C79D-925E-EB5B-593F022F6A12}"/>
              </a:ext>
            </a:extLst>
          </p:cNvPr>
          <p:cNvSpPr/>
          <p:nvPr/>
        </p:nvSpPr>
        <p:spPr>
          <a:xfrm>
            <a:off x="5130800" y="4851400"/>
            <a:ext cx="1930400" cy="711200"/>
          </a:xfrm>
          <a:prstGeom prst="roundRect">
            <a:avLst>
              <a:gd name="adj" fmla="val 12000"/>
            </a:avLst>
          </a:prstGeom>
          <a:solidFill>
            <a:srgbClr val="FDEEE5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>
                <a:solidFill>
                  <a:srgbClr val="1E2430"/>
                </a:solidFill>
                <a:latin typeface="Arial" panose="020B0604020202020204" pitchFamily="34" charset="0"/>
              </a:rPr>
              <a:t>Test in CI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6C84CDA-17D4-ABAF-FC4D-537F41994AF0}"/>
              </a:ext>
            </a:extLst>
          </p:cNvPr>
          <p:cNvSpPr txBox="1"/>
          <p:nvPr/>
        </p:nvSpPr>
        <p:spPr>
          <a:xfrm>
            <a:off x="7086600" y="5054600"/>
            <a:ext cx="2794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b="1">
                <a:solidFill>
                  <a:srgbClr val="5B6270"/>
                </a:solidFill>
                <a:latin typeface="Arial" panose="020B0604020202020204" pitchFamily="34" charset="0"/>
              </a:rPr>
              <a:t>→</a:t>
            </a: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135342A5-ACCF-5CA1-7C94-8BDAD51E9941}"/>
              </a:ext>
            </a:extLst>
          </p:cNvPr>
          <p:cNvSpPr/>
          <p:nvPr/>
        </p:nvSpPr>
        <p:spPr>
          <a:xfrm>
            <a:off x="7391400" y="4851400"/>
            <a:ext cx="1930400" cy="711200"/>
          </a:xfrm>
          <a:prstGeom prst="roundRect">
            <a:avLst>
              <a:gd name="adj" fmla="val 12000"/>
            </a:avLst>
          </a:prstGeom>
          <a:solidFill>
            <a:srgbClr val="E868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>
                <a:solidFill>
                  <a:srgbClr val="FFFFFF"/>
                </a:solidFill>
                <a:latin typeface="Arial" panose="020B0604020202020204" pitchFamily="34" charset="0"/>
              </a:rPr>
              <a:t>Field test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1438AFD-52E0-C20A-114B-55D904F2B098}"/>
              </a:ext>
            </a:extLst>
          </p:cNvPr>
          <p:cNvSpPr txBox="1"/>
          <p:nvPr/>
        </p:nvSpPr>
        <p:spPr>
          <a:xfrm>
            <a:off x="9347200" y="5054600"/>
            <a:ext cx="2794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b="1">
                <a:solidFill>
                  <a:srgbClr val="5B6270"/>
                </a:solidFill>
                <a:latin typeface="Arial" panose="020B0604020202020204" pitchFamily="34" charset="0"/>
              </a:rPr>
              <a:t>→</a:t>
            </a: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B0843CF4-8B3D-F3B9-AD0C-29B9D5883ED9}"/>
              </a:ext>
            </a:extLst>
          </p:cNvPr>
          <p:cNvSpPr/>
          <p:nvPr/>
        </p:nvSpPr>
        <p:spPr>
          <a:xfrm>
            <a:off x="9652000" y="4851400"/>
            <a:ext cx="1930400" cy="711200"/>
          </a:xfrm>
          <a:prstGeom prst="roundRect">
            <a:avLst>
              <a:gd name="adj" fmla="val 12000"/>
            </a:avLst>
          </a:prstGeom>
          <a:solidFill>
            <a:srgbClr val="FDEEE5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>
                <a:solidFill>
                  <a:srgbClr val="1E2430"/>
                </a:solidFill>
                <a:latin typeface="Arial" panose="020B0604020202020204" pitchFamily="34" charset="0"/>
              </a:rPr>
              <a:t>Fix + new test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8958F69D-F4BC-AFFF-DBB2-583F7CCE47CC}"/>
              </a:ext>
            </a:extLst>
          </p:cNvPr>
          <p:cNvSpPr txBox="1"/>
          <p:nvPr/>
        </p:nvSpPr>
        <p:spPr>
          <a:xfrm>
            <a:off x="609600" y="58166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400">
                <a:solidFill>
                  <a:srgbClr val="5B6270"/>
                </a:solidFill>
                <a:latin typeface="Arial" panose="020B0604020202020204" pitchFamily="34" charset="0"/>
              </a:rPr>
              <a:t>Design science research: build, evaluate, improve</a:t>
            </a:r>
          </a:p>
        </p:txBody>
      </p:sp>
    </p:spTree>
    <p:extLst>
      <p:ext uri="{BB962C8B-B14F-4D97-AF65-F5344CB8AC3E}">
        <p14:creationId xmlns:p14="http://schemas.microsoft.com/office/powerpoint/2010/main" val="147665528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1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99544A1-868C-83D1-D024-8F2605EBBFC5}"/>
              </a:ext>
            </a:extLst>
          </p:cNvPr>
          <p:cNvSpPr txBox="1"/>
          <p:nvPr/>
        </p:nvSpPr>
        <p:spPr>
          <a:xfrm>
            <a:off x="609600" y="381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b="1">
                <a:solidFill>
                  <a:srgbClr val="E8682C"/>
                </a:solidFill>
                <a:latin typeface="Arial" panose="020B0604020202020204" pitchFamily="34" charset="0"/>
              </a:rPr>
              <a:t>WALKTHROUGH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77799C5-73D6-FF4D-58B9-7C2E29432944}"/>
              </a:ext>
            </a:extLst>
          </p:cNvPr>
          <p:cNvSpPr txBox="1"/>
          <p:nvPr/>
        </p:nvSpPr>
        <p:spPr>
          <a:xfrm>
            <a:off x="609600" y="635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000" b="1">
                <a:solidFill>
                  <a:srgbClr val="FFFFFF"/>
                </a:solidFill>
                <a:latin typeface="Arial" panose="020B0604020202020204" pitchFamily="34" charset="0"/>
              </a:rPr>
              <a:t>One round, step by step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F285964-787B-14B5-C16D-5B9D38C74E4C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" y="1422400"/>
            <a:ext cx="1828800" cy="4064000"/>
          </a:xfrm>
          <a:prstGeom prst="rect">
            <a:avLst/>
          </a:prstGeom>
          <a:ln w="12700">
            <a:solidFill>
              <a:srgbClr val="D0D4DC"/>
            </a:solidFill>
          </a:ln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05D8409-7172-469E-0F92-7991FF3A5128}"/>
              </a:ext>
            </a:extLst>
          </p:cNvPr>
          <p:cNvSpPr txBox="1"/>
          <p:nvPr/>
        </p:nvSpPr>
        <p:spPr>
          <a:xfrm>
            <a:off x="2463800" y="3302000"/>
            <a:ext cx="406400" cy="381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2200" b="1">
                <a:solidFill>
                  <a:srgbClr val="E8682C"/>
                </a:solidFill>
                <a:latin typeface="Arial" panose="020B0604020202020204" pitchFamily="34" charset="0"/>
              </a:rPr>
              <a:t>→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68422129-25F5-5F6B-8312-A3C6C8076494}"/>
              </a:ext>
            </a:extLst>
          </p:cNvPr>
          <p:cNvSpPr/>
          <p:nvPr/>
        </p:nvSpPr>
        <p:spPr>
          <a:xfrm>
            <a:off x="609600" y="5689600"/>
            <a:ext cx="355600" cy="355600"/>
          </a:xfrm>
          <a:prstGeom prst="ellipse">
            <a:avLst/>
          </a:prstGeom>
          <a:solidFill>
            <a:srgbClr val="E868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300" b="1">
                <a:solidFill>
                  <a:srgbClr val="FFFFFF"/>
                </a:solidFill>
                <a:latin typeface="Arial" panose="020B0604020202020204" pitchFamily="34" charset="0"/>
              </a:rPr>
              <a:t>1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FC8C06F-18B9-3C04-010D-EEC659FF82D3}"/>
              </a:ext>
            </a:extLst>
          </p:cNvPr>
          <p:cNvSpPr txBox="1"/>
          <p:nvPr/>
        </p:nvSpPr>
        <p:spPr>
          <a:xfrm>
            <a:off x="1041400" y="5689600"/>
            <a:ext cx="14224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b="1">
                <a:solidFill>
                  <a:srgbClr val="FFFFFF"/>
                </a:solidFill>
                <a:latin typeface="Arial" panose="020B0604020202020204" pitchFamily="34" charset="0"/>
              </a:rPr>
              <a:t>Join the queue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5A1FC7BF-E8EB-8292-C9F3-EE564E27893A}"/>
              </a:ext>
            </a:extLst>
          </p:cNvPr>
          <p:cNvPicPr>
            <a:picLocks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95600" y="1422400"/>
            <a:ext cx="1828800" cy="4064000"/>
          </a:xfrm>
          <a:prstGeom prst="rect">
            <a:avLst/>
          </a:prstGeom>
          <a:ln w="12700">
            <a:solidFill>
              <a:srgbClr val="D0D4DC"/>
            </a:solidFill>
          </a:ln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058CADE2-903B-9440-E1D9-36D0BFC53A02}"/>
              </a:ext>
            </a:extLst>
          </p:cNvPr>
          <p:cNvSpPr txBox="1"/>
          <p:nvPr/>
        </p:nvSpPr>
        <p:spPr>
          <a:xfrm>
            <a:off x="4749800" y="3302000"/>
            <a:ext cx="406400" cy="381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2200" b="1">
                <a:solidFill>
                  <a:srgbClr val="E8682C"/>
                </a:solidFill>
                <a:latin typeface="Arial" panose="020B0604020202020204" pitchFamily="34" charset="0"/>
              </a:rPr>
              <a:t>→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80C2144B-9A0B-5DF6-07D2-F25D1FF3D62E}"/>
              </a:ext>
            </a:extLst>
          </p:cNvPr>
          <p:cNvSpPr/>
          <p:nvPr/>
        </p:nvSpPr>
        <p:spPr>
          <a:xfrm>
            <a:off x="2895600" y="5689600"/>
            <a:ext cx="355600" cy="355600"/>
          </a:xfrm>
          <a:prstGeom prst="ellipse">
            <a:avLst/>
          </a:prstGeom>
          <a:solidFill>
            <a:srgbClr val="E868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300" b="1">
                <a:solidFill>
                  <a:srgbClr val="FFFFFF"/>
                </a:solidFill>
                <a:latin typeface="Arial" panose="020B0604020202020204" pitchFamily="34" charset="0"/>
              </a:rPr>
              <a:t>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0D63DDB-D849-340E-994B-E095F0FAC4A3}"/>
              </a:ext>
            </a:extLst>
          </p:cNvPr>
          <p:cNvSpPr txBox="1"/>
          <p:nvPr/>
        </p:nvSpPr>
        <p:spPr>
          <a:xfrm>
            <a:off x="3327400" y="5689600"/>
            <a:ext cx="14224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b="1">
                <a:solidFill>
                  <a:srgbClr val="FFFFFF"/>
                </a:solidFill>
                <a:latin typeface="Arial" panose="020B0604020202020204" pitchFamily="34" charset="0"/>
              </a:rPr>
              <a:t>LINE notifications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FDC659F7-426E-2B53-F5DB-42ED6D376296}"/>
              </a:ext>
            </a:extLst>
          </p:cNvPr>
          <p:cNvPicPr>
            <a:picLocks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81600" y="1422400"/>
            <a:ext cx="1828800" cy="4064000"/>
          </a:xfrm>
          <a:prstGeom prst="rect">
            <a:avLst/>
          </a:prstGeom>
          <a:ln w="12700">
            <a:solidFill>
              <a:srgbClr val="D0D4DC"/>
            </a:solidFill>
          </a:ln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D4E0FD23-A517-5C5D-B030-9D05FB0A2363}"/>
              </a:ext>
            </a:extLst>
          </p:cNvPr>
          <p:cNvSpPr txBox="1"/>
          <p:nvPr/>
        </p:nvSpPr>
        <p:spPr>
          <a:xfrm>
            <a:off x="7035800" y="3302000"/>
            <a:ext cx="406400" cy="381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2200" b="1">
                <a:solidFill>
                  <a:srgbClr val="E8682C"/>
                </a:solidFill>
                <a:latin typeface="Arial" panose="020B0604020202020204" pitchFamily="34" charset="0"/>
              </a:rPr>
              <a:t>→</a:t>
            </a: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A2542AE8-EB56-011E-79E5-65669B5E2579}"/>
              </a:ext>
            </a:extLst>
          </p:cNvPr>
          <p:cNvSpPr/>
          <p:nvPr/>
        </p:nvSpPr>
        <p:spPr>
          <a:xfrm>
            <a:off x="5181600" y="5689600"/>
            <a:ext cx="355600" cy="355600"/>
          </a:xfrm>
          <a:prstGeom prst="ellipse">
            <a:avLst/>
          </a:prstGeom>
          <a:solidFill>
            <a:srgbClr val="E868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300" b="1">
                <a:solidFill>
                  <a:srgbClr val="FFFFFF"/>
                </a:solidFill>
                <a:latin typeface="Arial" panose="020B0604020202020204" pitchFamily="34" charset="0"/>
              </a:rPr>
              <a:t>3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A4C07E1-A6EE-BA29-A562-740FFD47ED35}"/>
              </a:ext>
            </a:extLst>
          </p:cNvPr>
          <p:cNvSpPr txBox="1"/>
          <p:nvPr/>
        </p:nvSpPr>
        <p:spPr>
          <a:xfrm>
            <a:off x="5613400" y="5689600"/>
            <a:ext cx="14224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b="1">
                <a:solidFill>
                  <a:srgbClr val="FFFFFF"/>
                </a:solidFill>
                <a:latin typeface="Arial" panose="020B0604020202020204" pitchFamily="34" charset="0"/>
              </a:rPr>
              <a:t>Check in at the court</a:t>
            </a: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D3751D63-B738-8B74-7DB8-B222CBE3F775}"/>
              </a:ext>
            </a:extLst>
          </p:cNvPr>
          <p:cNvPicPr>
            <a:picLocks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67600" y="1422400"/>
            <a:ext cx="1828800" cy="4064000"/>
          </a:xfrm>
          <a:prstGeom prst="rect">
            <a:avLst/>
          </a:prstGeom>
          <a:ln w="12700">
            <a:solidFill>
              <a:srgbClr val="D0D4DC"/>
            </a:solidFill>
          </a:ln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3E3407D9-E0D2-BC30-7ADE-71EAEE877583}"/>
              </a:ext>
            </a:extLst>
          </p:cNvPr>
          <p:cNvSpPr txBox="1"/>
          <p:nvPr/>
        </p:nvSpPr>
        <p:spPr>
          <a:xfrm>
            <a:off x="9321800" y="3302000"/>
            <a:ext cx="406400" cy="381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2200" b="1">
                <a:solidFill>
                  <a:srgbClr val="E8682C"/>
                </a:solidFill>
                <a:latin typeface="Arial" panose="020B0604020202020204" pitchFamily="34" charset="0"/>
              </a:rPr>
              <a:t>→</a:t>
            </a:r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8A4FA6EA-D9C3-BA37-6C70-F209DD27A064}"/>
              </a:ext>
            </a:extLst>
          </p:cNvPr>
          <p:cNvSpPr/>
          <p:nvPr/>
        </p:nvSpPr>
        <p:spPr>
          <a:xfrm>
            <a:off x="7467600" y="5689600"/>
            <a:ext cx="355600" cy="355600"/>
          </a:xfrm>
          <a:prstGeom prst="ellipse">
            <a:avLst/>
          </a:prstGeom>
          <a:solidFill>
            <a:srgbClr val="E868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300" b="1">
                <a:solidFill>
                  <a:srgbClr val="FFFFFF"/>
                </a:solidFill>
                <a:latin typeface="Arial" panose="020B0604020202020204" pitchFamily="34" charset="0"/>
              </a:rPr>
              <a:t>4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BB0052E-A172-62F9-57EA-C346AB9A4C44}"/>
              </a:ext>
            </a:extLst>
          </p:cNvPr>
          <p:cNvSpPr txBox="1"/>
          <p:nvPr/>
        </p:nvSpPr>
        <p:spPr>
          <a:xfrm>
            <a:off x="7899400" y="5689600"/>
            <a:ext cx="14224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b="1">
                <a:solidFill>
                  <a:srgbClr val="FFFFFF"/>
                </a:solidFill>
                <a:latin typeface="Arial" panose="020B0604020202020204" pitchFamily="34" charset="0"/>
              </a:rPr>
              <a:t>Submit the scores</a:t>
            </a:r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10E517C8-ECBB-E033-9587-47822CAC4521}"/>
              </a:ext>
            </a:extLst>
          </p:cNvPr>
          <p:cNvPicPr>
            <a:picLocks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53600" y="1422400"/>
            <a:ext cx="1828800" cy="4064000"/>
          </a:xfrm>
          <a:prstGeom prst="rect">
            <a:avLst/>
          </a:prstGeom>
          <a:ln w="12700">
            <a:solidFill>
              <a:srgbClr val="D0D4DC"/>
            </a:solidFill>
          </a:ln>
        </p:spPr>
      </p:pic>
      <p:sp>
        <p:nvSpPr>
          <p:cNvPr id="26" name="Oval 25">
            <a:extLst>
              <a:ext uri="{FF2B5EF4-FFF2-40B4-BE49-F238E27FC236}">
                <a16:creationId xmlns:a16="http://schemas.microsoft.com/office/drawing/2014/main" id="{A68C96BE-08F0-EFAA-ED6D-754E37C3EE26}"/>
              </a:ext>
            </a:extLst>
          </p:cNvPr>
          <p:cNvSpPr/>
          <p:nvPr/>
        </p:nvSpPr>
        <p:spPr>
          <a:xfrm>
            <a:off x="9753600" y="5689600"/>
            <a:ext cx="355600" cy="355600"/>
          </a:xfrm>
          <a:prstGeom prst="ellipse">
            <a:avLst/>
          </a:prstGeom>
          <a:solidFill>
            <a:srgbClr val="E868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300" b="1">
                <a:solidFill>
                  <a:srgbClr val="FFFFFF"/>
                </a:solidFill>
                <a:latin typeface="Arial" panose="020B0604020202020204" pitchFamily="34" charset="0"/>
              </a:rPr>
              <a:t>5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DF02962-497D-B361-9081-3ED1D43637F9}"/>
              </a:ext>
            </a:extLst>
          </p:cNvPr>
          <p:cNvSpPr txBox="1"/>
          <p:nvPr/>
        </p:nvSpPr>
        <p:spPr>
          <a:xfrm>
            <a:off x="10185400" y="5689600"/>
            <a:ext cx="14224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b="1">
                <a:solidFill>
                  <a:srgbClr val="FFFFFF"/>
                </a:solidFill>
                <a:latin typeface="Arial" panose="020B0604020202020204" pitchFamily="34" charset="0"/>
              </a:rPr>
              <a:t>Result and next step</a:t>
            </a:r>
          </a:p>
        </p:txBody>
      </p:sp>
    </p:spTree>
    <p:extLst>
      <p:ext uri="{BB962C8B-B14F-4D97-AF65-F5344CB8AC3E}">
        <p14:creationId xmlns:p14="http://schemas.microsoft.com/office/powerpoint/2010/main" val="51293890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D69B85C-3374-36BB-C9A1-DC14BC36886D}"/>
              </a:ext>
            </a:extLst>
          </p:cNvPr>
          <p:cNvSpPr txBox="1"/>
          <p:nvPr/>
        </p:nvSpPr>
        <p:spPr>
          <a:xfrm>
            <a:off x="609600" y="381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b="1">
                <a:solidFill>
                  <a:srgbClr val="E8682C"/>
                </a:solidFill>
                <a:latin typeface="Arial" panose="020B0604020202020204" pitchFamily="34" charset="0"/>
              </a:rPr>
              <a:t>RESULTS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E3FED14-A70D-817B-A325-9F4C84FE10CA}"/>
              </a:ext>
            </a:extLst>
          </p:cNvPr>
          <p:cNvSpPr txBox="1"/>
          <p:nvPr/>
        </p:nvSpPr>
        <p:spPr>
          <a:xfrm>
            <a:off x="609600" y="635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000" b="1">
                <a:solidFill>
                  <a:srgbClr val="1E2430"/>
                </a:solidFill>
                <a:latin typeface="Arial" panose="020B0604020202020204" pitchFamily="34" charset="0"/>
              </a:rPr>
              <a:t>Field evaluation, 17 October 2026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91CEE3A-9923-58C8-E2CA-7C75F410F026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" y="1422400"/>
            <a:ext cx="5588000" cy="4191000"/>
          </a:xfrm>
          <a:prstGeom prst="rect">
            <a:avLst/>
          </a:prstGeom>
          <a:ln w="12700">
            <a:solidFill>
              <a:srgbClr val="D0D4DC"/>
            </a:solidFill>
          </a:ln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F8A2AF2-FC4D-4B44-032D-EBF2E8CE3B70}"/>
              </a:ext>
            </a:extLst>
          </p:cNvPr>
          <p:cNvSpPr txBox="1"/>
          <p:nvPr/>
        </p:nvSpPr>
        <p:spPr>
          <a:xfrm>
            <a:off x="609600" y="5715000"/>
            <a:ext cx="558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200">
                <a:solidFill>
                  <a:srgbClr val="5B6270"/>
                </a:solidFill>
                <a:latin typeface="Arial" panose="020B0604020202020204" pitchFamily="34" charset="0"/>
              </a:rPr>
              <a:t>A game during the evaluation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2EDA0A7-3D10-EB7B-037B-B43BAC3DB241}"/>
              </a:ext>
            </a:extLst>
          </p:cNvPr>
          <p:cNvPicPr>
            <a:picLocks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51600" y="1422400"/>
            <a:ext cx="2540000" cy="1905000"/>
          </a:xfrm>
          <a:prstGeom prst="rect">
            <a:avLst/>
          </a:prstGeom>
          <a:ln w="12700">
            <a:solidFill>
              <a:srgbClr val="D0D4DC"/>
            </a:solidFill>
          </a:ln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6E7DE668-52AB-8468-1B55-D2296A76ED63}"/>
              </a:ext>
            </a:extLst>
          </p:cNvPr>
          <p:cNvSpPr txBox="1"/>
          <p:nvPr/>
        </p:nvSpPr>
        <p:spPr>
          <a:xfrm>
            <a:off x="6451600" y="3403600"/>
            <a:ext cx="254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200">
                <a:solidFill>
                  <a:srgbClr val="5B6270"/>
                </a:solidFill>
                <a:latin typeface="Arial" panose="020B0604020202020204" pitchFamily="34" charset="0"/>
              </a:rPr>
              <a:t>MeQ in use at the court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2DFA6262-6576-5F4B-D4D1-435BB07247A9}"/>
              </a:ext>
            </a:extLst>
          </p:cNvPr>
          <p:cNvPicPr>
            <a:picLocks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42400" y="1422400"/>
            <a:ext cx="2540000" cy="1905000"/>
          </a:xfrm>
          <a:prstGeom prst="rect">
            <a:avLst/>
          </a:prstGeom>
          <a:ln w="12700">
            <a:solidFill>
              <a:srgbClr val="D0D4DC"/>
            </a:solidFill>
          </a:ln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CA833F79-6D2B-F7C8-3733-D90B7200F810}"/>
              </a:ext>
            </a:extLst>
          </p:cNvPr>
          <p:cNvSpPr txBox="1"/>
          <p:nvPr/>
        </p:nvSpPr>
        <p:spPr>
          <a:xfrm>
            <a:off x="9042400" y="3403600"/>
            <a:ext cx="254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200">
                <a:solidFill>
                  <a:srgbClr val="5B6270"/>
                </a:solidFill>
                <a:latin typeface="Arial" panose="020B0604020202020204" pitchFamily="34" charset="0"/>
              </a:rPr>
              <a:t>Planned court: no lights (maintenance)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BD864F3-8430-A0CE-A5ED-2D8E6E238FF8}"/>
              </a:ext>
            </a:extLst>
          </p:cNvPr>
          <p:cNvSpPr txBox="1"/>
          <p:nvPr/>
        </p:nvSpPr>
        <p:spPr>
          <a:xfrm>
            <a:off x="6451600" y="4038600"/>
            <a:ext cx="5130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203200" indent="-203200">
              <a:spcAft>
                <a:spcPts val="900"/>
              </a:spcAft>
              <a:buClr>
                <a:srgbClr val="E8682C"/>
              </a:buClr>
              <a:buFont typeface="+mj-lt"/>
              <a:buChar char="•"/>
            </a:pPr>
            <a:r>
              <a:rPr lang="en-US" sz="1500">
                <a:solidFill>
                  <a:srgbClr val="1E2430"/>
                </a:solidFill>
                <a:latin typeface="Arial" panose="020B0604020202020204" pitchFamily="34" charset="0"/>
              </a:rPr>
              <a:t>Moved to the Faculty of Science court, played as 3x3</a:t>
            </a:r>
          </a:p>
          <a:p>
            <a:pPr marL="203200" indent="-203200">
              <a:spcAft>
                <a:spcPts val="900"/>
              </a:spcAft>
              <a:buClr>
                <a:srgbClr val="E8682C"/>
              </a:buClr>
              <a:buFont typeface="+mj-lt"/>
              <a:buChar char="•"/>
            </a:pPr>
            <a:r>
              <a:rPr lang="en-US" sz="1500">
                <a:solidFill>
                  <a:srgbClr val="1E2430"/>
                </a:solidFill>
                <a:latin typeface="Arial" panose="020B0604020202020204" pitchFamily="34" charset="0"/>
              </a:rPr>
              <a:t>13 players; four teams played, 17:20–18:30</a:t>
            </a:r>
          </a:p>
          <a:p>
            <a:pPr marL="203200" indent="-203200">
              <a:spcAft>
                <a:spcPts val="900"/>
              </a:spcAft>
              <a:buClr>
                <a:srgbClr val="E8682C"/>
              </a:buClr>
              <a:buFont typeface="+mj-lt"/>
              <a:buChar char="•"/>
            </a:pPr>
            <a:r>
              <a:rPr lang="en-US" sz="1500">
                <a:solidFill>
                  <a:srgbClr val="1E2430"/>
                </a:solidFill>
                <a:latin typeface="Arial" panose="020B0604020202020204" pitchFamily="34" charset="0"/>
              </a:rPr>
              <a:t>Queue, check-in, play, scores, and a maintenance report</a:t>
            </a:r>
          </a:p>
          <a:p>
            <a:pPr marL="203200" indent="-203200">
              <a:spcAft>
                <a:spcPts val="900"/>
              </a:spcAft>
              <a:buClr>
                <a:srgbClr val="E8682C"/>
              </a:buClr>
              <a:buFont typeface="+mj-lt"/>
              <a:buChar char="•"/>
            </a:pPr>
            <a:r>
              <a:rPr lang="en-US" sz="1500">
                <a:solidFill>
                  <a:srgbClr val="1E2430"/>
                </a:solidFill>
                <a:latin typeface="Arial" panose="020B0604020202020204" pitchFamily="34" charset="0"/>
              </a:rPr>
              <a:t>Check-in failed at first: the court point was moved on site</a:t>
            </a:r>
          </a:p>
          <a:p>
            <a:pPr marL="203200" indent="-203200">
              <a:spcAft>
                <a:spcPts val="900"/>
              </a:spcAft>
              <a:buClr>
                <a:srgbClr val="E8682C"/>
              </a:buClr>
              <a:buFont typeface="+mj-lt"/>
              <a:buChar char="•"/>
            </a:pPr>
            <a:r>
              <a:rPr lang="en-US" sz="1500">
                <a:solidFill>
                  <a:srgbClr val="1E2430"/>
                </a:solidFill>
                <a:latin typeface="Arial" panose="020B0604020202020204" pitchFamily="34" charset="0"/>
              </a:rPr>
              <a:t>SUS questionnaire answered the same evening</a:t>
            </a:r>
          </a:p>
        </p:txBody>
      </p:sp>
    </p:spTree>
    <p:extLst>
      <p:ext uri="{BB962C8B-B14F-4D97-AF65-F5344CB8AC3E}">
        <p14:creationId xmlns:p14="http://schemas.microsoft.com/office/powerpoint/2010/main" val="312814892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7876E05-6450-C526-F7EA-5BA77B303796}"/>
              </a:ext>
            </a:extLst>
          </p:cNvPr>
          <p:cNvSpPr txBox="1"/>
          <p:nvPr/>
        </p:nvSpPr>
        <p:spPr>
          <a:xfrm>
            <a:off x="609600" y="381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b="1">
                <a:solidFill>
                  <a:srgbClr val="E8682C"/>
                </a:solidFill>
                <a:latin typeface="Arial" panose="020B0604020202020204" pitchFamily="34" charset="0"/>
              </a:rPr>
              <a:t>RESULTS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6532503-0FCC-13ED-A58D-59A090965DC8}"/>
              </a:ext>
            </a:extLst>
          </p:cNvPr>
          <p:cNvSpPr txBox="1"/>
          <p:nvPr/>
        </p:nvSpPr>
        <p:spPr>
          <a:xfrm>
            <a:off x="609600" y="635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000" b="1">
                <a:solidFill>
                  <a:srgbClr val="1E2430"/>
                </a:solidFill>
                <a:latin typeface="Arial" panose="020B0604020202020204" pitchFamily="34" charset="0"/>
              </a:rPr>
              <a:t>How each KPI was tested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AC8349AF-744F-0330-AFE7-60863A72EC2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70015397"/>
              </p:ext>
            </p:extLst>
          </p:nvPr>
        </p:nvGraphicFramePr>
        <p:xfrm>
          <a:off x="609600" y="1422400"/>
          <a:ext cx="10972800" cy="482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13000">
                  <a:extLst>
                    <a:ext uri="{9D8B030D-6E8A-4147-A177-3AD203B41FA5}">
                      <a16:colId xmlns:a16="http://schemas.microsoft.com/office/drawing/2014/main" val="1034019162"/>
                    </a:ext>
                  </a:extLst>
                </a:gridCol>
                <a:gridCol w="6654800">
                  <a:extLst>
                    <a:ext uri="{9D8B030D-6E8A-4147-A177-3AD203B41FA5}">
                      <a16:colId xmlns:a16="http://schemas.microsoft.com/office/drawing/2014/main" val="2677098644"/>
                    </a:ext>
                  </a:extLst>
                </a:gridCol>
                <a:gridCol w="1905000">
                  <a:extLst>
                    <a:ext uri="{9D8B030D-6E8A-4147-A177-3AD203B41FA5}">
                      <a16:colId xmlns:a16="http://schemas.microsoft.com/office/drawing/2014/main" val="2080936587"/>
                    </a:ext>
                  </a:extLst>
                </a:gridCol>
              </a:tblGrid>
              <a:tr h="603250">
                <a:tc>
                  <a:txBody>
                    <a:bodyPr/>
                    <a:lstStyle/>
                    <a:p>
                      <a:r>
                        <a:rPr lang="en-US" sz="13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KPI</a:t>
                      </a:r>
                    </a:p>
                  </a:txBody>
                  <a:tcPr marL="101600" marT="63500" marB="63500">
                    <a:solidFill>
                      <a:srgbClr val="1E24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How it was tested</a:t>
                      </a:r>
                    </a:p>
                  </a:txBody>
                  <a:tcPr marL="101600" marT="63500" marB="63500">
                    <a:solidFill>
                      <a:srgbClr val="1E24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Tools</a:t>
                      </a:r>
                    </a:p>
                  </a:txBody>
                  <a:tcPr marL="101600" marT="63500" marB="63500">
                    <a:solidFill>
                      <a:srgbClr val="1E243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72517028"/>
                  </a:ext>
                </a:extLst>
              </a:tr>
              <a:tr h="603250">
                <a:tc>
                  <a:txBody>
                    <a:bodyPr/>
                    <a:lstStyle/>
                    <a:p>
                      <a:r>
                        <a:rPr lang="en-US" sz="1300" b="1">
                          <a:solidFill>
                            <a:srgbClr val="1E2430"/>
                          </a:solidFill>
                          <a:latin typeface="Arial" panose="020B0604020202020204" pitchFamily="34" charset="0"/>
                        </a:rPr>
                        <a:t>1  Queue integrity</a:t>
                      </a:r>
                    </a:p>
                  </a:txBody>
                  <a:tcPr marL="101600" marT="63500" marB="63500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0">
                          <a:solidFill>
                            <a:srgbClr val="1E2430"/>
                          </a:solidFill>
                          <a:latin typeface="Arial" panose="020B0604020202020204" pitchFamily="34" charset="0"/>
                        </a:rPr>
                        <a:t>50 simulated users join and leave queues at the same time; then 9 SQL checks look for any rule violation</a:t>
                      </a:r>
                    </a:p>
                  </a:txBody>
                  <a:tcPr marL="101600" marT="63500" marB="63500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0">
                          <a:solidFill>
                            <a:srgbClr val="5B6270"/>
                          </a:solidFill>
                          <a:latin typeface="Arial" panose="020B0604020202020204" pitchFamily="34" charset="0"/>
                        </a:rPr>
                        <a:t>k6, SQL</a:t>
                      </a:r>
                    </a:p>
                  </a:txBody>
                  <a:tcPr marL="101600" marT="63500" marB="63500">
                    <a:solidFill>
                      <a:srgbClr val="F3F4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39543605"/>
                  </a:ext>
                </a:extLst>
              </a:tr>
              <a:tr h="603250">
                <a:tc>
                  <a:txBody>
                    <a:bodyPr/>
                    <a:lstStyle/>
                    <a:p>
                      <a:r>
                        <a:rPr lang="en-US" sz="1300" b="1">
                          <a:solidFill>
                            <a:srgbClr val="1E2430"/>
                          </a:solidFill>
                          <a:latin typeface="Arial" panose="020B0604020202020204" pitchFamily="34" charset="0"/>
                        </a:rPr>
                        <a:t>2  Rule tests</a:t>
                      </a:r>
                    </a:p>
                  </a:txBody>
                  <a:tcPr marL="101600" marT="63500" marB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0">
                          <a:solidFill>
                            <a:srgbClr val="1E2430"/>
                          </a:solidFill>
                          <a:latin typeface="Arial" panose="020B0604020202020204" pitchFamily="34" charset="0"/>
                        </a:rPr>
                        <a:t>Automated tests call every database function as different users, including users who must be refused</a:t>
                      </a:r>
                    </a:p>
                  </a:txBody>
                  <a:tcPr marL="101600" marT="63500" marB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0">
                          <a:solidFill>
                            <a:srgbClr val="5B6270"/>
                          </a:solidFill>
                          <a:latin typeface="Arial" panose="020B0604020202020204" pitchFamily="34" charset="0"/>
                        </a:rPr>
                        <a:t>pgTAP, Node.js, CI</a:t>
                      </a:r>
                    </a:p>
                  </a:txBody>
                  <a:tcPr marL="101600" marT="63500" marB="635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34597303"/>
                  </a:ext>
                </a:extLst>
              </a:tr>
              <a:tr h="603250">
                <a:tc>
                  <a:txBody>
                    <a:bodyPr/>
                    <a:lstStyle/>
                    <a:p>
                      <a:r>
                        <a:rPr lang="en-US" sz="1300" b="1">
                          <a:solidFill>
                            <a:srgbClr val="1E2430"/>
                          </a:solidFill>
                          <a:latin typeface="Arial" panose="020B0604020202020204" pitchFamily="34" charset="0"/>
                        </a:rPr>
                        <a:t>3  LINE timeliness</a:t>
                      </a:r>
                    </a:p>
                  </a:txBody>
                  <a:tcPr marL="101600" marT="63500" marB="63500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0">
                          <a:solidFill>
                            <a:srgbClr val="1E2430"/>
                          </a:solidFill>
                          <a:latin typeface="Arial" panose="020B0604020202020204" pitchFamily="34" charset="0"/>
                        </a:rPr>
                        <a:t>Time from each event to LINE delivery, read from the notification outbox during the field evaluation</a:t>
                      </a:r>
                    </a:p>
                  </a:txBody>
                  <a:tcPr marL="101600" marT="63500" marB="63500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0">
                          <a:solidFill>
                            <a:srgbClr val="5B6270"/>
                          </a:solidFill>
                          <a:latin typeface="Arial" panose="020B0604020202020204" pitchFamily="34" charset="0"/>
                        </a:rPr>
                        <a:t>Outbox records</a:t>
                      </a:r>
                    </a:p>
                  </a:txBody>
                  <a:tcPr marL="101600" marT="63500" marB="63500">
                    <a:solidFill>
                      <a:srgbClr val="F3F4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6634788"/>
                  </a:ext>
                </a:extLst>
              </a:tr>
              <a:tr h="603250">
                <a:tc>
                  <a:txBody>
                    <a:bodyPr/>
                    <a:lstStyle/>
                    <a:p>
                      <a:r>
                        <a:rPr lang="en-US" sz="1300" b="1">
                          <a:solidFill>
                            <a:srgbClr val="1E2430"/>
                          </a:solidFill>
                          <a:latin typeface="Arial" panose="020B0604020202020204" pitchFamily="34" charset="0"/>
                        </a:rPr>
                        <a:t>4  Maintenance</a:t>
                      </a:r>
                    </a:p>
                  </a:txBody>
                  <a:tcPr marL="101600" marT="63500" marB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0">
                          <a:solidFill>
                            <a:srgbClr val="1E2430"/>
                          </a:solidFill>
                          <a:latin typeface="Arial" panose="020B0604020202020204" pitchFamily="34" charset="0"/>
                        </a:rPr>
                        <a:t>Seven scripted steps on the live system: report, duplicate, each status, reject</a:t>
                      </a:r>
                    </a:p>
                  </a:txBody>
                  <a:tcPr marL="101600" marT="63500" marB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0">
                          <a:solidFill>
                            <a:srgbClr val="5B6270"/>
                          </a:solidFill>
                          <a:latin typeface="Arial" panose="020B0604020202020204" pitchFamily="34" charset="0"/>
                        </a:rPr>
                        <a:t>Scenario, history</a:t>
                      </a:r>
                    </a:p>
                  </a:txBody>
                  <a:tcPr marL="101600" marT="63500" marB="635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55999503"/>
                  </a:ext>
                </a:extLst>
              </a:tr>
              <a:tr h="603250">
                <a:tc>
                  <a:txBody>
                    <a:bodyPr/>
                    <a:lstStyle/>
                    <a:p>
                      <a:r>
                        <a:rPr lang="en-US" sz="1300" b="1">
                          <a:solidFill>
                            <a:srgbClr val="1E2430"/>
                          </a:solidFill>
                          <a:latin typeface="Arial" panose="020B0604020202020204" pitchFamily="34" charset="0"/>
                        </a:rPr>
                        <a:t>5  Responsiveness</a:t>
                      </a:r>
                    </a:p>
                  </a:txBody>
                  <a:tcPr marL="101600" marT="63500" marB="63500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0">
                          <a:solidFill>
                            <a:srgbClr val="1E2430"/>
                          </a:solidFill>
                          <a:latin typeface="Arial" panose="020B0604020202020204" pitchFamily="34" charset="0"/>
                        </a:rPr>
                        <a:t>95th-percentile response time: 50 users on a laptop, 3 users on the live site, and a simulated phone</a:t>
                      </a:r>
                    </a:p>
                  </a:txBody>
                  <a:tcPr marL="101600" marT="63500" marB="63500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0">
                          <a:solidFill>
                            <a:srgbClr val="5B6270"/>
                          </a:solidFill>
                          <a:latin typeface="Arial" panose="020B0604020202020204" pitchFamily="34" charset="0"/>
                        </a:rPr>
                        <a:t>k6, Lighthouse</a:t>
                      </a:r>
                    </a:p>
                  </a:txBody>
                  <a:tcPr marL="101600" marT="63500" marB="63500">
                    <a:solidFill>
                      <a:srgbClr val="F3F4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29578573"/>
                  </a:ext>
                </a:extLst>
              </a:tr>
              <a:tr h="603250">
                <a:tc>
                  <a:txBody>
                    <a:bodyPr/>
                    <a:lstStyle/>
                    <a:p>
                      <a:r>
                        <a:rPr lang="en-US" sz="1300" b="1">
                          <a:solidFill>
                            <a:srgbClr val="1E2430"/>
                          </a:solidFill>
                          <a:latin typeface="Arial" panose="020B0604020202020204" pitchFamily="34" charset="0"/>
                        </a:rPr>
                        <a:t>6  Usability</a:t>
                      </a:r>
                    </a:p>
                  </a:txBody>
                  <a:tcPr marL="101600" marT="63500" marB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0">
                          <a:solidFill>
                            <a:srgbClr val="1E2430"/>
                          </a:solidFill>
                          <a:latin typeface="Arial" panose="020B0604020202020204" pitchFamily="34" charset="0"/>
                        </a:rPr>
                        <a:t>13 players answered the 10-item SUS questionnaire after using MeQ at the court</a:t>
                      </a:r>
                    </a:p>
                  </a:txBody>
                  <a:tcPr marL="101600" marT="63500" marB="635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0">
                          <a:solidFill>
                            <a:srgbClr val="5B6270"/>
                          </a:solidFill>
                          <a:latin typeface="Arial" panose="020B0604020202020204" pitchFamily="34" charset="0"/>
                        </a:rPr>
                        <a:t>Google Forms</a:t>
                      </a:r>
                    </a:p>
                  </a:txBody>
                  <a:tcPr marL="101600" marT="63500" marB="635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33734727"/>
                  </a:ext>
                </a:extLst>
              </a:tr>
              <a:tr h="603250">
                <a:tc>
                  <a:txBody>
                    <a:bodyPr/>
                    <a:lstStyle/>
                    <a:p>
                      <a:r>
                        <a:rPr lang="en-US" sz="1300" b="1">
                          <a:solidFill>
                            <a:srgbClr val="1E2430"/>
                          </a:solidFill>
                          <a:latin typeface="Arial" panose="020B0604020202020204" pitchFamily="34" charset="0"/>
                        </a:rPr>
                        <a:t>7  Security</a:t>
                      </a:r>
                    </a:p>
                  </a:txBody>
                  <a:tcPr marL="101600" marT="63500" marB="63500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0">
                          <a:solidFill>
                            <a:srgbClr val="1E2430"/>
                          </a:solidFill>
                          <a:latin typeface="Arial" panose="020B0604020202020204" pitchFamily="34" charset="0"/>
                        </a:rPr>
                        <a:t>Permission tests, an OWASP Top 10:2025 check, a dependency audit, and a scan of the live site</a:t>
                      </a:r>
                    </a:p>
                  </a:txBody>
                  <a:tcPr marL="101600" marT="63500" marB="63500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0">
                          <a:solidFill>
                            <a:srgbClr val="5B6270"/>
                          </a:solidFill>
                          <a:latin typeface="Arial" panose="020B0604020202020204" pitchFamily="34" charset="0"/>
                        </a:rPr>
                        <a:t>pgTAP, npm audit, ZAP</a:t>
                      </a:r>
                    </a:p>
                  </a:txBody>
                  <a:tcPr marL="101600" marT="63500" marB="63500">
                    <a:solidFill>
                      <a:srgbClr val="F3F4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5262636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29290AFA-E0DB-8919-1CB5-78EC5E0D8B69}"/>
              </a:ext>
            </a:extLst>
          </p:cNvPr>
          <p:cNvSpPr txBox="1"/>
          <p:nvPr/>
        </p:nvSpPr>
        <p:spPr>
          <a:xfrm>
            <a:off x="609600" y="6350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>
                <a:solidFill>
                  <a:srgbClr val="5B6270"/>
                </a:solidFill>
                <a:latin typeface="Arial" panose="020B0604020202020204" pitchFamily="34" charset="0"/>
              </a:rPr>
              <a:t>Every threshold was fixed before measuring.</a:t>
            </a:r>
          </a:p>
        </p:txBody>
      </p:sp>
    </p:spTree>
    <p:extLst>
      <p:ext uri="{BB962C8B-B14F-4D97-AF65-F5344CB8AC3E}">
        <p14:creationId xmlns:p14="http://schemas.microsoft.com/office/powerpoint/2010/main" val="429361416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C2500BD-3A9D-807B-C525-0FE8199EE567}"/>
              </a:ext>
            </a:extLst>
          </p:cNvPr>
          <p:cNvSpPr txBox="1"/>
          <p:nvPr/>
        </p:nvSpPr>
        <p:spPr>
          <a:xfrm>
            <a:off x="609600" y="381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b="1">
                <a:solidFill>
                  <a:srgbClr val="E8682C"/>
                </a:solidFill>
                <a:latin typeface="Arial" panose="020B0604020202020204" pitchFamily="34" charset="0"/>
              </a:rPr>
              <a:t>RESULTS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2CD6C98-513A-4BF6-43FD-9C5933DCD138}"/>
              </a:ext>
            </a:extLst>
          </p:cNvPr>
          <p:cNvSpPr txBox="1"/>
          <p:nvPr/>
        </p:nvSpPr>
        <p:spPr>
          <a:xfrm>
            <a:off x="609600" y="635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000" b="1">
                <a:solidFill>
                  <a:srgbClr val="1E2430"/>
                </a:solidFill>
                <a:latin typeface="Arial" panose="020B0604020202020204" pitchFamily="34" charset="0"/>
              </a:rPr>
              <a:t>What the 147 automated tests check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E033A45-0D81-D138-02A9-E09B33B86746}"/>
              </a:ext>
            </a:extLst>
          </p:cNvPr>
          <p:cNvSpPr txBox="1"/>
          <p:nvPr/>
        </p:nvSpPr>
        <p:spPr>
          <a:xfrm>
            <a:off x="609600" y="1371600"/>
            <a:ext cx="660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500" b="1">
                <a:solidFill>
                  <a:srgbClr val="E8682C"/>
                </a:solidFill>
                <a:latin typeface="Arial" panose="020B0604020202020204" pitchFamily="34" charset="0"/>
              </a:rPr>
              <a:t>115 database tests (pgTAP)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7FFFF5D-248F-D30F-6149-A890A3DE59DB}"/>
              </a:ext>
            </a:extLst>
          </p:cNvPr>
          <p:cNvSpPr txBox="1"/>
          <p:nvPr/>
        </p:nvSpPr>
        <p:spPr>
          <a:xfrm>
            <a:off x="609600" y="1854200"/>
            <a:ext cx="3683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>
                <a:solidFill>
                  <a:srgbClr val="1E2430"/>
                </a:solidFill>
                <a:latin typeface="Arial" panose="020B0604020202020204" pitchFamily="34" charset="0"/>
              </a:rPr>
              <a:t>Permissions and row-level security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3D9DDB90-0BD0-7F94-22CB-5594FDD864B8}"/>
              </a:ext>
            </a:extLst>
          </p:cNvPr>
          <p:cNvSpPr/>
          <p:nvPr/>
        </p:nvSpPr>
        <p:spPr>
          <a:xfrm>
            <a:off x="4368800" y="1828800"/>
            <a:ext cx="2794000" cy="304800"/>
          </a:xfrm>
          <a:prstGeom prst="roundRect">
            <a:avLst>
              <a:gd name="adj" fmla="val 12000"/>
            </a:avLst>
          </a:prstGeom>
          <a:solidFill>
            <a:srgbClr val="E868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BBDEBA6-66A9-C4E7-A2EB-2ABD295A5330}"/>
              </a:ext>
            </a:extLst>
          </p:cNvPr>
          <p:cNvSpPr txBox="1"/>
          <p:nvPr/>
        </p:nvSpPr>
        <p:spPr>
          <a:xfrm>
            <a:off x="7239000" y="1854200"/>
            <a:ext cx="50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b="1">
                <a:solidFill>
                  <a:srgbClr val="1E2430"/>
                </a:solidFill>
                <a:latin typeface="Arial" panose="020B0604020202020204" pitchFamily="34" charset="0"/>
              </a:rPr>
              <a:t>49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277D8F3-50D8-1FDA-A646-D82EEA51E95B}"/>
              </a:ext>
            </a:extLst>
          </p:cNvPr>
          <p:cNvSpPr txBox="1"/>
          <p:nvPr/>
        </p:nvSpPr>
        <p:spPr>
          <a:xfrm>
            <a:off x="609600" y="2413000"/>
            <a:ext cx="3683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>
                <a:solidFill>
                  <a:srgbClr val="1E2430"/>
                </a:solidFill>
                <a:latin typeface="Arial" panose="020B0604020202020204" pitchFamily="34" charset="0"/>
              </a:rPr>
              <a:t>Location check-in and team readiness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9A9F75A3-052D-C842-3862-E4A54352FD10}"/>
              </a:ext>
            </a:extLst>
          </p:cNvPr>
          <p:cNvSpPr/>
          <p:nvPr/>
        </p:nvSpPr>
        <p:spPr>
          <a:xfrm>
            <a:off x="4368800" y="2387600"/>
            <a:ext cx="1028700" cy="304800"/>
          </a:xfrm>
          <a:prstGeom prst="roundRect">
            <a:avLst>
              <a:gd name="adj" fmla="val 12000"/>
            </a:avLst>
          </a:prstGeom>
          <a:solidFill>
            <a:srgbClr val="E868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03E7CE1-6033-CCEF-BB4F-3673AB9E1A82}"/>
              </a:ext>
            </a:extLst>
          </p:cNvPr>
          <p:cNvSpPr txBox="1"/>
          <p:nvPr/>
        </p:nvSpPr>
        <p:spPr>
          <a:xfrm>
            <a:off x="5473700" y="2413000"/>
            <a:ext cx="50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b="1">
                <a:solidFill>
                  <a:srgbClr val="1E2430"/>
                </a:solidFill>
                <a:latin typeface="Arial" panose="020B0604020202020204" pitchFamily="34" charset="0"/>
              </a:rPr>
              <a:t>18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C5A7DA5-6B9E-7892-7935-E25DC2B13AC7}"/>
              </a:ext>
            </a:extLst>
          </p:cNvPr>
          <p:cNvSpPr txBox="1"/>
          <p:nvPr/>
        </p:nvSpPr>
        <p:spPr>
          <a:xfrm>
            <a:off x="609600" y="2971800"/>
            <a:ext cx="3683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>
                <a:solidFill>
                  <a:srgbClr val="1E2430"/>
                </a:solidFill>
                <a:latin typeface="Arial" panose="020B0604020202020204" pitchFamily="34" charset="0"/>
              </a:rPr>
              <a:t>Winner rotation: two wins, then rest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F461B839-3A2E-FF6B-B1E9-83905F3BD0D4}"/>
              </a:ext>
            </a:extLst>
          </p:cNvPr>
          <p:cNvSpPr/>
          <p:nvPr/>
        </p:nvSpPr>
        <p:spPr>
          <a:xfrm>
            <a:off x="4368800" y="2946400"/>
            <a:ext cx="800100" cy="304800"/>
          </a:xfrm>
          <a:prstGeom prst="roundRect">
            <a:avLst>
              <a:gd name="adj" fmla="val 12000"/>
            </a:avLst>
          </a:prstGeom>
          <a:solidFill>
            <a:srgbClr val="E868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2AD125D-F466-207A-31BB-FA750F5EEC38}"/>
              </a:ext>
            </a:extLst>
          </p:cNvPr>
          <p:cNvSpPr txBox="1"/>
          <p:nvPr/>
        </p:nvSpPr>
        <p:spPr>
          <a:xfrm>
            <a:off x="5245100" y="2971800"/>
            <a:ext cx="50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b="1">
                <a:solidFill>
                  <a:srgbClr val="1E2430"/>
                </a:solidFill>
                <a:latin typeface="Arial" panose="020B0604020202020204" pitchFamily="34" charset="0"/>
              </a:rPr>
              <a:t>14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76CA091-2E2A-6909-3059-F0A050C54416}"/>
              </a:ext>
            </a:extLst>
          </p:cNvPr>
          <p:cNvSpPr txBox="1"/>
          <p:nvPr/>
        </p:nvSpPr>
        <p:spPr>
          <a:xfrm>
            <a:off x="609600" y="3530600"/>
            <a:ext cx="3683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>
                <a:solidFill>
                  <a:srgbClr val="1E2430"/>
                </a:solidFill>
                <a:latin typeface="Arial" panose="020B0604020202020204" pitchFamily="34" charset="0"/>
              </a:rPr>
              <a:t>Requeue and repeated check-in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D0AE0D9B-BFDE-B6FD-782A-58C39BA05474}"/>
              </a:ext>
            </a:extLst>
          </p:cNvPr>
          <p:cNvSpPr/>
          <p:nvPr/>
        </p:nvSpPr>
        <p:spPr>
          <a:xfrm>
            <a:off x="4368800" y="3505200"/>
            <a:ext cx="508000" cy="304800"/>
          </a:xfrm>
          <a:prstGeom prst="roundRect">
            <a:avLst>
              <a:gd name="adj" fmla="val 12000"/>
            </a:avLst>
          </a:prstGeom>
          <a:solidFill>
            <a:srgbClr val="E868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B60FB45-6A2F-4E04-C1E3-027D871044EC}"/>
              </a:ext>
            </a:extLst>
          </p:cNvPr>
          <p:cNvSpPr txBox="1"/>
          <p:nvPr/>
        </p:nvSpPr>
        <p:spPr>
          <a:xfrm>
            <a:off x="4953000" y="3530600"/>
            <a:ext cx="50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b="1">
                <a:solidFill>
                  <a:srgbClr val="1E2430"/>
                </a:solidFill>
                <a:latin typeface="Arial" panose="020B0604020202020204" pitchFamily="34" charset="0"/>
              </a:rPr>
              <a:t>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D828006-588E-68E1-CC8C-BFD68A566B37}"/>
              </a:ext>
            </a:extLst>
          </p:cNvPr>
          <p:cNvSpPr txBox="1"/>
          <p:nvPr/>
        </p:nvSpPr>
        <p:spPr>
          <a:xfrm>
            <a:off x="609600" y="4089400"/>
            <a:ext cx="3683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>
                <a:solidFill>
                  <a:srgbClr val="1E2430"/>
                </a:solidFill>
                <a:latin typeface="Arial" panose="020B0604020202020204" pitchFamily="34" charset="0"/>
              </a:rPr>
              <a:t>One court failing does not stop others</a:t>
            </a: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7185CF73-62C7-CA2E-2BA2-C5D111D9DD6E}"/>
              </a:ext>
            </a:extLst>
          </p:cNvPr>
          <p:cNvSpPr/>
          <p:nvPr/>
        </p:nvSpPr>
        <p:spPr>
          <a:xfrm>
            <a:off x="4368800" y="4064000"/>
            <a:ext cx="457200" cy="304800"/>
          </a:xfrm>
          <a:prstGeom prst="roundRect">
            <a:avLst>
              <a:gd name="adj" fmla="val 12000"/>
            </a:avLst>
          </a:prstGeom>
          <a:solidFill>
            <a:srgbClr val="E868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F833551-9D6B-EE16-BBC6-ED0A7934017A}"/>
              </a:ext>
            </a:extLst>
          </p:cNvPr>
          <p:cNvSpPr txBox="1"/>
          <p:nvPr/>
        </p:nvSpPr>
        <p:spPr>
          <a:xfrm>
            <a:off x="4902200" y="4089400"/>
            <a:ext cx="50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b="1">
                <a:solidFill>
                  <a:srgbClr val="1E2430"/>
                </a:solidFill>
                <a:latin typeface="Arial" panose="020B0604020202020204" pitchFamily="34" charset="0"/>
              </a:rPr>
              <a:t>8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0725A2F-0E18-7293-28F6-BAEFABEA45EC}"/>
              </a:ext>
            </a:extLst>
          </p:cNvPr>
          <p:cNvSpPr txBox="1"/>
          <p:nvPr/>
        </p:nvSpPr>
        <p:spPr>
          <a:xfrm>
            <a:off x="609600" y="4648200"/>
            <a:ext cx="3683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>
                <a:solidFill>
                  <a:srgbClr val="1E2430"/>
                </a:solidFill>
                <a:latin typeface="Arial" panose="020B0604020202020204" pitchFamily="34" charset="0"/>
              </a:rPr>
              <a:t>Challenger returns when the winner leaves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085BA2E7-3BFF-06F1-B06B-BB74AA258A22}"/>
              </a:ext>
            </a:extLst>
          </p:cNvPr>
          <p:cNvSpPr/>
          <p:nvPr/>
        </p:nvSpPr>
        <p:spPr>
          <a:xfrm>
            <a:off x="4368800" y="4622800"/>
            <a:ext cx="457200" cy="304800"/>
          </a:xfrm>
          <a:prstGeom prst="roundRect">
            <a:avLst>
              <a:gd name="adj" fmla="val 12000"/>
            </a:avLst>
          </a:prstGeom>
          <a:solidFill>
            <a:srgbClr val="E868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4C806F4-0BC0-34C7-1BE2-C6A3BBA949C2}"/>
              </a:ext>
            </a:extLst>
          </p:cNvPr>
          <p:cNvSpPr txBox="1"/>
          <p:nvPr/>
        </p:nvSpPr>
        <p:spPr>
          <a:xfrm>
            <a:off x="4902200" y="4648200"/>
            <a:ext cx="50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b="1">
                <a:solidFill>
                  <a:srgbClr val="1E2430"/>
                </a:solidFill>
                <a:latin typeface="Arial" panose="020B0604020202020204" pitchFamily="34" charset="0"/>
              </a:rPr>
              <a:t>8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19E7DCE-B60F-AA4A-7239-3B3BA1D4ECB6}"/>
              </a:ext>
            </a:extLst>
          </p:cNvPr>
          <p:cNvSpPr txBox="1"/>
          <p:nvPr/>
        </p:nvSpPr>
        <p:spPr>
          <a:xfrm>
            <a:off x="609600" y="5207000"/>
            <a:ext cx="3683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>
                <a:solidFill>
                  <a:srgbClr val="1E2430"/>
                </a:solidFill>
                <a:latin typeface="Arial" panose="020B0604020202020204" pitchFamily="34" charset="0"/>
              </a:rPr>
              <a:t>Full flows: game, queue, teams, maintenance</a:t>
            </a: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6D518A1C-C362-864A-26A9-B37759792665}"/>
              </a:ext>
            </a:extLst>
          </p:cNvPr>
          <p:cNvSpPr/>
          <p:nvPr/>
        </p:nvSpPr>
        <p:spPr>
          <a:xfrm>
            <a:off x="4368800" y="5181600"/>
            <a:ext cx="342900" cy="304800"/>
          </a:xfrm>
          <a:prstGeom prst="roundRect">
            <a:avLst>
              <a:gd name="adj" fmla="val 12000"/>
            </a:avLst>
          </a:prstGeom>
          <a:solidFill>
            <a:srgbClr val="E868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F897596-30F2-9247-522E-9A2F45949337}"/>
              </a:ext>
            </a:extLst>
          </p:cNvPr>
          <p:cNvSpPr txBox="1"/>
          <p:nvPr/>
        </p:nvSpPr>
        <p:spPr>
          <a:xfrm>
            <a:off x="4787900" y="5207000"/>
            <a:ext cx="50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b="1">
                <a:solidFill>
                  <a:srgbClr val="1E2430"/>
                </a:solidFill>
                <a:latin typeface="Arial" panose="020B0604020202020204" pitchFamily="34" charset="0"/>
              </a:rPr>
              <a:t>6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6A00962-8B9A-E26F-E694-B34B4070EC38}"/>
              </a:ext>
            </a:extLst>
          </p:cNvPr>
          <p:cNvSpPr txBox="1"/>
          <p:nvPr/>
        </p:nvSpPr>
        <p:spPr>
          <a:xfrm>
            <a:off x="609600" y="5765800"/>
            <a:ext cx="3683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>
                <a:solidFill>
                  <a:srgbClr val="1E2430"/>
                </a:solidFill>
                <a:latin typeface="Arial" panose="020B0604020202020204" pitchFamily="34" charset="0"/>
              </a:rPr>
              <a:t>LINE outbox: claim, retry, expiry</a:t>
            </a:r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7E4D68AB-4081-5DB5-B9E5-E7B1540FEACA}"/>
              </a:ext>
            </a:extLst>
          </p:cNvPr>
          <p:cNvSpPr/>
          <p:nvPr/>
        </p:nvSpPr>
        <p:spPr>
          <a:xfrm>
            <a:off x="4368800" y="5740400"/>
            <a:ext cx="165100" cy="304800"/>
          </a:xfrm>
          <a:prstGeom prst="roundRect">
            <a:avLst>
              <a:gd name="adj" fmla="val 12000"/>
            </a:avLst>
          </a:prstGeom>
          <a:solidFill>
            <a:srgbClr val="E868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AE6D0B7-8D79-68AE-D58C-D14CB955CE9D}"/>
              </a:ext>
            </a:extLst>
          </p:cNvPr>
          <p:cNvSpPr txBox="1"/>
          <p:nvPr/>
        </p:nvSpPr>
        <p:spPr>
          <a:xfrm>
            <a:off x="4610100" y="5765800"/>
            <a:ext cx="50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b="1">
                <a:solidFill>
                  <a:srgbClr val="1E2430"/>
                </a:solidFill>
                <a:latin typeface="Arial" panose="020B0604020202020204" pitchFamily="34" charset="0"/>
              </a:rPr>
              <a:t>3</a:t>
            </a: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6B05306F-CFE6-ECE9-E940-A8FF12297311}"/>
              </a:ext>
            </a:extLst>
          </p:cNvPr>
          <p:cNvSpPr/>
          <p:nvPr/>
        </p:nvSpPr>
        <p:spPr>
          <a:xfrm>
            <a:off x="7924800" y="1371600"/>
            <a:ext cx="3657600" cy="2794000"/>
          </a:xfrm>
          <a:prstGeom prst="roundRect">
            <a:avLst>
              <a:gd name="adj" fmla="val 6364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8E464657-97FD-451A-DA04-30B1528486A4}"/>
              </a:ext>
            </a:extLst>
          </p:cNvPr>
          <p:cNvSpPr txBox="1"/>
          <p:nvPr/>
        </p:nvSpPr>
        <p:spPr>
          <a:xfrm>
            <a:off x="8178800" y="1574800"/>
            <a:ext cx="3175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500" b="1">
                <a:solidFill>
                  <a:srgbClr val="E8682C"/>
                </a:solidFill>
                <a:latin typeface="Arial" panose="020B0604020202020204" pitchFamily="34" charset="0"/>
              </a:rPr>
              <a:t>32 unit tests (TypeScript)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A8451278-7A03-FDBD-AB56-7D02754469F3}"/>
              </a:ext>
            </a:extLst>
          </p:cNvPr>
          <p:cNvSpPr txBox="1"/>
          <p:nvPr/>
        </p:nvSpPr>
        <p:spPr>
          <a:xfrm>
            <a:off x="8178800" y="2006600"/>
            <a:ext cx="32004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165100" indent="-165100">
              <a:spcAft>
                <a:spcPts val="700"/>
              </a:spcAft>
              <a:buClr>
                <a:srgbClr val="E8682C"/>
              </a:buClr>
              <a:buFont typeface="+mj-lt"/>
              <a:buChar char="•"/>
            </a:pPr>
            <a:r>
              <a:rPr lang="en-US" sz="1200">
                <a:solidFill>
                  <a:srgbClr val="1E2430"/>
                </a:solidFill>
                <a:latin typeface="Arial" panose="020B0604020202020204" pitchFamily="34" charset="0"/>
              </a:rPr>
              <a:t>Removed browser-side queue code stays removed; security headers (10)</a:t>
            </a:r>
          </a:p>
          <a:p>
            <a:pPr marL="165100" indent="-165100">
              <a:spcAft>
                <a:spcPts val="700"/>
              </a:spcAft>
              <a:buClr>
                <a:srgbClr val="E8682C"/>
              </a:buClr>
              <a:buFont typeface="+mj-lt"/>
              <a:buChar char="•"/>
            </a:pPr>
            <a:r>
              <a:rPr lang="en-US" sz="1200">
                <a:solidFill>
                  <a:srgbClr val="1E2430"/>
                </a:solidFill>
                <a:latin typeface="Arial" panose="020B0604020202020204" pitchFamily="34" charset="0"/>
              </a:rPr>
              <a:t>LINE message text and recipients (5)</a:t>
            </a:r>
          </a:p>
          <a:p>
            <a:pPr marL="165100" indent="-165100">
              <a:spcAft>
                <a:spcPts val="700"/>
              </a:spcAft>
              <a:buClr>
                <a:srgbClr val="E8682C"/>
              </a:buClr>
              <a:buFont typeface="+mj-lt"/>
              <a:buChar char="•"/>
            </a:pPr>
            <a:r>
              <a:rPr lang="en-US" sz="1200">
                <a:solidFill>
                  <a:srgbClr val="1E2430"/>
                </a:solidFill>
                <a:latin typeface="Arial" panose="020B0604020202020204" pitchFamily="34" charset="0"/>
              </a:rPr>
              <a:t>Administrator rules (4)</a:t>
            </a:r>
          </a:p>
          <a:p>
            <a:pPr marL="165100" indent="-165100">
              <a:spcAft>
                <a:spcPts val="700"/>
              </a:spcAft>
              <a:buClr>
                <a:srgbClr val="E8682C"/>
              </a:buClr>
              <a:buFont typeface="+mj-lt"/>
              <a:buChar char="•"/>
            </a:pPr>
            <a:r>
              <a:rPr lang="en-US" sz="1200">
                <a:solidFill>
                  <a:srgbClr val="1E2430"/>
                </a:solidFill>
                <a:latin typeface="Arial" panose="020B0604020202020204" pitchFamily="34" charset="0"/>
              </a:rPr>
              <a:t>Live refresh of court pages (4)</a:t>
            </a:r>
          </a:p>
          <a:p>
            <a:pPr marL="165100" indent="-165100">
              <a:spcAft>
                <a:spcPts val="700"/>
              </a:spcAft>
              <a:buClr>
                <a:srgbClr val="E8682C"/>
              </a:buClr>
              <a:buFont typeface="+mj-lt"/>
              <a:buChar char="•"/>
            </a:pPr>
            <a:r>
              <a:rPr lang="en-US" sz="1200">
                <a:solidFill>
                  <a:srgbClr val="1E2430"/>
                </a:solidFill>
                <a:latin typeface="Arial" panose="020B0604020202020204" pitchFamily="34" charset="0"/>
              </a:rPr>
              <a:t>Team location rules (4)</a:t>
            </a:r>
          </a:p>
          <a:p>
            <a:pPr marL="165100" indent="-165100">
              <a:spcAft>
                <a:spcPts val="700"/>
              </a:spcAft>
              <a:buClr>
                <a:srgbClr val="E8682C"/>
              </a:buClr>
              <a:buFont typeface="+mj-lt"/>
              <a:buChar char="•"/>
            </a:pPr>
            <a:r>
              <a:rPr lang="en-US" sz="1200">
                <a:solidFill>
                  <a:srgbClr val="1E2430"/>
                </a:solidFill>
                <a:latin typeface="Arial" panose="020B0604020202020204" pitchFamily="34" charset="0"/>
              </a:rPr>
              <a:t>Maintenance statistics (3)</a:t>
            </a:r>
          </a:p>
          <a:p>
            <a:pPr marL="165100" indent="-165100">
              <a:spcAft>
                <a:spcPts val="700"/>
              </a:spcAft>
              <a:buClr>
                <a:srgbClr val="E8682C"/>
              </a:buClr>
              <a:buFont typeface="+mj-lt"/>
              <a:buChar char="•"/>
            </a:pPr>
            <a:r>
              <a:rPr lang="en-US" sz="1200">
                <a:solidFill>
                  <a:srgbClr val="1E2430"/>
                </a:solidFill>
                <a:latin typeface="Arial" panose="020B0604020202020204" pitchFamily="34" charset="0"/>
              </a:rPr>
              <a:t>Game lifecycle states (2)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23860DE3-F44D-FF30-6218-7EF49BB26165}"/>
              </a:ext>
            </a:extLst>
          </p:cNvPr>
          <p:cNvSpPr txBox="1"/>
          <p:nvPr/>
        </p:nvSpPr>
        <p:spPr>
          <a:xfrm>
            <a:off x="609600" y="6350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>
                <a:solidFill>
                  <a:srgbClr val="5B6270"/>
                </a:solidFill>
                <a:latin typeface="Arial" panose="020B0604020202020204" pitchFamily="34" charset="0"/>
              </a:rPr>
              <a:t>All 147 run on every change in GitHub Actions; a change that fails any test cannot be merged.</a:t>
            </a:r>
          </a:p>
        </p:txBody>
      </p:sp>
    </p:spTree>
    <p:extLst>
      <p:ext uri="{BB962C8B-B14F-4D97-AF65-F5344CB8AC3E}">
        <p14:creationId xmlns:p14="http://schemas.microsoft.com/office/powerpoint/2010/main" val="102359339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696345C-8CED-7CFE-D0A0-884FDDE87F0D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471455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03AA4E9-6796-8998-581E-39FC179DC65C}"/>
              </a:ext>
            </a:extLst>
          </p:cNvPr>
          <p:cNvSpPr txBox="1"/>
          <p:nvPr/>
        </p:nvSpPr>
        <p:spPr>
          <a:xfrm>
            <a:off x="609600" y="381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b="1">
                <a:solidFill>
                  <a:srgbClr val="E8682C"/>
                </a:solidFill>
                <a:latin typeface="Arial" panose="020B0604020202020204" pitchFamily="34" charset="0"/>
              </a:rPr>
              <a:t>RESULTS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E384643-8A53-6616-769D-A8DE58011653}"/>
              </a:ext>
            </a:extLst>
          </p:cNvPr>
          <p:cNvSpPr txBox="1"/>
          <p:nvPr/>
        </p:nvSpPr>
        <p:spPr>
          <a:xfrm>
            <a:off x="609600" y="635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000" b="1">
                <a:solidFill>
                  <a:srgbClr val="1E2430"/>
                </a:solidFill>
                <a:latin typeface="Arial" panose="020B0604020202020204" pitchFamily="34" charset="0"/>
              </a:rPr>
              <a:t>Real players found what the tests missed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55480A96-3131-2710-79EE-DD0EA44FF159}"/>
              </a:ext>
            </a:extLst>
          </p:cNvPr>
          <p:cNvSpPr/>
          <p:nvPr/>
        </p:nvSpPr>
        <p:spPr>
          <a:xfrm>
            <a:off x="609600" y="1498600"/>
            <a:ext cx="3479800" cy="3149600"/>
          </a:xfrm>
          <a:prstGeom prst="roundRect">
            <a:avLst>
              <a:gd name="adj" fmla="val 5645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08A6DB4F-5E6D-AEE0-1BBC-872625522552}"/>
              </a:ext>
            </a:extLst>
          </p:cNvPr>
          <p:cNvSpPr/>
          <p:nvPr/>
        </p:nvSpPr>
        <p:spPr>
          <a:xfrm>
            <a:off x="863600" y="1752600"/>
            <a:ext cx="457200" cy="457200"/>
          </a:xfrm>
          <a:prstGeom prst="ellipse">
            <a:avLst/>
          </a:prstGeom>
          <a:solidFill>
            <a:srgbClr val="E868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600" b="1">
                <a:solidFill>
                  <a:srgbClr val="FFFFFF"/>
                </a:solidFill>
                <a:latin typeface="Arial" panose="020B0604020202020204" pitchFamily="34" charset="0"/>
              </a:rPr>
              <a:t>1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A235DE4-E1CC-C6CF-E556-320D7A643B62}"/>
              </a:ext>
            </a:extLst>
          </p:cNvPr>
          <p:cNvSpPr txBox="1"/>
          <p:nvPr/>
        </p:nvSpPr>
        <p:spPr>
          <a:xfrm>
            <a:off x="863600" y="2413000"/>
            <a:ext cx="2971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b="1">
                <a:solidFill>
                  <a:srgbClr val="1E2430"/>
                </a:solidFill>
                <a:latin typeface="Arial" panose="020B0604020202020204" pitchFamily="34" charset="0"/>
              </a:rPr>
              <a:t>Queue stalled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792312F-637C-4DAE-963C-B883DB5BB245}"/>
              </a:ext>
            </a:extLst>
          </p:cNvPr>
          <p:cNvSpPr txBox="1"/>
          <p:nvPr/>
        </p:nvSpPr>
        <p:spPr>
          <a:xfrm>
            <a:off x="863600" y="3098800"/>
            <a:ext cx="2971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500">
                <a:solidFill>
                  <a:srgbClr val="5B6270"/>
                </a:solidFill>
                <a:latin typeface="Arial" panose="020B0604020202020204" pitchFamily="34" charset="0"/>
              </a:rPr>
              <a:t>The queue stopped advancing after a team requeued. Fixed in the database, with a new test.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B3F33DAC-1201-6E27-A2EA-9971C4DADF09}"/>
              </a:ext>
            </a:extLst>
          </p:cNvPr>
          <p:cNvSpPr/>
          <p:nvPr/>
        </p:nvSpPr>
        <p:spPr>
          <a:xfrm>
            <a:off x="4356100" y="1498600"/>
            <a:ext cx="3479800" cy="3149600"/>
          </a:xfrm>
          <a:prstGeom prst="roundRect">
            <a:avLst>
              <a:gd name="adj" fmla="val 5645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B619FEDE-A3F9-EEE2-DEC8-E7FEA34CD771}"/>
              </a:ext>
            </a:extLst>
          </p:cNvPr>
          <p:cNvSpPr/>
          <p:nvPr/>
        </p:nvSpPr>
        <p:spPr>
          <a:xfrm>
            <a:off x="4610100" y="1752600"/>
            <a:ext cx="457200" cy="457200"/>
          </a:xfrm>
          <a:prstGeom prst="ellipse">
            <a:avLst/>
          </a:prstGeom>
          <a:solidFill>
            <a:srgbClr val="E868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600" b="1">
                <a:solidFill>
                  <a:srgbClr val="FFFFFF"/>
                </a:solidFill>
                <a:latin typeface="Arial" panose="020B0604020202020204" pitchFamily="34" charset="0"/>
              </a:rPr>
              <a:t>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EE9A19D-CEC4-A2E1-6D78-1ACEB83F9228}"/>
              </a:ext>
            </a:extLst>
          </p:cNvPr>
          <p:cNvSpPr txBox="1"/>
          <p:nvPr/>
        </p:nvSpPr>
        <p:spPr>
          <a:xfrm>
            <a:off x="4610100" y="2413000"/>
            <a:ext cx="2971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b="1">
                <a:solidFill>
                  <a:srgbClr val="1E2430"/>
                </a:solidFill>
                <a:latin typeface="Arial" panose="020B0604020202020204" pitchFamily="34" charset="0"/>
              </a:rPr>
              <a:t>Challenger dropped (16 Oct)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978FBE1-F9B0-A132-EA29-47A73A1145BA}"/>
              </a:ext>
            </a:extLst>
          </p:cNvPr>
          <p:cNvSpPr txBox="1"/>
          <p:nvPr/>
        </p:nvSpPr>
        <p:spPr>
          <a:xfrm>
            <a:off x="4610100" y="3098800"/>
            <a:ext cx="2971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500">
                <a:solidFill>
                  <a:srgbClr val="5B6270"/>
                </a:solidFill>
                <a:latin typeface="Arial" panose="020B0604020202020204" pitchFamily="34" charset="0"/>
              </a:rPr>
              <a:t>When a winner left, the called challenger vanished from the queue. Fixed the same day, with a new test.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78512779-45F7-7FD4-BB9A-91E3B5E36957}"/>
              </a:ext>
            </a:extLst>
          </p:cNvPr>
          <p:cNvSpPr/>
          <p:nvPr/>
        </p:nvSpPr>
        <p:spPr>
          <a:xfrm>
            <a:off x="8102600" y="1498600"/>
            <a:ext cx="3479800" cy="3149600"/>
          </a:xfrm>
          <a:prstGeom prst="roundRect">
            <a:avLst>
              <a:gd name="adj" fmla="val 5645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6736ACAD-DD35-E423-580A-223B6B99FB6F}"/>
              </a:ext>
            </a:extLst>
          </p:cNvPr>
          <p:cNvSpPr/>
          <p:nvPr/>
        </p:nvSpPr>
        <p:spPr>
          <a:xfrm>
            <a:off x="8356600" y="1752600"/>
            <a:ext cx="457200" cy="457200"/>
          </a:xfrm>
          <a:prstGeom prst="ellipse">
            <a:avLst/>
          </a:prstGeom>
          <a:solidFill>
            <a:srgbClr val="E8682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600" b="1">
                <a:solidFill>
                  <a:srgbClr val="FFFFFF"/>
                </a:solidFill>
                <a:latin typeface="Arial" panose="020B0604020202020204" pitchFamily="34" charset="0"/>
              </a:rPr>
              <a:t>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1006555-96E1-47F0-03A4-1EE23D28FB3B}"/>
              </a:ext>
            </a:extLst>
          </p:cNvPr>
          <p:cNvSpPr txBox="1"/>
          <p:nvPr/>
        </p:nvSpPr>
        <p:spPr>
          <a:xfrm>
            <a:off x="8356600" y="2413000"/>
            <a:ext cx="2971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b="1">
                <a:solidFill>
                  <a:srgbClr val="1E2430"/>
                </a:solidFill>
                <a:latin typeface="Arial" panose="020B0604020202020204" pitchFamily="34" charset="0"/>
              </a:rPr>
              <a:t>Statistics showed 0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E828FBD-05A3-AC53-A5C0-C8D956A8CAFF}"/>
              </a:ext>
            </a:extLst>
          </p:cNvPr>
          <p:cNvSpPr txBox="1"/>
          <p:nvPr/>
        </p:nvSpPr>
        <p:spPr>
          <a:xfrm>
            <a:off x="8356600" y="3098800"/>
            <a:ext cx="2971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500">
                <a:solidFill>
                  <a:srgbClr val="5B6270"/>
                </a:solidFill>
                <a:latin typeface="Arial" panose="020B0604020202020204" pitchFamily="34" charset="0"/>
              </a:rPr>
              <a:t>A missing permission grant hid players' statistics. Fixed and verified on the live site.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34A54DE5-62E7-8294-B8BB-93CFAD383AE3}"/>
              </a:ext>
            </a:extLst>
          </p:cNvPr>
          <p:cNvSpPr/>
          <p:nvPr/>
        </p:nvSpPr>
        <p:spPr>
          <a:xfrm>
            <a:off x="609600" y="4953000"/>
            <a:ext cx="10972800" cy="1066800"/>
          </a:xfrm>
          <a:prstGeom prst="roundRect">
            <a:avLst>
              <a:gd name="adj" fmla="val 12000"/>
            </a:avLst>
          </a:prstGeom>
          <a:solidFill>
            <a:srgbClr val="FDEEE5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04800" rtlCol="0" anchor="ctr"/>
          <a:lstStyle/>
          <a:p>
            <a:r>
              <a:rPr lang="en-US" sz="1900" b="1">
                <a:solidFill>
                  <a:srgbClr val="1E2430"/>
                </a:solidFill>
                <a:latin typeface="Arial" panose="020B0604020202020204" pitchFamily="34" charset="0"/>
              </a:rPr>
              <a:t>Lesson: every automated test passed, but real users on real phones found the edge cases.</a:t>
            </a:r>
          </a:p>
        </p:txBody>
      </p:sp>
    </p:spTree>
    <p:extLst>
      <p:ext uri="{BB962C8B-B14F-4D97-AF65-F5344CB8AC3E}">
        <p14:creationId xmlns:p14="http://schemas.microsoft.com/office/powerpoint/2010/main" val="407705663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C66AE85-6923-32E9-AA70-CCDFB5BD431F}"/>
              </a:ext>
            </a:extLst>
          </p:cNvPr>
          <p:cNvSpPr txBox="1"/>
          <p:nvPr/>
        </p:nvSpPr>
        <p:spPr>
          <a:xfrm>
            <a:off x="609600" y="381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 b="1">
                <a:solidFill>
                  <a:srgbClr val="E8682C"/>
                </a:solidFill>
                <a:latin typeface="Arial" panose="020B0604020202020204" pitchFamily="34" charset="0"/>
              </a:rPr>
              <a:t>IMPACT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E180B6B-73C3-5388-B7E0-938DB9E24722}"/>
              </a:ext>
            </a:extLst>
          </p:cNvPr>
          <p:cNvSpPr txBox="1"/>
          <p:nvPr/>
        </p:nvSpPr>
        <p:spPr>
          <a:xfrm>
            <a:off x="609600" y="635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000" b="1">
                <a:solidFill>
                  <a:srgbClr val="1E2430"/>
                </a:solidFill>
                <a:latin typeface="Arial" panose="020B0604020202020204" pitchFamily="34" charset="0"/>
              </a:rPr>
              <a:t>Impact, limitations, and future work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A3A18BD4-6B3D-0161-7B45-76DC690FB337}"/>
              </a:ext>
            </a:extLst>
          </p:cNvPr>
          <p:cNvSpPr/>
          <p:nvPr/>
        </p:nvSpPr>
        <p:spPr>
          <a:xfrm>
            <a:off x="609600" y="1498600"/>
            <a:ext cx="3479800" cy="3810000"/>
          </a:xfrm>
          <a:prstGeom prst="roundRect">
            <a:avLst>
              <a:gd name="adj" fmla="val 5109"/>
            </a:avLst>
          </a:prstGeom>
          <a:solidFill>
            <a:srgbClr val="FDEEE5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4C2748C-454D-22A3-9A5E-EDFBCAFF99B4}"/>
              </a:ext>
            </a:extLst>
          </p:cNvPr>
          <p:cNvSpPr txBox="1"/>
          <p:nvPr/>
        </p:nvSpPr>
        <p:spPr>
          <a:xfrm>
            <a:off x="889000" y="1778000"/>
            <a:ext cx="2921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2000" b="1">
                <a:solidFill>
                  <a:srgbClr val="E8682C"/>
                </a:solidFill>
                <a:latin typeface="Arial" panose="020B0604020202020204" pitchFamily="34" charset="0"/>
              </a:rPr>
              <a:t>Impact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CBFC4BB-29A5-1EDA-5934-425C62BE95C9}"/>
              </a:ext>
            </a:extLst>
          </p:cNvPr>
          <p:cNvSpPr txBox="1"/>
          <p:nvPr/>
        </p:nvSpPr>
        <p:spPr>
          <a:xfrm>
            <a:off x="889000" y="2336800"/>
            <a:ext cx="2921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203200" indent="-203200">
              <a:spcAft>
                <a:spcPts val="900"/>
              </a:spcAft>
              <a:buClr>
                <a:srgbClr val="E8682C"/>
              </a:buClr>
              <a:buFont typeface="+mj-lt"/>
              <a:buChar char="•"/>
            </a:pPr>
            <a:r>
              <a:rPr lang="en-US" sz="1500">
                <a:solidFill>
                  <a:srgbClr val="1E2430"/>
                </a:solidFill>
                <a:latin typeface="Arial" panose="020B0604020202020204" pitchFamily="34" charset="0"/>
              </a:rPr>
              <a:t>A visible, fair queue: fewer arguments, no standing by the court</a:t>
            </a:r>
          </a:p>
          <a:p>
            <a:pPr marL="203200" indent="-203200">
              <a:spcAft>
                <a:spcPts val="900"/>
              </a:spcAft>
              <a:buClr>
                <a:srgbClr val="E8682C"/>
              </a:buClr>
              <a:buFont typeface="+mj-lt"/>
              <a:buChar char="•"/>
            </a:pPr>
            <a:r>
              <a:rPr lang="en-US" sz="1500">
                <a:solidFill>
                  <a:srgbClr val="1E2430"/>
                </a:solidFill>
                <a:latin typeface="Arial" panose="020B0604020202020204" pitchFamily="34" charset="0"/>
              </a:rPr>
              <a:t>Damage reaches the staff sooner; players follow the repair</a:t>
            </a:r>
          </a:p>
          <a:p>
            <a:pPr marL="203200" indent="-203200">
              <a:spcAft>
                <a:spcPts val="900"/>
              </a:spcAft>
              <a:buClr>
                <a:srgbClr val="E8682C"/>
              </a:buClr>
              <a:buFont typeface="+mj-lt"/>
              <a:buChar char="•"/>
            </a:pPr>
            <a:r>
              <a:rPr lang="en-US" sz="1500">
                <a:solidFill>
                  <a:srgbClr val="1E2430"/>
                </a:solidFill>
                <a:latin typeface="Arial" panose="020B0604020202020204" pitchFamily="34" charset="0"/>
              </a:rPr>
              <a:t>Free infrastructure that other facilities can reuse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0C39EA92-98F9-6A10-3FC4-67D19E501469}"/>
              </a:ext>
            </a:extLst>
          </p:cNvPr>
          <p:cNvSpPr/>
          <p:nvPr/>
        </p:nvSpPr>
        <p:spPr>
          <a:xfrm>
            <a:off x="4356100" y="1498600"/>
            <a:ext cx="3479800" cy="3810000"/>
          </a:xfrm>
          <a:prstGeom prst="roundRect">
            <a:avLst>
              <a:gd name="adj" fmla="val 5109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B5ABE23-8819-10F3-084F-73CC4A121FE1}"/>
              </a:ext>
            </a:extLst>
          </p:cNvPr>
          <p:cNvSpPr txBox="1"/>
          <p:nvPr/>
        </p:nvSpPr>
        <p:spPr>
          <a:xfrm>
            <a:off x="4635500" y="1778000"/>
            <a:ext cx="2921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2000" b="1">
                <a:solidFill>
                  <a:srgbClr val="E8682C"/>
                </a:solidFill>
                <a:latin typeface="Arial" panose="020B0604020202020204" pitchFamily="34" charset="0"/>
              </a:rPr>
              <a:t>Limitations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D446BDD-5198-F554-4364-3E94FD55AD97}"/>
              </a:ext>
            </a:extLst>
          </p:cNvPr>
          <p:cNvSpPr txBox="1"/>
          <p:nvPr/>
        </p:nvSpPr>
        <p:spPr>
          <a:xfrm>
            <a:off x="4635500" y="2336800"/>
            <a:ext cx="2921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203200" indent="-203200">
              <a:spcAft>
                <a:spcPts val="900"/>
              </a:spcAft>
              <a:buClr>
                <a:srgbClr val="E8682C"/>
              </a:buClr>
              <a:buFont typeface="+mj-lt"/>
              <a:buChar char="•"/>
            </a:pPr>
            <a:r>
              <a:rPr lang="en-US" sz="1500">
                <a:solidFill>
                  <a:srgbClr val="1E2430"/>
                </a:solidFill>
                <a:latin typeface="Arial" panose="020B0604020202020204" pitchFamily="34" charset="0"/>
              </a:rPr>
              <a:t>A faked GPS location cannot be detected</a:t>
            </a:r>
          </a:p>
          <a:p>
            <a:pPr marL="203200" indent="-203200">
              <a:spcAft>
                <a:spcPts val="900"/>
              </a:spcAft>
              <a:buClr>
                <a:srgbClr val="E8682C"/>
              </a:buClr>
              <a:buFont typeface="+mj-lt"/>
              <a:buChar char="•"/>
            </a:pPr>
            <a:r>
              <a:rPr lang="en-US" sz="1500">
                <a:solidFill>
                  <a:srgbClr val="1E2430"/>
                </a:solidFill>
                <a:latin typeface="Arial" panose="020B0604020202020204" pitchFamily="34" charset="0"/>
              </a:rPr>
              <a:t>Scores are entered by the teams themselves</a:t>
            </a:r>
          </a:p>
          <a:p>
            <a:pPr marL="203200" indent="-203200">
              <a:spcAft>
                <a:spcPts val="900"/>
              </a:spcAft>
              <a:buClr>
                <a:srgbClr val="E8682C"/>
              </a:buClr>
              <a:buFont typeface="+mj-lt"/>
              <a:buChar char="•"/>
            </a:pPr>
            <a:r>
              <a:rPr lang="en-US" sz="1500">
                <a:solidFill>
                  <a:srgbClr val="1E2430"/>
                </a:solidFill>
                <a:latin typeface="Arial" panose="020B0604020202020204" pitchFamily="34" charset="0"/>
              </a:rPr>
              <a:t>First use needs guidance (SUS 67.5)</a:t>
            </a:r>
          </a:p>
          <a:p>
            <a:pPr marL="203200" indent="-203200">
              <a:spcAft>
                <a:spcPts val="900"/>
              </a:spcAft>
              <a:buClr>
                <a:srgbClr val="E8682C"/>
              </a:buClr>
              <a:buFont typeface="+mj-lt"/>
              <a:buChar char="•"/>
            </a:pPr>
            <a:r>
              <a:rPr lang="en-US" sz="1500">
                <a:solidFill>
                  <a:srgbClr val="1E2430"/>
                </a:solidFill>
                <a:latin typeface="Arial" panose="020B0604020202020204" pitchFamily="34" charset="0"/>
              </a:rPr>
              <a:t>One facility and a small sample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EFAAC06A-32A3-1EF7-6EE6-2789EBF2E9A3}"/>
              </a:ext>
            </a:extLst>
          </p:cNvPr>
          <p:cNvSpPr/>
          <p:nvPr/>
        </p:nvSpPr>
        <p:spPr>
          <a:xfrm>
            <a:off x="8102600" y="1498600"/>
            <a:ext cx="3479800" cy="3810000"/>
          </a:xfrm>
          <a:prstGeom prst="roundRect">
            <a:avLst>
              <a:gd name="adj" fmla="val 5109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08F26B3-FDAE-ECC1-5F96-ACC1D457D497}"/>
              </a:ext>
            </a:extLst>
          </p:cNvPr>
          <p:cNvSpPr txBox="1"/>
          <p:nvPr/>
        </p:nvSpPr>
        <p:spPr>
          <a:xfrm>
            <a:off x="8382000" y="1778000"/>
            <a:ext cx="2921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2000" b="1">
                <a:solidFill>
                  <a:srgbClr val="E8682C"/>
                </a:solidFill>
                <a:latin typeface="Arial" panose="020B0604020202020204" pitchFamily="34" charset="0"/>
              </a:rPr>
              <a:t>Future work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F970A05-2362-BD37-ACF1-F2D469015724}"/>
              </a:ext>
            </a:extLst>
          </p:cNvPr>
          <p:cNvSpPr txBox="1"/>
          <p:nvPr/>
        </p:nvSpPr>
        <p:spPr>
          <a:xfrm>
            <a:off x="8382000" y="2336800"/>
            <a:ext cx="2921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203200" indent="-203200">
              <a:spcAft>
                <a:spcPts val="900"/>
              </a:spcAft>
              <a:buClr>
                <a:srgbClr val="E8682C"/>
              </a:buClr>
              <a:buFont typeface="+mj-lt"/>
              <a:buChar char="•"/>
            </a:pPr>
            <a:r>
              <a:rPr lang="en-US" sz="1500">
                <a:solidFill>
                  <a:srgbClr val="1E2430"/>
                </a:solidFill>
                <a:latin typeface="Arial" panose="020B0604020202020204" pitchFamily="34" charset="0"/>
              </a:rPr>
              <a:t>Queues visible without sign-in; guided first use</a:t>
            </a:r>
          </a:p>
          <a:p>
            <a:pPr marL="203200" indent="-203200">
              <a:spcAft>
                <a:spcPts val="900"/>
              </a:spcAft>
              <a:buClr>
                <a:srgbClr val="E8682C"/>
              </a:buClr>
              <a:buFont typeface="+mj-lt"/>
              <a:buChar char="•"/>
            </a:pPr>
            <a:r>
              <a:rPr lang="en-US" sz="1500">
                <a:solidFill>
                  <a:srgbClr val="1E2430"/>
                </a:solidFill>
                <a:latin typeface="Arial" panose="020B0604020202020204" pitchFamily="34" charset="0"/>
              </a:rPr>
              <a:t>QR code check-in at the court</a:t>
            </a:r>
          </a:p>
          <a:p>
            <a:pPr marL="203200" indent="-203200">
              <a:spcAft>
                <a:spcPts val="900"/>
              </a:spcAft>
              <a:buClr>
                <a:srgbClr val="E8682C"/>
              </a:buClr>
              <a:buFont typeface="+mj-lt"/>
              <a:buChar char="•"/>
            </a:pPr>
            <a:r>
              <a:rPr lang="en-US" sz="1500">
                <a:solidFill>
                  <a:srgbClr val="1E2430"/>
                </a:solidFill>
                <a:latin typeface="Arial" panose="020B0604020202020204" pitchFamily="34" charset="0"/>
              </a:rPr>
              <a:t>Futsal and volleyball courts</a:t>
            </a:r>
          </a:p>
          <a:p>
            <a:pPr marL="203200" indent="-203200">
              <a:spcAft>
                <a:spcPts val="900"/>
              </a:spcAft>
              <a:buClr>
                <a:srgbClr val="E8682C"/>
              </a:buClr>
              <a:buFont typeface="+mj-lt"/>
              <a:buChar char="•"/>
            </a:pPr>
            <a:r>
              <a:rPr lang="en-US" sz="1500">
                <a:solidFill>
                  <a:srgbClr val="1E2430"/>
                </a:solidFill>
                <a:latin typeface="Arial" panose="020B0604020202020204" pitchFamily="34" charset="0"/>
              </a:rPr>
              <a:t>Measure disputes before and after deployment</a:t>
            </a:r>
          </a:p>
        </p:txBody>
      </p:sp>
    </p:spTree>
    <p:extLst>
      <p:ext uri="{BB962C8B-B14F-4D97-AF65-F5344CB8AC3E}">
        <p14:creationId xmlns:p14="http://schemas.microsoft.com/office/powerpoint/2010/main" val="273998389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1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8518CC7-BA6A-1F36-9AC1-DC3D79B623DF}"/>
              </a:ext>
            </a:extLst>
          </p:cNvPr>
          <p:cNvSpPr txBox="1"/>
          <p:nvPr/>
        </p:nvSpPr>
        <p:spPr>
          <a:xfrm>
            <a:off x="609600" y="2159000"/>
            <a:ext cx="660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6400" b="1">
                <a:solidFill>
                  <a:srgbClr val="FFFFFF"/>
                </a:solidFill>
                <a:latin typeface="Arial" panose="020B0604020202020204" pitchFamily="34" charset="0"/>
              </a:rPr>
              <a:t>Thank you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8A8F390-7797-2BD2-9848-CDBFB54FC4E3}"/>
              </a:ext>
            </a:extLst>
          </p:cNvPr>
          <p:cNvSpPr txBox="1"/>
          <p:nvPr/>
        </p:nvSpPr>
        <p:spPr>
          <a:xfrm>
            <a:off x="609600" y="3327400"/>
            <a:ext cx="660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000" b="1">
                <a:solidFill>
                  <a:srgbClr val="E8682C"/>
                </a:solidFill>
                <a:latin typeface="Arial" panose="020B0604020202020204" pitchFamily="34" charset="0"/>
              </a:rPr>
              <a:t>Questions?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FA6663A-5E94-EBC6-D448-66CC4757DEB7}"/>
              </a:ext>
            </a:extLst>
          </p:cNvPr>
          <p:cNvSpPr txBox="1"/>
          <p:nvPr/>
        </p:nvSpPr>
        <p:spPr>
          <a:xfrm>
            <a:off x="609600" y="4318000"/>
            <a:ext cx="660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>
                <a:solidFill>
                  <a:srgbClr val="C9CED8"/>
                </a:solidFill>
                <a:latin typeface="Arial" panose="020B0604020202020204" pitchFamily="34" charset="0"/>
              </a:rPr>
              <a:t>[Website link or QR code]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822FBAC-DF81-FCBD-125E-2C6B4CF63547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55000" y="889000"/>
            <a:ext cx="2286000" cy="5080000"/>
          </a:xfrm>
          <a:prstGeom prst="rect">
            <a:avLst/>
          </a:prstGeom>
          <a:ln w="12700">
            <a:solidFill>
              <a:srgbClr val="D0D4DC"/>
            </a:solidFill>
          </a:ln>
        </p:spPr>
      </p:pic>
    </p:spTree>
    <p:extLst>
      <p:ext uri="{BB962C8B-B14F-4D97-AF65-F5344CB8AC3E}">
        <p14:creationId xmlns:p14="http://schemas.microsoft.com/office/powerpoint/2010/main" val="287221104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2346</Words>
  <Application>Microsoft Office PowerPoint</Application>
  <PresentationFormat>Custom</PresentationFormat>
  <Paragraphs>257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1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NUTTHAWUT WANMA</dc:creator>
  <cp:lastModifiedBy>NUTTHAWUT WANMA</cp:lastModifiedBy>
  <cp:revision>1</cp:revision>
  <dcterms:created xsi:type="dcterms:W3CDTF">2026-10-18T18:05:21Z</dcterms:created>
  <dcterms:modified xsi:type="dcterms:W3CDTF">2026-10-18T18:05:21Z</dcterms:modified>
</cp:coreProperties>
</file>