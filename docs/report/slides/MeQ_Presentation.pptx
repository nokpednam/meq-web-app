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D71B1-CA55-4C24-8313-2E273481AAE2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A66E0-137E-41EB-A954-06DC6C83A4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698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5576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929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225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46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5560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975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08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736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011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7758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084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KPI </a:t>
            </a:r>
            <a:r>
              <a:rPr lang="th-TH"/>
              <a:t>แต่ละตัววัดคนละเรื่องและใช้เครื่องมือต่างกัน </a:t>
            </a:r>
            <a:r>
              <a:rPr lang="en-US"/>
              <a:t>KPI-1 </a:t>
            </a:r>
            <a:r>
              <a:rPr lang="th-TH"/>
              <a:t>จำลองผู้ใช้ 50 คนกดเข้าออกคิวพร้อมกัน แล้วใช้ </a:t>
            </a:r>
            <a:r>
              <a:rPr lang="en-US"/>
              <a:t>SQL 9 </a:t>
            </a:r>
            <a:r>
              <a:rPr lang="th-TH"/>
              <a:t>ข้อตรวจว่ามีอะไรผิดกติกาไหม </a:t>
            </a:r>
            <a:r>
              <a:rPr lang="en-US"/>
              <a:t>KPI-2 </a:t>
            </a:r>
            <a:r>
              <a:rPr lang="th-TH"/>
              <a:t>คือเทสอัตโนมัติ </a:t>
            </a:r>
            <a:r>
              <a:rPr lang="en-US"/>
              <a:t>KPI-3 </a:t>
            </a:r>
            <a:r>
              <a:rPr lang="th-TH"/>
              <a:t>วัดเวลาส่ง </a:t>
            </a:r>
            <a:r>
              <a:rPr lang="en-US"/>
              <a:t>LINE </a:t>
            </a:r>
            <a:r>
              <a:rPr lang="th-TH"/>
              <a:t>จากข้อมูลจริงวันทดสอบ </a:t>
            </a:r>
            <a:r>
              <a:rPr lang="en-US"/>
              <a:t>KPI-4 </a:t>
            </a:r>
            <a:r>
              <a:rPr lang="th-TH"/>
              <a:t>ทำตามสถานการณ์แจ้งซ่อม 7 ขั้นบนระบบจริง </a:t>
            </a:r>
            <a:r>
              <a:rPr lang="en-US"/>
              <a:t>KPI-5 </a:t>
            </a:r>
            <a:r>
              <a:rPr lang="th-TH"/>
              <a:t>วัดความเร็วด้วย </a:t>
            </a:r>
            <a:r>
              <a:rPr lang="en-US"/>
              <a:t>k6 </a:t>
            </a:r>
            <a:r>
              <a:rPr lang="th-TH"/>
              <a:t>และ </a:t>
            </a:r>
            <a:r>
              <a:rPr lang="en-US"/>
              <a:t>Lighthouse KPI-6 </a:t>
            </a:r>
            <a:r>
              <a:rPr lang="th-TH"/>
              <a:t>คือแบบสอบถาม </a:t>
            </a:r>
            <a:r>
              <a:rPr lang="en-US"/>
              <a:t>SUS </a:t>
            </a:r>
            <a:r>
              <a:rPr lang="th-TH"/>
              <a:t>และ </a:t>
            </a:r>
            <a:r>
              <a:rPr lang="en-US"/>
              <a:t>KPI-7 </a:t>
            </a:r>
            <a:r>
              <a:rPr lang="th-TH"/>
              <a:t>ตรวจความปลอดภัยด้วยหลายเครื่องมือ ทุกเกณฑ์ตั้งไว้ก่อนวัดผล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469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เทส 147 ข้อแบ่งเป็นสองส่วน ส่วนแรกคือเทสฐานข้อมูล 115 ข้อ เกือบครึ่งเป็นเรื่องสิทธิ์ ว่าใครอ่านหรือแก้อะไรได้บ้าง รองลงมาคือการเช็กอินด้วยตำแหน่ง กติกาชนะสองเกมแล้วพัก และการต่อคิวใหม่ อีกส่วนคือ </a:t>
            </a:r>
            <a:r>
              <a:rPr lang="en-US"/>
              <a:t>unit test 32 </a:t>
            </a:r>
            <a:r>
              <a:rPr lang="th-TH"/>
              <a:t>ข้อ ตรวจฝั่งโค้ด </a:t>
            </a:r>
            <a:r>
              <a:rPr lang="en-US"/>
              <a:t>TypeScript </a:t>
            </a:r>
            <a:r>
              <a:rPr lang="th-TH"/>
              <a:t>เช่น ข้อความ </a:t>
            </a:r>
            <a:r>
              <a:rPr lang="en-US"/>
              <a:t>LINE </a:t>
            </a:r>
            <a:r>
              <a:rPr lang="th-TH"/>
              <a:t>และ </a:t>
            </a:r>
            <a:r>
              <a:rPr lang="en-US"/>
              <a:t>security headers </a:t>
            </a:r>
            <a:r>
              <a:rPr lang="th-TH"/>
              <a:t>ทุกครั้งที่แก้โค้ด </a:t>
            </a:r>
            <a:r>
              <a:rPr lang="en-US"/>
              <a:t>GitHub </a:t>
            </a:r>
            <a:r>
              <a:rPr lang="th-TH"/>
              <a:t>จะรันทั้ง 147 ข้อ ถ้าไม่ผ่านจะ </a:t>
            </a:r>
            <a:r>
              <a:rPr lang="en-US"/>
              <a:t>merge </a:t>
            </a:r>
            <a:r>
              <a:rPr lang="th-TH"/>
              <a:t>ไม่ได้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38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074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516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28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66E0-137E-41EB-A954-06DC6C83A4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79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35860-3427-211B-670B-4F1049E09F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5C66D-608C-1222-4819-44E5C8B5F9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A90528-490C-88B4-6BCB-025E0941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F3435-C553-A42C-6851-4255BED02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0CD46-5052-884E-BBCD-8284A84F3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2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49EAE-D43D-90DC-B930-171F05C8F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D5DD3-6D64-452E-9BFA-DB164DD5C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08E03-267B-9B78-2282-C5023E26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30D57-9E6D-B84D-2E15-271BA6E1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F23EF-3C86-D0C9-0E0B-7ED59EC73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67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46528-599A-4EEF-8157-0C773AF3C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A76AB-0FBC-6FE9-7E13-C5B90E221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2C56C-A79E-876A-806E-DFE6AE352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E1762-CF5C-080A-33A2-CD2BE3D67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C2942E-8D79-E161-014D-45500C7B4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935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88F3-C614-4BEF-F86F-A5E3DF3BD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47D1E-C260-19AC-AB9C-8ACAB355F8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89A1BE-7902-955D-D34F-B9B87A019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5AD4E7-D2EE-DD16-17D0-5CEBE5D63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CEE34A-892F-29BE-C614-2843E3217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B5B9F-4454-DE34-71D4-236B4A620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61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BCB23-15CC-F647-B0B6-D484F245B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5255C-B94F-08C5-28CE-BF9A5477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D92D1A-7B10-92E5-F324-92BC46666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283AE1-AEA6-48D9-7C45-76B79FFAE6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F5A06C-A79A-C759-CFD7-3526B713A6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D9C453-BF0A-07E4-7888-7519BAFFC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E623BD-6CE2-D77C-AFE7-A8E1B34F2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ED4B30-6838-3893-7C83-79A480571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069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2059-E204-AD42-A2E0-D2075CE3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43E5CF-2374-7D8E-6C51-80A7C0BA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6CF39-038A-DA8B-9E09-3453E4761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DE7311-A4C9-E4B0-3ED5-1C5AC3514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113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C31F06-C437-D0CD-8F03-8EF38AE08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E5EEF2-086A-D49E-D5AE-7A505A3C6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BF8E7-7EBD-3A8F-D241-D9F51C72F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29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6BEA-2AAB-E0FB-B525-CA047384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94C3F-7AEB-17F8-92D9-6C56A6418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EAA0A-E285-E59A-0C3E-C52380E8B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98677D-EA03-5992-FFC7-DC7FA98F5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F582D-352C-686F-4F6F-E7B9B5FA4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0A9A6-23CB-96E9-D64D-93B40927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488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98A65-72D1-C170-5484-EE5E14FB3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CACD9-A521-E3C3-B0A3-B356686DB2B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5C8536-F1F7-07A3-F387-23EED8A430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851796-6594-E08D-70C0-6F03E1A60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9C5C1B-F445-4794-D405-F37F8D84C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A93F2A-D39A-E19C-043D-83EE992C6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908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E7A1A-03BF-0C62-BC19-98C1C0B79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61434F-FEED-6230-129D-51E5E3E7A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F356FD-F72A-82A0-12ED-4ADFB4C33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2367F-038D-88A4-4AA0-1879154F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953CD-F2F6-011D-6FF9-B48E95982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995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6FF226-DD64-E133-A470-E628F5892F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65FE81-296F-F38B-8BFE-A1948980D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27C49-E363-0DC3-0E4D-1C8929939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BC043-516C-76B7-D413-9FC497918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2F327-B05B-EFCB-7011-791FF45B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969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B48356-8459-B0F9-A7F3-9E9D43FAA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378D8C-6FF6-B7F1-6461-AAA6879C4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FC2A2-4286-329E-F045-739503B16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A1A2F1-BF8F-4426-9EAB-F04A63F1ECD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C3AD-3DCB-90A6-DD6D-63DD8B5E29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AE8C0-D084-D994-3D88-65C1F502D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5F639-3383-44B9-8BCE-2BDA16395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486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DFE64F-9D83-4F60-30BC-01A758C215B3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610643-2D76-D668-C800-841ABB206B26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D9E37-EFF1-9C7C-8754-42DE2CD6C1AC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DCC79-43B6-16B2-9801-2097BDB9F3E5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Nutthawut Wanma · 66311834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Asst. Prof. Dr. Wansuree Massagram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EFF447-A35D-986F-7278-D7C3C132313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97D2A5-63B6-72E9-9C2B-2151D382D7B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171186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74376B-BE20-BB5C-656A-66495A49A75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5D08F8-0475-0183-986F-44C381B1CD8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423C58-C3B2-D1E4-1A5A-E90038007E13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A3CF6D-066F-6F3F-9114-235392CE2CD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184C8A-F4C2-F782-EC60-242F2546A425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634077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04C720-905F-686F-6693-4B0F580BB73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5CACD4-0365-E1EE-81BC-2F7365200743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EA9260-36A3-9EDE-A960-F0CD7B8D9FFE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EFE97F9-0369-D3E5-CC4F-2840C833AF17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EBA07FD-32F7-4870-52CF-9EDE300BB699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E67EC2-A718-EB71-04D6-6538E445EB71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9D38B-190C-DFB6-5E8A-3E097BE31B74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FCAF9-0EE6-FE74-CFE0-CCAE745A8D1D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EC0178-57E8-591B-A3C7-088496A5CD0B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7BC3FB-5FF6-EAD4-0958-99D1E64A99FB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521617-5D9E-80B3-CF6F-08909DC7CB2B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E03C75-5DDF-4D41-1FDE-FAC698C9B853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9AD7D45-1EB4-1053-2CE6-E2D99942061A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F48699-D7C4-463B-7E13-5CCFAAEA952D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AB32C9-2226-F33C-0D72-808F64F6932E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78A97CB-3BFF-E500-1C35-062998710350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789C9-E521-FF8E-2511-480BB1118ED0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F2CF49-3756-9A03-2D8B-F36E8D0FA6D7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94E9A4-CA02-3014-C313-77A2AE52846D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3938566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543C5F-E3A7-E7EB-3D00-FCE15BF8825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B3DF0F-B175-D28D-C160-E0E5C98EE90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C068B5-9324-152F-8FB3-7391CE606D2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1CF525A-61FB-0BBB-205C-A5A9090D9F4C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16A083-863F-0F80-41DB-0AB5F64121C1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D0C28B-05D6-D355-8747-976A6A72439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3DA2676-2EB0-C092-8A24-036210DA79B8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95265-D5DA-A40B-7DDE-C0284BF76F3E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AEA5910-E01C-8249-85FB-3D75CAD48F6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76EC66B3-002D-124A-5956-3DC2C439B76E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521805-38F0-A393-EBE9-4BF22C85AC57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0D6400-8A38-2630-9361-E528A0624FF4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3BDD5D7-93DA-7601-0DDB-3547B37BEB17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83C8FD-C9DE-1D80-A7E2-24D1577DB386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05C5446-5DAD-70A8-7A90-95179F07746D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22FFB5E1-BF6A-48C1-6F32-4467DA2AA126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5A6E74-288B-D12F-432D-4ED48571664F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4076781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6AF5C6-59DE-A562-4BBC-93127AECBCE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F141F-AC79-45F7-A4CC-E4ADF37673B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2D6B44-11CD-6C67-31DF-46CC78E89E38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82EA19-B5F3-7598-FA31-57696A0CFB4F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A12A6EB-FFBB-B651-1FA0-DFE0A54CEF0D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8C5DF8-8ABB-9EAD-7774-576960EC89F7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2CC8289-D8E2-C253-D6CC-7A135735BF2E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2D5165-7F8F-DC1D-D79A-CF037AF0C415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BBCEEED-98C9-291D-7129-D80BF84A9027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D3E51-8A5F-C531-512F-665D118F3CC8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96DEB8-1535-36AA-4C21-384C87159C8B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49191C-18E1-282C-9C16-0273521A3033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034578C-6D3F-B712-3837-5B626162902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988618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1DF8FD-B740-6A14-193C-F78EDBCDEC5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915609-43C2-F8DD-671F-3921B108146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3BDCC8-562B-7818-01CB-C7F8BE7DCA2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BAB348-80E2-20F8-FEE1-6346D6E4F6E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969245-8C2F-6845-49D9-33A1B155AB8C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D4CD03-A8DC-1181-2502-D5C1F98C9A09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A8A918-41FA-EB3E-C717-29574C46D779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6BC26-63B5-A014-5AA5-8F2F66BE2101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91C14C6-CCD4-AA9B-4B43-46CCF11620A4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A08699-638F-04B6-0E57-137561FED69A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FE3E0EC-A31F-510A-8BB1-BDE4AD411286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FF272-D320-FEEC-8C14-B25DA3E8B593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5ECDE6-AF69-4850-7482-880AB87721A2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745792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E4B3D9-C2EF-AECF-8AD6-E4236031DC6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CF372E-8B52-4DBF-23DD-17945F7D25D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CBE4B7-6B96-F4E5-53E7-50B738AFDC9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4E586BC-EE25-2AD6-FCD4-28378AFB76C2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2814B2-251D-6BCD-633A-7CACC24557C5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D5EAD8E-843E-D344-2610-5DF5416B063B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CAC94-248B-5A7B-7A12-073D282CE5E0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1B533C7-A09C-7662-7E2F-A7D36627294B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77891D-5487-9410-36A2-47E105BF2D56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08408BD-B501-2330-93CB-25FA29EB7874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FAC28B-4B10-2DF5-960B-0791DEC0E881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3424565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7D4FC1-BF5C-C352-9E9D-D7DEDED924B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DFF501-263B-102D-F54B-71A1B6C0F89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3838AC-03E5-97B1-054E-75A7F692AE4D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16E0E7-AA78-0AEF-603D-12A5AA44E719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857B02D-2A40-86E7-CFA0-0C1BB2F52D82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B3DC6F-66CB-4B7B-CC9B-628B6FBB9A1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971502D-B19F-E412-81B7-845F8FBA20A8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160172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0497D8-CB99-9A12-8F4B-4E12F404F5F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B963CF-181A-9B3C-6341-BF329D089FD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C4A418-992A-27E4-A100-0BD88C3315F5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C1EFB-C7DA-11CD-92C9-C41008518707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76F6C1-1CBC-4CA4-F427-4AACF46F1569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3C296E-E6D2-434D-E3A4-C04B7E502857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E6E70B-0A2F-DF77-71AB-20A831643363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B9BA0E-DECA-7D11-1517-2A39E532B0BF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37772F1-E21B-49AD-2567-BE53DABD71C7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41C6A-4073-96A4-BDD7-162013631E5D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F0B2D7-D54E-2BC3-BA7A-0A1565FDBE69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6285511-3698-D811-0341-AD9EC3AF9897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CF7ED8-73FE-EF86-23DC-2A4A9902EF9D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6CA19E-7C48-D159-9A83-0A8A0D3886D3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46111D0-1CBD-D3D7-B6B6-8FB2AF9B7316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408D8B-3034-7697-567D-8ACAB2BA62FD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CAEE8D5-8A51-46C7-88F5-00022BACAB38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223DE4-F8D6-FD2E-CC4A-A4DEA2EB4B7F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FD5FCE3-2852-91C5-F591-65E328F1249F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1D5849-2339-B91D-314B-67B600044DF0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E26DB0E-582D-13BD-BF21-BC2801BE4B85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3F0A4C-54CC-9181-5D5C-4EA68F55E58E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68F43DB-35A9-629D-2869-032269B708DC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8292DA-9C0B-99EB-BE0D-4A7719CC0842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2862187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E4CB9D-E551-331F-91FC-357FF9A87AE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26990A-8114-B252-F99A-4A2896E693A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BDEE65-78E0-66DB-D384-E33E2092C36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7E8AD1-E4AD-899D-C401-3CE843527AD7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D9F6C6-FE46-09A4-9F23-54D8F9DC58CE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024DA6-5815-5870-853A-4D6B1D6B73B3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B3DCC9-50F9-9282-4F95-95F9E1654DF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5158EE-71CA-5889-ADE8-6F3C10DC66A1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56D1C77-2392-9069-E65A-D33219E81605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C4106A-0A42-B1D8-7A5B-A263C6DA406A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F11937-FB39-271B-7BEA-CE10713F98C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458BB68-3A21-8A89-EF6B-15D96B5F1BD1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DB3195C-56A6-64FE-7C95-919FE4839047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152605-3D91-9E32-405E-CAFB633025DC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1F6E22C-CBDF-748B-B9AA-F6561BAF22DA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9C3FAF3-0290-C8ED-7077-92F0F743594A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5397E10-157B-DEF7-DA55-FC268A69D000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278A46-474A-F6BB-95C2-9B9B32A645F7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688A548-C904-0575-3AEA-E3DFEE5268EA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CC2FC95F-DADB-FAB0-AADF-F95381924A9D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5A28C0-866F-D508-BF42-4401718DBA77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4254046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23F969-7DDA-426F-CCB9-04D8E61357A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FDBFBB-9ECB-DC16-DF04-5D4E1433DEC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33795A-EC40-D2E8-5BE9-AC74607AA45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CF770C-E7F0-D3A5-71FF-8F6E01286419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421BE1-C90F-C17B-4C9F-B74727BBF32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D45CB18-F2C6-D004-C1F1-938173AED182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3B9AA-08CE-3086-CA62-B6B0505B0135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64EE2DD-DB59-49AB-64F7-E010F24BD988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ACE777-EE46-3F83-AA48-2CD10421B5DC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1870330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856FA-898B-332C-1D59-65DB1C1EB97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1FC4AD-A61E-9E56-BE6B-0E5D5A9AF0B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How each KPI was tested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74A9D4B-5781-6507-44A0-7FDC661AB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886408"/>
              </p:ext>
            </p:extLst>
          </p:nvPr>
        </p:nvGraphicFramePr>
        <p:xfrm>
          <a:off x="609600" y="14224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1682075245"/>
                    </a:ext>
                  </a:extLst>
                </a:gridCol>
                <a:gridCol w="6654800">
                  <a:extLst>
                    <a:ext uri="{9D8B030D-6E8A-4147-A177-3AD203B41FA5}">
                      <a16:colId xmlns:a16="http://schemas.microsoft.com/office/drawing/2014/main" val="205822967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928125921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KPI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 it was tested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Tools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636649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Queue integrity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50 simulated users join and leave queues at the same time; then 9 SQL checks look for any rule violation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SQL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74169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Rule tests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Automated tests call every database function as different users, including users who must be refused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Node.js, CI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15636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LINE timeliness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Time from each event to LINE delivery, read from the notification outbox during the field evaluation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Outbox records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816319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Maintenance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Seven scripted steps on the live system: report, duplicate, each status, reject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Scenario, history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65602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Responsiveness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95th-percentile response time: 50 users on a laptop, 3 users on the live site, and a simulated phone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Lighthouse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672843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Usability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13 players answered the 10-item SUS questionnaire after using MeQ at the court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Google Forms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5400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Security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Permission tests, an OWASP Top 10:2025 check, a dependency audit, and a scan of the live site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npm audit, ZAP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04181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C50A6E5-43C0-E733-159A-B909B299EACF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Every threshold was fixed before measuring.</a:t>
            </a:r>
          </a:p>
        </p:txBody>
      </p:sp>
    </p:spTree>
    <p:extLst>
      <p:ext uri="{BB962C8B-B14F-4D97-AF65-F5344CB8AC3E}">
        <p14:creationId xmlns:p14="http://schemas.microsoft.com/office/powerpoint/2010/main" val="1943261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84B455-0874-E495-F846-8D038F4EDBC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FDE3D7-2D4B-962D-CCF3-68FB3A7A376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What the 147 automated tests check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10E887-8AE0-C984-30FE-4B926071E568}"/>
              </a:ext>
            </a:extLst>
          </p:cNvPr>
          <p:cNvSpPr txBox="1"/>
          <p:nvPr/>
        </p:nvSpPr>
        <p:spPr>
          <a:xfrm>
            <a:off x="609600" y="1371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115 database tests (pgTAP)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0E381-B9D7-9192-49A0-A4252398B187}"/>
              </a:ext>
            </a:extLst>
          </p:cNvPr>
          <p:cNvSpPr txBox="1"/>
          <p:nvPr/>
        </p:nvSpPr>
        <p:spPr>
          <a:xfrm>
            <a:off x="609600" y="1854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Permissions and row-level security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3C65AF1-F01F-9192-343D-4C77C2508AED}"/>
              </a:ext>
            </a:extLst>
          </p:cNvPr>
          <p:cNvSpPr/>
          <p:nvPr/>
        </p:nvSpPr>
        <p:spPr>
          <a:xfrm>
            <a:off x="4368800" y="1828800"/>
            <a:ext cx="2794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10A0FE-A1D7-640B-F3B2-AEE703D2F7AD}"/>
              </a:ext>
            </a:extLst>
          </p:cNvPr>
          <p:cNvSpPr txBox="1"/>
          <p:nvPr/>
        </p:nvSpPr>
        <p:spPr>
          <a:xfrm>
            <a:off x="7239000" y="1854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92ACE-0EC3-DED3-0E6D-E72A97A54908}"/>
              </a:ext>
            </a:extLst>
          </p:cNvPr>
          <p:cNvSpPr txBox="1"/>
          <p:nvPr/>
        </p:nvSpPr>
        <p:spPr>
          <a:xfrm>
            <a:off x="609600" y="2413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Location check-in and team readiness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5B7493A-15FC-324E-A2F8-014EB4BC6921}"/>
              </a:ext>
            </a:extLst>
          </p:cNvPr>
          <p:cNvSpPr/>
          <p:nvPr/>
        </p:nvSpPr>
        <p:spPr>
          <a:xfrm>
            <a:off x="4368800" y="2387600"/>
            <a:ext cx="10287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471BD-F639-BB67-8DB0-51F333759BA8}"/>
              </a:ext>
            </a:extLst>
          </p:cNvPr>
          <p:cNvSpPr txBox="1"/>
          <p:nvPr/>
        </p:nvSpPr>
        <p:spPr>
          <a:xfrm>
            <a:off x="5473700" y="2413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0B47DD-225F-4A88-B00B-B8B17EF5EDE9}"/>
              </a:ext>
            </a:extLst>
          </p:cNvPr>
          <p:cNvSpPr txBox="1"/>
          <p:nvPr/>
        </p:nvSpPr>
        <p:spPr>
          <a:xfrm>
            <a:off x="609600" y="2971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Winner rotation: two wins, then rest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0F134D1-6945-2C93-D1A7-222B3F26475F}"/>
              </a:ext>
            </a:extLst>
          </p:cNvPr>
          <p:cNvSpPr/>
          <p:nvPr/>
        </p:nvSpPr>
        <p:spPr>
          <a:xfrm>
            <a:off x="4368800" y="2946400"/>
            <a:ext cx="800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2F4873-E84F-7F9D-8797-303727747E16}"/>
              </a:ext>
            </a:extLst>
          </p:cNvPr>
          <p:cNvSpPr txBox="1"/>
          <p:nvPr/>
        </p:nvSpPr>
        <p:spPr>
          <a:xfrm>
            <a:off x="5245100" y="2971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5C9CBB-274F-BBF9-ABEB-CBE4E776EBD4}"/>
              </a:ext>
            </a:extLst>
          </p:cNvPr>
          <p:cNvSpPr txBox="1"/>
          <p:nvPr/>
        </p:nvSpPr>
        <p:spPr>
          <a:xfrm>
            <a:off x="609600" y="35306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Requeue and repeated check-in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1C3966-9064-9825-8F89-7595C4C547D8}"/>
              </a:ext>
            </a:extLst>
          </p:cNvPr>
          <p:cNvSpPr/>
          <p:nvPr/>
        </p:nvSpPr>
        <p:spPr>
          <a:xfrm>
            <a:off x="4368800" y="3505200"/>
            <a:ext cx="508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58FE5A-B41F-D2F0-06E1-6FD2157F2310}"/>
              </a:ext>
            </a:extLst>
          </p:cNvPr>
          <p:cNvSpPr txBox="1"/>
          <p:nvPr/>
        </p:nvSpPr>
        <p:spPr>
          <a:xfrm>
            <a:off x="4953000" y="3530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58949E-77B6-27DF-00A5-0CBB33A1ECE7}"/>
              </a:ext>
            </a:extLst>
          </p:cNvPr>
          <p:cNvSpPr txBox="1"/>
          <p:nvPr/>
        </p:nvSpPr>
        <p:spPr>
          <a:xfrm>
            <a:off x="609600" y="40894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One court failing does not stop others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4FBF233-2DB4-E446-AD17-B209295FC89B}"/>
              </a:ext>
            </a:extLst>
          </p:cNvPr>
          <p:cNvSpPr/>
          <p:nvPr/>
        </p:nvSpPr>
        <p:spPr>
          <a:xfrm>
            <a:off x="4368800" y="40640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66365B-BF50-D21A-2DED-87CFA0C091F6}"/>
              </a:ext>
            </a:extLst>
          </p:cNvPr>
          <p:cNvSpPr txBox="1"/>
          <p:nvPr/>
        </p:nvSpPr>
        <p:spPr>
          <a:xfrm>
            <a:off x="4902200" y="4089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895D10-F71E-7267-B767-6227CD42F127}"/>
              </a:ext>
            </a:extLst>
          </p:cNvPr>
          <p:cNvSpPr txBox="1"/>
          <p:nvPr/>
        </p:nvSpPr>
        <p:spPr>
          <a:xfrm>
            <a:off x="609600" y="4648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Challenger returns when the winner leaves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C75A57A-0492-E62A-9191-C3703446F115}"/>
              </a:ext>
            </a:extLst>
          </p:cNvPr>
          <p:cNvSpPr/>
          <p:nvPr/>
        </p:nvSpPr>
        <p:spPr>
          <a:xfrm>
            <a:off x="4368800" y="46228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6DC013-FBD3-DA27-9013-7882EAE8EBA1}"/>
              </a:ext>
            </a:extLst>
          </p:cNvPr>
          <p:cNvSpPr txBox="1"/>
          <p:nvPr/>
        </p:nvSpPr>
        <p:spPr>
          <a:xfrm>
            <a:off x="4902200" y="4648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D5B9D-50A3-782A-5AFB-3C45F411F701}"/>
              </a:ext>
            </a:extLst>
          </p:cNvPr>
          <p:cNvSpPr txBox="1"/>
          <p:nvPr/>
        </p:nvSpPr>
        <p:spPr>
          <a:xfrm>
            <a:off x="609600" y="5207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Full flows: game, queue, teams, maintenance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815CC05-F421-5596-7176-508587C95F22}"/>
              </a:ext>
            </a:extLst>
          </p:cNvPr>
          <p:cNvSpPr/>
          <p:nvPr/>
        </p:nvSpPr>
        <p:spPr>
          <a:xfrm>
            <a:off x="4368800" y="5181600"/>
            <a:ext cx="3429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B2E38F-F7C5-614B-81F9-2E14235E6473}"/>
              </a:ext>
            </a:extLst>
          </p:cNvPr>
          <p:cNvSpPr txBox="1"/>
          <p:nvPr/>
        </p:nvSpPr>
        <p:spPr>
          <a:xfrm>
            <a:off x="4787900" y="5207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FFB513-D757-EC40-D4FD-957B85DBB0B3}"/>
              </a:ext>
            </a:extLst>
          </p:cNvPr>
          <p:cNvSpPr txBox="1"/>
          <p:nvPr/>
        </p:nvSpPr>
        <p:spPr>
          <a:xfrm>
            <a:off x="609600" y="5765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LINE outbox: claim, retry, expiry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6C6F615-E4D8-1E61-4BC2-DD12E6E00F70}"/>
              </a:ext>
            </a:extLst>
          </p:cNvPr>
          <p:cNvSpPr/>
          <p:nvPr/>
        </p:nvSpPr>
        <p:spPr>
          <a:xfrm>
            <a:off x="4368800" y="5740400"/>
            <a:ext cx="165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4FF316-D7E1-3178-C116-6E46E3D1F9E8}"/>
              </a:ext>
            </a:extLst>
          </p:cNvPr>
          <p:cNvSpPr txBox="1"/>
          <p:nvPr/>
        </p:nvSpPr>
        <p:spPr>
          <a:xfrm>
            <a:off x="4610100" y="5765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E34CE43-DC1E-A072-230D-786216C8536E}"/>
              </a:ext>
            </a:extLst>
          </p:cNvPr>
          <p:cNvSpPr/>
          <p:nvPr/>
        </p:nvSpPr>
        <p:spPr>
          <a:xfrm>
            <a:off x="7924800" y="1371600"/>
            <a:ext cx="3657600" cy="2794000"/>
          </a:xfrm>
          <a:prstGeom prst="roundRect">
            <a:avLst>
              <a:gd name="adj" fmla="val 6364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8C5D92-5133-3861-5878-15D1F71D345F}"/>
              </a:ext>
            </a:extLst>
          </p:cNvPr>
          <p:cNvSpPr txBox="1"/>
          <p:nvPr/>
        </p:nvSpPr>
        <p:spPr>
          <a:xfrm>
            <a:off x="8178800" y="1574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32 unit tests (TypeScript)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B376E0-56B0-EC86-6338-DFBB7002684B}"/>
              </a:ext>
            </a:extLst>
          </p:cNvPr>
          <p:cNvSpPr txBox="1"/>
          <p:nvPr/>
        </p:nvSpPr>
        <p:spPr>
          <a:xfrm>
            <a:off x="8178800" y="2006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Removed browser-side queue code stays removed; security headers (10)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LINE message text and recipients (5)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Administrator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Live refresh of court pages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Team location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Maintenance statistics (3)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Game lifecycle states (2)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B5FDDA-586C-6F7E-116F-B0D229EAEAF8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All 147 run on every change in GitHub Actions; a change that fails any test cannot be merged.</a:t>
            </a:r>
          </a:p>
        </p:txBody>
      </p:sp>
    </p:spTree>
    <p:extLst>
      <p:ext uri="{BB962C8B-B14F-4D97-AF65-F5344CB8AC3E}">
        <p14:creationId xmlns:p14="http://schemas.microsoft.com/office/powerpoint/2010/main" val="2332720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9A6169-8C9A-011E-4FF2-C1B30A4A468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510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F69ED8-E741-6DD9-AFDF-D5E77A0E848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792346-62B9-5239-384E-15A54E8D304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F3AFBC-DCA9-9A69-11B7-ED79BDB6305D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E7AB32-0907-477E-083D-1A9E02114C85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DA79F-B1A1-1E83-0854-5485B0291B1E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2CC6AC-92DB-6C33-E133-28C59DD78453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3310B7-1936-53FF-F580-38A8EAA94B3F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9EF9E55-D35D-7D51-CF7C-24D6F7187FEB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EEF48-04BF-ECA9-72A9-64ED3BDAF4AE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935801-93C9-EEFB-5A24-73B9754DCCEA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B15B494-4687-72BF-3195-952BD126E584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30BFBA3-0A5B-4EA4-A2E3-08BF2A57B29D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AB06B2-1A93-F580-9B97-F3480A28BC87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E19C41-88F9-6647-37F8-231F39B9BFD0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D4B4977-E94F-C782-A707-27BE98369C62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4192685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6A76B1-AC26-86A1-AFA5-884716B3CC5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B8E634-0707-D187-7EFC-90D61D859E4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4000A4-DE04-E6BF-AC5D-E8C63C07027B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C40C5-5392-1D5F-1BE1-F8F6CC56E735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A4E25E-13F4-0F99-ED2F-FE254DA89629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FB817AA-5AC8-8459-2127-080199B71F5B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49DE4A-4CC0-4BEB-105A-17F30A8707DD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2AB77E-C4B9-86C4-3A95-8D2E8B45C82F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8A15A3-71CD-447F-DCAC-F1DC66CE5887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38EE00-F37E-B4EE-2FFD-88FA869E1416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5B551-49A6-3023-6597-0A436E938700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522401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06F437-BB7D-9EBE-D053-56E51EF006DC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06DA38-2BF9-8878-F6D7-42E12FB37FA4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BF9D8A-B8C1-6B6A-26F3-2410ECA02B25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1BCB4E-69E3-1BBA-27EF-FD9365B6392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806806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2345</Words>
  <Application>Microsoft Office PowerPoint</Application>
  <PresentationFormat>Custom</PresentationFormat>
  <Paragraphs>257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2026-10-18T18:11:30Z</dcterms:created>
  <dcterms:modified xsi:type="dcterms:W3CDTF">2026-10-18T18:11:30Z</dcterms:modified>
</cp:coreProperties>
</file>