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0EE868-8310-4BFD-80D1-B957AD9D5630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6679BC-7CFC-4874-951B-8612DE962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039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ผมณัฐวุฒิ วันมา วันนี้จะนำเสนอวิทยานิพนธ์เรื่อง การพัฒนาเว็บแอปพลิเคชันสำหรับการจัดคิวสิ่งอำนวยความสะดวกด้านกีฬาและการรายงานการบำรุงรักษา ระบบที่พัฒนาชื่อว่า </a:t>
            </a:r>
            <a:r>
              <a:rPr lang="en-US"/>
              <a:t>MeQ (20 </a:t>
            </a:r>
            <a:r>
              <a:rPr lang="th-TH"/>
              <a:t>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4588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90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046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6338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4465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261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9378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6006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449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เล่าทีละขั้นตามภาพ (1) หัวหน้าทีมกดเข้าคิวที่หน้าสนาม เห็นลำดับของตัวเองทันที (2) เมื่อถึงคิว ระบบส่ง </a:t>
            </a:r>
            <a:r>
              <a:rPr lang="en-US"/>
              <a:t>LINE </a:t>
            </a:r>
            <a:r>
              <a:rPr lang="th-TH"/>
              <a:t>ไปที่หัวหน้าทีม ไม่ต้องยืนรอที่สนาม (ภาพนี้เป็นตัวอย่างข้อความ </a:t>
            </a:r>
            <a:r>
              <a:rPr lang="en-US"/>
              <a:t>LINE </a:t>
            </a:r>
            <a:r>
              <a:rPr lang="th-TH"/>
              <a:t>จากระบบ) (3) สมาชิกทุกคนกดยืนยันตำแหน่ง เซิร์ฟเวอร์คำนวณระยะ แล้วหัวหน้ากดยืนยันทีมพร้อม (4) เล่นจบ แต่ละทีมกรอกคะแนนของผู้เล่นตัวเอง ระบบตรวจว่าตรงกัน (5) ระบบสรุปผล ทีมชนะเลือกเล่นต่อ ทีมแพ้เลือกต่อคิวใหม่ภายใน 3 นาที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5988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1280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KPI </a:t>
            </a:r>
            <a:r>
              <a:rPr lang="th-TH"/>
              <a:t>แต่ละตัววัดคนละเรื่องและใช้เครื่องมือต่างกัน </a:t>
            </a:r>
            <a:r>
              <a:rPr lang="en-US"/>
              <a:t>KPI-1 </a:t>
            </a:r>
            <a:r>
              <a:rPr lang="th-TH"/>
              <a:t>จำลองผู้ใช้ 50 คนกดเข้าออกคิวพร้อมกัน แล้วใช้ </a:t>
            </a:r>
            <a:r>
              <a:rPr lang="en-US"/>
              <a:t>SQL 9 </a:t>
            </a:r>
            <a:r>
              <a:rPr lang="th-TH"/>
              <a:t>ข้อตรวจว่ามีอะไรผิดกติกาไหม </a:t>
            </a:r>
            <a:r>
              <a:rPr lang="en-US"/>
              <a:t>KPI-2 </a:t>
            </a:r>
            <a:r>
              <a:rPr lang="th-TH"/>
              <a:t>คือเทสอัตโนมัติ </a:t>
            </a:r>
            <a:r>
              <a:rPr lang="en-US"/>
              <a:t>KPI-3 </a:t>
            </a:r>
            <a:r>
              <a:rPr lang="th-TH"/>
              <a:t>วัดเวลาส่ง </a:t>
            </a:r>
            <a:r>
              <a:rPr lang="en-US"/>
              <a:t>LINE </a:t>
            </a:r>
            <a:r>
              <a:rPr lang="th-TH"/>
              <a:t>จากข้อมูลจริงวันทดสอบ </a:t>
            </a:r>
            <a:r>
              <a:rPr lang="en-US"/>
              <a:t>KPI-4 </a:t>
            </a:r>
            <a:r>
              <a:rPr lang="th-TH"/>
              <a:t>ทำตามสถานการณ์แจ้งซ่อม 7 ขั้นบนระบบจริง </a:t>
            </a:r>
            <a:r>
              <a:rPr lang="en-US"/>
              <a:t>KPI-5 </a:t>
            </a:r>
            <a:r>
              <a:rPr lang="th-TH"/>
              <a:t>วัดความเร็วด้วย </a:t>
            </a:r>
            <a:r>
              <a:rPr lang="en-US"/>
              <a:t>k6 </a:t>
            </a:r>
            <a:r>
              <a:rPr lang="th-TH"/>
              <a:t>และ </a:t>
            </a:r>
            <a:r>
              <a:rPr lang="en-US"/>
              <a:t>Lighthouse KPI-6 </a:t>
            </a:r>
            <a:r>
              <a:rPr lang="th-TH"/>
              <a:t>คือแบบสอบถาม </a:t>
            </a:r>
            <a:r>
              <a:rPr lang="en-US"/>
              <a:t>SUS </a:t>
            </a:r>
            <a:r>
              <a:rPr lang="th-TH"/>
              <a:t>และ </a:t>
            </a:r>
            <a:r>
              <a:rPr lang="en-US"/>
              <a:t>KPI-7 </a:t>
            </a:r>
            <a:r>
              <a:rPr lang="th-TH"/>
              <a:t>ตรวจความปลอดภัยด้วยหลายเครื่องมือ ทุกเกณฑ์ตั้งไว้ก่อนวัดผล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1689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เทส 147 ข้อแบ่งเป็นสองส่วน ส่วนแรกคือเทสฐานข้อมูล 115 ข้อ เกือบครึ่งเป็นเรื่องสิทธิ์ ว่าใครอ่านหรือแก้อะไรได้บ้าง รองลงมาคือการเช็กอินด้วยตำแหน่ง กติกาชนะสองเกมแล้วพัก และการต่อคิวใหม่ อีกส่วนคือ </a:t>
            </a:r>
            <a:r>
              <a:rPr lang="en-US"/>
              <a:t>unit test 32 </a:t>
            </a:r>
            <a:r>
              <a:rPr lang="th-TH"/>
              <a:t>ข้อ ตรวจฝั่งโค้ด </a:t>
            </a:r>
            <a:r>
              <a:rPr lang="en-US"/>
              <a:t>TypeScript </a:t>
            </a:r>
            <a:r>
              <a:rPr lang="th-TH"/>
              <a:t>เช่น ข้อความ </a:t>
            </a:r>
            <a:r>
              <a:rPr lang="en-US"/>
              <a:t>LINE </a:t>
            </a:r>
            <a:r>
              <a:rPr lang="th-TH"/>
              <a:t>และ </a:t>
            </a:r>
            <a:r>
              <a:rPr lang="en-US"/>
              <a:t>security headers </a:t>
            </a:r>
            <a:r>
              <a:rPr lang="th-TH"/>
              <a:t>ทุกครั้งที่แก้โค้ด </a:t>
            </a:r>
            <a:r>
              <a:rPr lang="en-US"/>
              <a:t>GitHub </a:t>
            </a:r>
            <a:r>
              <a:rPr lang="th-TH"/>
              <a:t>จะรันทั้ง 147 ข้อ ถ้าไม่ผ่านจะ </a:t>
            </a:r>
            <a:r>
              <a:rPr lang="en-US"/>
              <a:t>merge </a:t>
            </a:r>
            <a:r>
              <a:rPr lang="th-TH"/>
              <a:t>ไม่ได้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919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7608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กราฟซ้ายคือเวลาส่ง </a:t>
            </a:r>
            <a:r>
              <a:rPr lang="en-US"/>
              <a:t>LINE </a:t>
            </a:r>
            <a:r>
              <a:rPr lang="th-TH"/>
              <a:t>ในวันประเมิน แท่งคือกรณีที่ช้าที่สุดของข้อความแต่ละประเภท เส้นประคือเกณฑ์ 60 วินาที ทุกแท่งอยู่ก่อนเส้นเกณฑ์ กราฟขวาคือเวลาตอบสนองที่เปอร์เซ็นไทล์ที่ 95 ทั้งบนเครื่องทดสอบ 50 ผู้ใช้และบนระบบจริง ทุกรอบต่ำกว่าเกณฑ์ 2 วินาทีมาก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9348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กราฟบนแสดงคะแนน </a:t>
            </a:r>
            <a:r>
              <a:rPr lang="en-US"/>
              <a:t>SUS </a:t>
            </a:r>
            <a:r>
              <a:rPr lang="th-TH"/>
              <a:t>ของผู้เล่นแต่ละคน ค่าเฉลี่ย 67.5 อยู่ใกล้เส้นเกณฑ์ 68 และช่วงความเชื่อมั่นคร่อมเกณฑ์ กราฟล่างแสดงค่าเฉลี่ยรายข้อ ข้อที่ดีคือผู้เล่นอยากใช้เป็นประจำ ข้อที่ต้องปรับปรุงคือต้องมีคนช่วยและต้องเรียนรู้ก่อนใช้ครั้งแรก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3182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165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2402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6679BC-7CFC-4874-951B-8612DE962D9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927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89433-E67D-A7CF-2BAA-07DD11C61E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EE6988-5CAF-A657-1174-8F47DE8B3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9B51A-2442-2786-5A8A-A58C4AFCC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DA86F-370F-3E05-08F1-0A0F0D46C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60A8E-3D8D-9301-710C-015FD7C72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07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A2616-B4C0-0EF8-E202-9ACC32627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23A9E-BB2B-F235-9090-85D0A8571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66CB3-6F15-547B-D81F-65ED1AE6A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64704-CBB9-6C7D-A0A0-74D5A7CB4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2C8D4-71E3-858B-3EE7-A09CE3CE5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601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E89BE-D5EB-18AC-D892-666F4403E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65B9D-0C28-0057-22B4-AB7282456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C52B5-1D3C-265B-0184-3E18D6ED8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F4681-A7EA-3001-D8F6-B3FB3381B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43F4F-4D2B-835B-25B5-0B989F5F6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994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E0077-4DB8-1FFB-A7EF-50BB0A2A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1B0CD-66D7-FAE7-610E-63A80C4552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CBC3D4-858B-EDBC-5940-4FA2BB580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1B490-D75A-DB2C-30D2-255185E53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A5E89A-AA1F-962A-EDBA-AAAC466D2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594D1A-7751-C4C2-C536-3BF742E05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465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1BEC8-C026-C7E2-E094-BCC905A86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86155-AFAA-EEE1-CB4D-B42C7C578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CD851B-2208-80EA-4576-80469736E7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749120-2C4A-D0BA-A5C4-0927970B2A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A9F5BC-C7DB-D213-D854-143C303033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21FF3E-C40C-16BD-2276-2544C460D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A2FC18-1D91-17B4-22C2-EE608F6FC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193B8F-F0CD-87D4-7B58-79CF44C4B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9D5CA-8A08-786E-8265-3DD400789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7FD745-65A2-C791-07BD-4E909BF49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E8EA02-E264-4A76-E7F5-4A72BC218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E39D3-25B0-20E7-1654-682DF6105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1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718F8C-E90B-9274-B862-4EAA59C4A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ADC8B3-50F2-B388-51BE-4C91CE224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C5190-98B9-D874-5E2E-7E58CCBC5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02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9986C-D550-F491-85B4-5701C933D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BF25C-D014-1B8C-86FE-752026B99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E11318-FE0E-D21C-374F-ED5E821A13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886B06-03CF-72FA-D2A8-B72ECAE5E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E0EDD-35BC-00E4-F306-E674289E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64C31-C0DB-318B-ED95-4103359B1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042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F01D-A388-42CA-5B5E-703D97C70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CD36DD-F04A-B57B-DE85-E63168DBC4B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35B835-EBF4-C3D4-8601-C2B6E1612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0C4DF4-B4A6-9964-A477-7229D6CA1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4D179-AD5A-3BF9-C2E3-585952EAF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478F86-A85A-9CDF-A0D9-C9B0AAC08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879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AE2D5-9CE6-B9A5-92AF-1D43E9126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1A3381-07CD-1AE3-1FE7-A2ECECCB69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26A7C-8344-BAE8-5498-23CF99E5C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FCB51-48FC-D358-BBAF-7E5668E1D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682CE-EC52-847C-02AF-5EA078051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059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E2E42-12D5-B290-9338-8450532F0B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A5E428-8258-F83E-5F4A-94975DDC8D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8927A-048B-0AC7-7E64-C1FA90D6F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0E3E1-9B3C-ECDB-9154-8FC08539F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366C8-D445-8BA5-2199-659076E38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722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EB5532-9D6A-569F-AE56-1C78A2CF6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E9638-E62C-5B49-0D6B-638E0D4BD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E089C-B678-AFC9-5F4D-272726CFDD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6F42BA-37B2-40F7-B5F1-6BA43A044BA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0612A-5612-DA5D-5DA1-1EDE6DB468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33F60-6204-917B-2397-56D76CC053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2A9F6E-4336-4D62-83C2-0E6C3CFB80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657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6B1ECB-1103-8FC5-CFAA-5FAD658CA158}"/>
              </a:ext>
            </a:extLst>
          </p:cNvPr>
          <p:cNvSpPr txBox="1"/>
          <p:nvPr/>
        </p:nvSpPr>
        <p:spPr>
          <a:xfrm>
            <a:off x="609600" y="1016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UNDERGRADUATE THESIS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19FB42-F1CD-5840-FACE-5705BC2EC4C2}"/>
              </a:ext>
            </a:extLst>
          </p:cNvPr>
          <p:cNvSpPr txBox="1"/>
          <p:nvPr/>
        </p:nvSpPr>
        <p:spPr>
          <a:xfrm>
            <a:off x="609600" y="1346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FFFFFF"/>
                </a:solidFill>
                <a:latin typeface="Arial" panose="020B0604020202020204" pitchFamily="34" charset="0"/>
              </a:rPr>
              <a:t>Development of a Web Application for Sports Facility Queuing and Maintenance Reporting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399A18-0B98-DE03-9C6A-FE427FCA252A}"/>
              </a:ext>
            </a:extLst>
          </p:cNvPr>
          <p:cNvSpPr txBox="1"/>
          <p:nvPr/>
        </p:nvSpPr>
        <p:spPr>
          <a:xfrm>
            <a:off x="609600" y="35306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E8682C"/>
                </a:solidFill>
                <a:latin typeface="Arial" panose="020B0604020202020204" pitchFamily="34" charset="0"/>
              </a:rPr>
              <a:t>MeQ: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C88723-B357-832E-0C76-221FAE175176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Nutthawut Wanma · 66311834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Asst. Prof. Dr. Wansuree Massagram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EBA7DB-B2A6-C835-5376-0FF6B521FD0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1ECA37-442F-07E2-2114-D46DA7F7FC69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003457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F90750-5286-F17F-5DD0-F8ABAEE1762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48CEEB-F19A-CA9A-6575-AA66B2AAF60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DDF240-A2D2-47B8-63BD-B4F004CDB073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0EDEB5-DB3F-7410-4C29-BF986F31836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A57D5-8E52-D68E-EA88-6B912D2E72F8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39314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4E1418-D6B3-ED70-8EBA-81E5C2FDF9C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8D8045-B5EB-AA72-3608-DF436B7CEC2E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3D2308-1221-DDDB-4D95-17737ADED2AF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32FE98-7D0B-90AB-60F5-3D52D2764EFF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C235BFB-8C5A-F32A-E8F6-BA4D7677237D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523D0C-F43D-22C6-4218-ED456F8F4D7A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0AF452-7C57-A8BA-BB63-D866A4532741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7C62AD-CF82-4955-EFF0-B6E76AB6BA06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352033-1676-2C0E-E551-AEC8D21D2AFB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696F07-2F0B-8496-961D-F8BD7DDA69BA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E3DC70-0FFD-A30D-0910-B7FB1C612725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288C228-14B8-A44F-2D2F-72F18DE119EA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FBF0C6F-CF07-0CB6-58A2-7B3D42D26148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DC568B-C143-C5F1-4053-80FD2E64DB89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4AD60C-687A-0C7B-2BEF-9CF4424E13F6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1064C25-D6B5-DCE4-C415-FE7E6C3269A5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1E79008-D1E6-FF86-5710-8181EDB24F40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60E8D6-AFED-99F7-1AFD-84DB676336F6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85331B-8C5C-7A3F-722F-0C5A8CFB3366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1514234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A855AF-0A60-9764-2ED9-E7D872B36EC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4C4BC7-3496-C491-B7A7-66BAB9F924BC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AB1DB-767B-A9B7-1409-8956C1AFF63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8178B912-D12D-F184-2B80-E05B6C280CEB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20991A-6723-BAC2-57C4-BD128550743C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A0F0D0-173B-4453-C48C-E3E6EEDF655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BF707E04-C384-276E-3EBC-12E2A8A0A364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A5933C-E4E9-C79A-E114-AFDD20FE35B5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E9505C-72C0-06F9-2D13-7F2789D6A7C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2F295592-26D9-15BE-BDBA-7BE248AED3A4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F86C1F-34BD-52BA-6A3F-6648258517F0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E89AB05-B4F2-4A16-E662-7ED094C236F6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F461D354-3736-4A7D-D3BA-90A95D1F52F2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B4309F-367A-0971-4D3E-A95427783576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547564E-FAE5-433E-E9DA-4A9826E6AE0E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68E72D28-0977-FC30-C43F-18D34B813D45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E38CA9-4FEC-5B08-08AC-6276615216A8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3552810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A178D4-5C26-9135-0E27-F44D525BAAB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9BDEE-4D4C-5F9A-A3E1-BBD608474B6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4E1F6A5-7A51-8B2E-07D7-E200BCBC6AFB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196022-A52D-1E1D-9AE3-5FEAC33F642D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6BD9D4-20E2-13CF-BE20-D4CC2ADC3BAF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509046-E8E0-CBE5-FFE1-B399EF22A0DF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DA78F65-C31F-3CF5-4227-6114069DC8B8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ACF9F3-7D48-1403-1CCB-A70B6AD17C7F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4879291-DD73-CF76-3952-CD88D1CC8B61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B1FDC1-D5DD-3235-F814-75BA0AFFBF0C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4260039-1C43-49B9-1745-42C8BACEB2D0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33B0D0-BD9D-C6E4-483B-1FDB2D4E86B9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A1C51D4-FE1F-D3E7-0F16-733A9C7A0EF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076618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21E19B-1EF1-2A00-0981-4FF691B8C42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F8783-A53A-6FA5-B9AC-DD3DFECDB056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45D4E-A9DA-B065-DDAC-246A04A975A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589359-69F7-91EC-A18B-85E62668614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2DD8EBE-8B75-8B9A-CE2C-95559A27A5D7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3B693C-0AB7-6C81-B75A-42635D6E22CC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D33A9E1-91BD-37BD-CDAF-A54C41CD12AF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148136-E8B0-4C80-82A6-5CFE604621FF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F9DF50-CBC1-940D-810A-125FDC3CB80B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2C1ECE-6833-6513-74C9-E096B622E29B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092B065-4432-BF23-843B-7796F3CF2424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B9E5C9-F62F-B702-ED4E-A99E359F61A1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0C47A6-EEF7-8D7D-49B8-821AEE793F6A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352187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FBBAF9-EF8E-9BC2-ACC6-4C49F27CE54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988B19-22B1-D7FC-7729-5A9B8BBECAD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EE584F-19D6-7D25-AC89-F49FEBEA56F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51BB8D6-3900-D6F7-43E7-4118F2B31F7E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886E5E-3F8A-31BF-80C5-10543F8D49ED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FD6759-42CD-A1CA-D063-18D31E03F6C9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12C423-6166-B720-8A36-3438C56CF50D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349AE18-16C9-20D8-837A-62094475ED26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E744F9-E475-C094-BFA1-15B58E2803D2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58B8218-A438-0FA7-37B6-EE43BA4C4732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0CDD73-50E4-6341-D5B0-AA9071C92C1C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357871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4EE5BB-E82D-1FB8-20F4-2A43653E1D8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83E8D8-3335-E83E-A02D-802D214F0BB9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A0B3E-93A3-0F32-F58C-7B1CAAF8C6C2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64F947-F9CA-C5DD-2234-BF9637F8090F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DA6FBC6-41E0-8A3B-B5E9-52DC3E8BF754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BA45BC-2ED9-4B06-8035-84BEDBDFECD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4C2B8D-0DF9-3E08-4600-AC59EA49F619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3145609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DBA09B-8A46-BAB8-34A0-7DA1594D26D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1EE603-5419-27A6-6FCF-E0ED73CA796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DDE576-6FB8-8932-CFDB-2D45F1FB936B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82C080-363B-B758-1D14-9E76DA4CA967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611D15-679F-D219-679E-8C4A638BD97C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61927A-14BE-DB9E-8B65-787C8113719E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6CB4A9-98F4-5AAF-715B-A85CA7E80BDB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BE4ED3-4E8D-C91C-115C-C9B4ED9417B4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71BC0CE-DFA1-DE3D-5322-28A928FCAB46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236F91-0B6A-65F0-F884-A9F515EEF56A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AC847B-3D04-485F-0FFF-030F78388C6F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C773DBB-DA1E-6E8B-32A0-FCEAFDA9B5EB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164617-4B25-AACE-5A30-0CB1D46BF71B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EAAA99-3FE8-B4E5-A818-0A2055EF9F86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B654949-AE3B-DB6C-0BEE-BCCC80289A87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0DFF90-8ADF-A40D-4F93-44450D400341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BC1CE7-D1AA-86F3-203F-D47DA5CDDE59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FE684F-E9A1-A874-4E54-F50E52BA0168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66E34AA-DC1D-9E26-BD33-0A970FE8655B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D15A7D-EE92-D486-F3D6-A9A8CD7A4914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1B9E53A-EC51-A137-44A6-D0E3AD58C9AE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7AE6FB-5C64-01B9-5D25-0C1193B20828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8000DAA-F2CF-BB07-3AEE-E72A6DDDF1A9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581660-D747-17EA-C6E3-BB055A636F1F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3873342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82014E-6CE0-1355-16FE-943D7716BB6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WALKTHROUGH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0D524C-0655-E5DD-3A3D-F159EBA7D683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round, step by step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14660-11DF-80DF-C073-B888F3D2161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F67C28-700F-D6B4-3D72-0A72FE19C95C}"/>
              </a:ext>
            </a:extLst>
          </p:cNvPr>
          <p:cNvSpPr txBox="1"/>
          <p:nvPr/>
        </p:nvSpPr>
        <p:spPr>
          <a:xfrm>
            <a:off x="2463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545B27C-0D8B-6DC7-E967-ABA8FC3346CB}"/>
              </a:ext>
            </a:extLst>
          </p:cNvPr>
          <p:cNvSpPr/>
          <p:nvPr/>
        </p:nvSpPr>
        <p:spPr>
          <a:xfrm>
            <a:off x="609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64AD75-A14F-B680-6112-681361CCE826}"/>
              </a:ext>
            </a:extLst>
          </p:cNvPr>
          <p:cNvSpPr txBox="1"/>
          <p:nvPr/>
        </p:nvSpPr>
        <p:spPr>
          <a:xfrm>
            <a:off x="1041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Join the queue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E266F2F-CCE3-CE8D-AC11-5F8C47DF35A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2FFC6D-6348-9297-8DF7-749718F54F21}"/>
              </a:ext>
            </a:extLst>
          </p:cNvPr>
          <p:cNvSpPr txBox="1"/>
          <p:nvPr/>
        </p:nvSpPr>
        <p:spPr>
          <a:xfrm>
            <a:off x="4749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413965D-4B82-708E-32AD-3ECA18026072}"/>
              </a:ext>
            </a:extLst>
          </p:cNvPr>
          <p:cNvSpPr/>
          <p:nvPr/>
        </p:nvSpPr>
        <p:spPr>
          <a:xfrm>
            <a:off x="2895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CFCCBC-C592-988E-6FB7-E03B630ADC1F}"/>
              </a:ext>
            </a:extLst>
          </p:cNvPr>
          <p:cNvSpPr txBox="1"/>
          <p:nvPr/>
        </p:nvSpPr>
        <p:spPr>
          <a:xfrm>
            <a:off x="3327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LINE notifications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7919D42-D5FF-2F5B-A31E-539CCBA0DE87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013F361-20DA-90A8-6E5F-095BA4F70FDF}"/>
              </a:ext>
            </a:extLst>
          </p:cNvPr>
          <p:cNvSpPr txBox="1"/>
          <p:nvPr/>
        </p:nvSpPr>
        <p:spPr>
          <a:xfrm>
            <a:off x="7035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8BA4B0B-97DA-5B7D-7BC8-353DF3F3473B}"/>
              </a:ext>
            </a:extLst>
          </p:cNvPr>
          <p:cNvSpPr/>
          <p:nvPr/>
        </p:nvSpPr>
        <p:spPr>
          <a:xfrm>
            <a:off x="5181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D991E0-C9E1-041F-6D93-64DBDEC87DE9}"/>
              </a:ext>
            </a:extLst>
          </p:cNvPr>
          <p:cNvSpPr txBox="1"/>
          <p:nvPr/>
        </p:nvSpPr>
        <p:spPr>
          <a:xfrm>
            <a:off x="5613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8E709F9-97A3-835F-FF03-795F67267441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E47E2BD-9B64-BB99-9C82-FA0D37CEC65D}"/>
              </a:ext>
            </a:extLst>
          </p:cNvPr>
          <p:cNvSpPr txBox="1"/>
          <p:nvPr/>
        </p:nvSpPr>
        <p:spPr>
          <a:xfrm>
            <a:off x="9321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9D86B7-4892-B416-4638-4752B48C9AB1}"/>
              </a:ext>
            </a:extLst>
          </p:cNvPr>
          <p:cNvSpPr/>
          <p:nvPr/>
        </p:nvSpPr>
        <p:spPr>
          <a:xfrm>
            <a:off x="7467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6211CC-4BB3-198E-169E-571E72979FE5}"/>
              </a:ext>
            </a:extLst>
          </p:cNvPr>
          <p:cNvSpPr txBox="1"/>
          <p:nvPr/>
        </p:nvSpPr>
        <p:spPr>
          <a:xfrm>
            <a:off x="7899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Submit the scores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7062F1B-8682-D38B-161F-8AF426CD32E2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5AA39D17-380D-F1EB-D0BE-D00DE73C557C}"/>
              </a:ext>
            </a:extLst>
          </p:cNvPr>
          <p:cNvSpPr/>
          <p:nvPr/>
        </p:nvSpPr>
        <p:spPr>
          <a:xfrm>
            <a:off x="9753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2E6986-C2B7-E7DA-7D1D-0897F75B8D76}"/>
              </a:ext>
            </a:extLst>
          </p:cNvPr>
          <p:cNvSpPr txBox="1"/>
          <p:nvPr/>
        </p:nvSpPr>
        <p:spPr>
          <a:xfrm>
            <a:off x="10185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Result and next step</a:t>
            </a:r>
          </a:p>
        </p:txBody>
      </p:sp>
    </p:spTree>
    <p:extLst>
      <p:ext uri="{BB962C8B-B14F-4D97-AF65-F5344CB8AC3E}">
        <p14:creationId xmlns:p14="http://schemas.microsoft.com/office/powerpoint/2010/main" val="2589030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784788-E4F8-D310-3B8B-3968F3B048B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D757F-D31A-9934-6845-A05DAF92217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FAB09E-0831-BA2D-CF67-0DEDBC44666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6934C4-711D-B983-A042-B746B0B3EB17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87BB1E-FD47-432A-AF13-BBBC9EB794A1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C7AA8D-3CEB-00DF-BDC1-2DD6846FF613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4AF111-1FBA-D35C-94DA-A3A62F6179F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1D4698-F22A-3B21-9C89-9788DC9F1FD7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90788A-7AF0-B8FD-CBCA-721F533CB779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1620487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CE7323-880F-A3FF-E407-7F9DC2F8D4E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33CB67-CE5C-F725-7AFA-817DD00AA7E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How each KPI was tested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DD34AD-5BA7-A5FC-BAB3-083F4DBA3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386479"/>
              </p:ext>
            </p:extLst>
          </p:nvPr>
        </p:nvGraphicFramePr>
        <p:xfrm>
          <a:off x="609600" y="1422400"/>
          <a:ext cx="109728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180129520"/>
                    </a:ext>
                  </a:extLst>
                </a:gridCol>
                <a:gridCol w="6654800">
                  <a:extLst>
                    <a:ext uri="{9D8B030D-6E8A-4147-A177-3AD203B41FA5}">
                      <a16:colId xmlns:a16="http://schemas.microsoft.com/office/drawing/2014/main" val="5411066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29806344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KPI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 it was tested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Tools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0872697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  Queue integrity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50 simulated users join and leave queues at the same time; then 9 SQL checks look for any rule violation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SQL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390956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2  Rule tests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Automated tests call every database function as different users, including users who must be refused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Node.js, CI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00799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3  LINE timeliness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Time from each event to LINE delivery, read from the notification outbox during the field evaluation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Outbox records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4409801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4  Maintenance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Seven scripted steps on the live system: report, duplicate, each status, reject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Scenario, history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17687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  Responsiveness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95th-percentile response time: 50 users on a laptop, 3 users on the live site, and a simulated phone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Lighthouse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2741568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6  Usability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13 players answered the 10-item SUS questionnaire after using MeQ at the court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Google Forms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1061576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7  Security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Permission tests, an OWASP Top 10:2025 check, a dependency audit, and a scan of the live site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npm audit, ZAP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441800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AF308AE-ED81-AB08-8DBC-4A8A0DB753FA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Every threshold was fixed before measuring.</a:t>
            </a:r>
          </a:p>
        </p:txBody>
      </p:sp>
    </p:spTree>
    <p:extLst>
      <p:ext uri="{BB962C8B-B14F-4D97-AF65-F5344CB8AC3E}">
        <p14:creationId xmlns:p14="http://schemas.microsoft.com/office/powerpoint/2010/main" val="516180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0132EF-D20C-331D-29F3-F135F01E21B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61A9BA-EF28-C735-B45D-869EF77DADE9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What the 147 automated tests check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0DF7FC-56EB-74A7-0788-4E81D58A4105}"/>
              </a:ext>
            </a:extLst>
          </p:cNvPr>
          <p:cNvSpPr txBox="1"/>
          <p:nvPr/>
        </p:nvSpPr>
        <p:spPr>
          <a:xfrm>
            <a:off x="609600" y="13716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115 database tests (pgTAP)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03D8E-BD1A-4570-873B-8D52B7C1B1C8}"/>
              </a:ext>
            </a:extLst>
          </p:cNvPr>
          <p:cNvSpPr txBox="1"/>
          <p:nvPr/>
        </p:nvSpPr>
        <p:spPr>
          <a:xfrm>
            <a:off x="609600" y="1854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Permissions and row-level security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B0C7CDE-E4D8-3A8F-4248-FB5DC3434A91}"/>
              </a:ext>
            </a:extLst>
          </p:cNvPr>
          <p:cNvSpPr/>
          <p:nvPr/>
        </p:nvSpPr>
        <p:spPr>
          <a:xfrm>
            <a:off x="4368800" y="1828800"/>
            <a:ext cx="2794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E14199-0687-75A3-F062-5DD5BDF8B52F}"/>
              </a:ext>
            </a:extLst>
          </p:cNvPr>
          <p:cNvSpPr txBox="1"/>
          <p:nvPr/>
        </p:nvSpPr>
        <p:spPr>
          <a:xfrm>
            <a:off x="7239000" y="1854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49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8A5191-474C-073A-B671-217F74AA71D5}"/>
              </a:ext>
            </a:extLst>
          </p:cNvPr>
          <p:cNvSpPr txBox="1"/>
          <p:nvPr/>
        </p:nvSpPr>
        <p:spPr>
          <a:xfrm>
            <a:off x="609600" y="2413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Location check-in and team readiness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B86555-4706-7945-AA44-65FF43EDF782}"/>
              </a:ext>
            </a:extLst>
          </p:cNvPr>
          <p:cNvSpPr/>
          <p:nvPr/>
        </p:nvSpPr>
        <p:spPr>
          <a:xfrm>
            <a:off x="4368800" y="2387600"/>
            <a:ext cx="10287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06E7F1-CCDD-7E21-9A08-DABD05BE07B0}"/>
              </a:ext>
            </a:extLst>
          </p:cNvPr>
          <p:cNvSpPr txBox="1"/>
          <p:nvPr/>
        </p:nvSpPr>
        <p:spPr>
          <a:xfrm>
            <a:off x="5473700" y="2413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50E8F8-82FD-06E0-0B85-9B41115BED71}"/>
              </a:ext>
            </a:extLst>
          </p:cNvPr>
          <p:cNvSpPr txBox="1"/>
          <p:nvPr/>
        </p:nvSpPr>
        <p:spPr>
          <a:xfrm>
            <a:off x="609600" y="2971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Winner rotation: two wins, then rest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BD5AA5E-A25A-D9B7-4698-8391F3E62425}"/>
              </a:ext>
            </a:extLst>
          </p:cNvPr>
          <p:cNvSpPr/>
          <p:nvPr/>
        </p:nvSpPr>
        <p:spPr>
          <a:xfrm>
            <a:off x="4368800" y="2946400"/>
            <a:ext cx="800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BD73D5-2C1D-6675-C630-CAFC5ECAC970}"/>
              </a:ext>
            </a:extLst>
          </p:cNvPr>
          <p:cNvSpPr txBox="1"/>
          <p:nvPr/>
        </p:nvSpPr>
        <p:spPr>
          <a:xfrm>
            <a:off x="5245100" y="2971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A9D104-CD69-85D1-D4DA-EAB7A72C693E}"/>
              </a:ext>
            </a:extLst>
          </p:cNvPr>
          <p:cNvSpPr txBox="1"/>
          <p:nvPr/>
        </p:nvSpPr>
        <p:spPr>
          <a:xfrm>
            <a:off x="609600" y="35306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Requeue and repeated check-in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9AEA3AE-E09D-FE54-511C-493FE42B0E87}"/>
              </a:ext>
            </a:extLst>
          </p:cNvPr>
          <p:cNvSpPr/>
          <p:nvPr/>
        </p:nvSpPr>
        <p:spPr>
          <a:xfrm>
            <a:off x="4368800" y="3505200"/>
            <a:ext cx="508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3C58C0-C877-8354-9E3D-15710FAD1A4D}"/>
              </a:ext>
            </a:extLst>
          </p:cNvPr>
          <p:cNvSpPr txBox="1"/>
          <p:nvPr/>
        </p:nvSpPr>
        <p:spPr>
          <a:xfrm>
            <a:off x="4953000" y="3530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649511-9B8D-2D02-2579-40365839323A}"/>
              </a:ext>
            </a:extLst>
          </p:cNvPr>
          <p:cNvSpPr txBox="1"/>
          <p:nvPr/>
        </p:nvSpPr>
        <p:spPr>
          <a:xfrm>
            <a:off x="609600" y="40894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One court failing does not stop others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FF15100-AD9F-E1F4-8580-3357FBAC206E}"/>
              </a:ext>
            </a:extLst>
          </p:cNvPr>
          <p:cNvSpPr/>
          <p:nvPr/>
        </p:nvSpPr>
        <p:spPr>
          <a:xfrm>
            <a:off x="4368800" y="40640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FFFF61-41B8-D87D-522E-81DFA192A2B0}"/>
              </a:ext>
            </a:extLst>
          </p:cNvPr>
          <p:cNvSpPr txBox="1"/>
          <p:nvPr/>
        </p:nvSpPr>
        <p:spPr>
          <a:xfrm>
            <a:off x="4902200" y="4089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76C20D-B3F1-01F0-035A-C327A6C11C82}"/>
              </a:ext>
            </a:extLst>
          </p:cNvPr>
          <p:cNvSpPr txBox="1"/>
          <p:nvPr/>
        </p:nvSpPr>
        <p:spPr>
          <a:xfrm>
            <a:off x="609600" y="4648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Challenger returns when the winner leaves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3810F74-1380-5984-3103-F86BC8868B9F}"/>
              </a:ext>
            </a:extLst>
          </p:cNvPr>
          <p:cNvSpPr/>
          <p:nvPr/>
        </p:nvSpPr>
        <p:spPr>
          <a:xfrm>
            <a:off x="4368800" y="46228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B3864B-7A40-9C5C-074A-CC546650BF13}"/>
              </a:ext>
            </a:extLst>
          </p:cNvPr>
          <p:cNvSpPr txBox="1"/>
          <p:nvPr/>
        </p:nvSpPr>
        <p:spPr>
          <a:xfrm>
            <a:off x="4902200" y="4648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D72B26-B7A5-9127-E914-47F3BD91DB6D}"/>
              </a:ext>
            </a:extLst>
          </p:cNvPr>
          <p:cNvSpPr txBox="1"/>
          <p:nvPr/>
        </p:nvSpPr>
        <p:spPr>
          <a:xfrm>
            <a:off x="609600" y="5207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Full flows: game, queue, teams, maintenance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AA0A695-4157-B68A-6A5B-EAD5CF5394B6}"/>
              </a:ext>
            </a:extLst>
          </p:cNvPr>
          <p:cNvSpPr/>
          <p:nvPr/>
        </p:nvSpPr>
        <p:spPr>
          <a:xfrm>
            <a:off x="4368800" y="5181600"/>
            <a:ext cx="3429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DFB6F5-F5E7-CA55-9FF1-586258CFDB70}"/>
              </a:ext>
            </a:extLst>
          </p:cNvPr>
          <p:cNvSpPr txBox="1"/>
          <p:nvPr/>
        </p:nvSpPr>
        <p:spPr>
          <a:xfrm>
            <a:off x="4787900" y="5207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ECD48D-FB7C-C1F1-7060-2E47ADDC2586}"/>
              </a:ext>
            </a:extLst>
          </p:cNvPr>
          <p:cNvSpPr txBox="1"/>
          <p:nvPr/>
        </p:nvSpPr>
        <p:spPr>
          <a:xfrm>
            <a:off x="609600" y="5765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LINE outbox: claim, retry, expiry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F6472B5-5843-C01E-9B1A-C2E4138DFAFE}"/>
              </a:ext>
            </a:extLst>
          </p:cNvPr>
          <p:cNvSpPr/>
          <p:nvPr/>
        </p:nvSpPr>
        <p:spPr>
          <a:xfrm>
            <a:off x="4368800" y="5740400"/>
            <a:ext cx="165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E85571-E470-E73E-80D3-A8D69667D7B9}"/>
              </a:ext>
            </a:extLst>
          </p:cNvPr>
          <p:cNvSpPr txBox="1"/>
          <p:nvPr/>
        </p:nvSpPr>
        <p:spPr>
          <a:xfrm>
            <a:off x="4610100" y="5765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070EA0C-DD9C-A0F7-A402-408359CA4A88}"/>
              </a:ext>
            </a:extLst>
          </p:cNvPr>
          <p:cNvSpPr/>
          <p:nvPr/>
        </p:nvSpPr>
        <p:spPr>
          <a:xfrm>
            <a:off x="7924800" y="1371600"/>
            <a:ext cx="3657600" cy="2794000"/>
          </a:xfrm>
          <a:prstGeom prst="roundRect">
            <a:avLst>
              <a:gd name="adj" fmla="val 6364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BA7F14-1E7E-F58C-CE42-625A60AF2EAC}"/>
              </a:ext>
            </a:extLst>
          </p:cNvPr>
          <p:cNvSpPr txBox="1"/>
          <p:nvPr/>
        </p:nvSpPr>
        <p:spPr>
          <a:xfrm>
            <a:off x="8178800" y="1574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32 unit tests (TypeScript)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55768E-0F12-3494-AC9D-8CAB0E49014A}"/>
              </a:ext>
            </a:extLst>
          </p:cNvPr>
          <p:cNvSpPr txBox="1"/>
          <p:nvPr/>
        </p:nvSpPr>
        <p:spPr>
          <a:xfrm>
            <a:off x="8178800" y="2006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Removed browser-side queue code stays removed; security headers (10)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LINE message text and recipients (5)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Administrator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Live refresh of court pages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Team location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Maintenance statistics (3)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Game lifecycle states (2)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620937-5FA3-675E-393D-CECA398B1541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All 147 run on every change in GitHub Actions; a change that fails any test cannot be merged.</a:t>
            </a:r>
          </a:p>
        </p:txBody>
      </p:sp>
    </p:spTree>
    <p:extLst>
      <p:ext uri="{BB962C8B-B14F-4D97-AF65-F5344CB8AC3E}">
        <p14:creationId xmlns:p14="http://schemas.microsoft.com/office/powerpoint/2010/main" val="1988378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60CAE2-83B4-3B2D-93EA-019743EF9BE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5205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018EC3-71C0-4D2F-514F-92331444B62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030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615352-086C-78FC-EC53-F799599AD22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364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B6AB6E-295E-0828-FFEB-7D9027EEA2B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290E7-24D2-C807-389C-5FEFB518019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82E32EF-6FB9-BED2-09FD-B8DBF7EEB325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7E231B-448F-D7B4-7AEF-F5A6DCD43ABC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4A37AB-B935-AD6A-54DE-826A753E5188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DF07A8-8386-60DE-3BE2-0542463BE7A8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D955395-C31F-EF7B-22AF-900C07692701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9DAB9F-91F2-2053-3BE3-7276A87BCA05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CAD9BF-95A1-8C6A-EF11-478C925383AA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8AF573-8619-53E4-56D3-15F497CEC728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1EE5C92-7F4F-2688-B355-86919B2DBFAB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17DA880-B644-8E72-EF89-76DFBCEEA15E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F74395-9EEF-F787-23B1-80450BB8EF8E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28A1D9-91B4-C051-C8E4-71A781EDD325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7EABDD-C8CE-1F20-2A69-43DBFF1712E2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667347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61D7ED-CCEE-B7F3-FE9D-5FE15ED65C5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AA8E33-4086-B049-9363-05728478694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7A5F5C-1495-70BA-688F-3AE49744554A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EAFB5A-0FC5-E4E4-C359-BC0468BFAAE7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290942-9598-65AE-2FC9-2AE3F96B685D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4E61A0-3133-ED12-68B2-BB12FACEDBAE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41676C-ED9A-7E9A-8755-7447367FD6CC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0595EA-D8D3-AC6C-2D6F-240545878E68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29BCF5-BAEF-171E-CD61-B62606280C30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E61464-B9DB-C794-BBF8-4BC672A304A5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3B1C92-8578-AC7F-4D56-E7A42D600E5B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937546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C2752B-68DB-0918-5E54-9A8DFD11F2D5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3BF55D-A83D-2800-307B-E00523185BED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7F13-5238-D6A2-84FD-9ABE8E3A5DAA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E07761-C0D1-67EE-86F0-A9FCDA6888C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147047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2492</Words>
  <Application>Microsoft Office PowerPoint</Application>
  <PresentationFormat>Custom</PresentationFormat>
  <Paragraphs>261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NUTTHAWUT WANMA</dc:creator>
  <cp:lastModifiedBy>NUTTHAWUT WANMA</cp:lastModifiedBy>
  <cp:revision>1</cp:revision>
  <dcterms:created xsi:type="dcterms:W3CDTF">2026-10-19T07:00:58Z</dcterms:created>
  <dcterms:modified xsi:type="dcterms:W3CDTF">2026-10-19T07:00:58Z</dcterms:modified>
</cp:coreProperties>
</file>