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61E469-7E2E-4A69-A8F5-8388690BE41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B09585-0E46-4C37-8395-08B97C557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690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สวัสดีครับ ผมณัฐวุฒิ วันมา วันนี้จะนำเสนอวิทยานิพนธ์เรื่อง การพัฒนาเว็บแอปพลิเคชันสำหรับการจัดคิวสิ่งอำนวยความสะดวกด้านกีฬาและการรายงานการบำรุงรักษา ระบบที่พัฒนาชื่อว่า </a:t>
            </a:r>
            <a:r>
              <a:rPr lang="en-US"/>
              <a:t>MeQ (20 </a:t>
            </a:r>
            <a:r>
              <a:rPr lang="th-TH"/>
              <a:t>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2686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ตอนเย็นทีมที่มารอมีมากกว่าจำนวนสนาม คิวมีอยู่แค่ในความจำของผู้เล่น ทีมที่มาใหม่ต้องถามว่าใครต่อคิวท้ายสุด ทุกคนมองไม่เห็นลำดับ และไม่มีอะไรบังคับให้เป็นไปตามลำดับ เลยทะเลาะกันบ่อย งานวิจัยเรื่องคิวบอกว่าความยุติธรรมที่ผู้คนมองเห็นสำคัญพอ ๆ กับเวลาที่ต้องรอ อีกปัญหาหนึ่งคืออุปกรณ์เสียแล้วไม่มีช่องทางแจ้ง ระบบจองของมหาวิทยาลัยมีอยู่แล้ว แต่ใช้สำหรับจองล่วงหน้า ไม่ได้รองรับคนที่เดินมาเล่น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175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คำถามหลักคือ คิวที่ฐานข้อมูลเป็นคนบังคับกติกา บวกกับการแจ้งเตือนผ่าน </a:t>
            </a:r>
            <a:r>
              <a:rPr lang="en-US"/>
              <a:t>LINE </a:t>
            </a:r>
            <a:r>
              <a:rPr lang="th-TH"/>
              <a:t>จะใช้แทนการต่อคิวแบบปากต่อปากได้ไหม ผมแบ่งเป็นวัตถุประสงค์ 4 ข้อ และตั้งเกณฑ์วัดผล 7 ตัวไว้ก่อนเริ่มวัดผล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0234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MeQ </a:t>
            </a:r>
            <a:r>
              <a:rPr lang="th-TH"/>
              <a:t>เป็นเว็บแอปที่เปิดบนมือถือ ไม่ต้องติดตั้ง ผู้ใช้ล็อกอินด้วย </a:t>
            </a:r>
            <a:r>
              <a:rPr lang="en-US"/>
              <a:t>LINE </a:t>
            </a:r>
            <a:r>
              <a:rPr lang="th-TH"/>
              <a:t>สร้างทีม เชิญเพื่อน แล้วเข้าคิวสนามที่ต้องการ เมื่อถึงคิว ระบบเรียกทีมและแจ้งเตือนผ่าน </a:t>
            </a:r>
            <a:r>
              <a:rPr lang="en-US"/>
              <a:t>LINE </a:t>
            </a:r>
            <a:r>
              <a:rPr lang="th-TH"/>
              <a:t>ทุกคนในทีมต้องเช็กอินที่สนาม พอเล่นจบ ทั้งสองทีมส่งคะแนน ระบบตรวจว่าคะแนนตรงกันแล้วบันทึกลงสถิติ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524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กติกาเหล่านี้เป็นกติกาที่ผู้เล่นใช้กันอยู่แล้วที่สนาม ผมแค่เอามาให้ระบบบังคับใช้แทนคน ที่ผู้เล่นสนใจที่สุดคือข้อทีมชนะอยู่ต่อได้ 2 เกมแล้วต้องพัก เพื่อไม่ให้ทีมเก่งทีมเดียวครองสนามทั้งคืน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984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ผู้เล่นถ่ายรูปจุดที่เสียแล้วส่งรายงาน แอดมินได้รับแจ้งเตือนผ่าน </a:t>
            </a:r>
            <a:r>
              <a:rPr lang="en-US"/>
              <a:t>LINE </a:t>
            </a:r>
            <a:r>
              <a:rPr lang="th-TH"/>
              <a:t>ทันที ทุกครั้งที่สถานะเปลี่ยน ผู้แจ้งได้รับแจ้งเตือน และระบบเก็บประวัติไว้ทุกขั้น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1463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หน้าเว็บทำด้วย </a:t>
            </a:r>
            <a:r>
              <a:rPr lang="en-US"/>
              <a:t>Next.js </a:t>
            </a:r>
            <a:r>
              <a:rPr lang="th-TH"/>
              <a:t>และ </a:t>
            </a:r>
            <a:r>
              <a:rPr lang="en-US"/>
              <a:t>deploy </a:t>
            </a:r>
            <a:r>
              <a:rPr lang="th-TH"/>
              <a:t>บน </a:t>
            </a:r>
            <a:r>
              <a:rPr lang="en-US"/>
              <a:t>Vercel </a:t>
            </a:r>
            <a:r>
              <a:rPr lang="th-TH"/>
              <a:t>ฝั่งหลังบ้านใช้ </a:t>
            </a:r>
            <a:r>
              <a:rPr lang="en-US"/>
              <a:t>Supabase </a:t>
            </a:r>
            <a:r>
              <a:rPr lang="th-TH"/>
              <a:t>ซึ่งมีฐานข้อมูล </a:t>
            </a:r>
            <a:r>
              <a:rPr lang="en-US"/>
              <a:t>PostgreSQL </a:t>
            </a:r>
            <a:r>
              <a:rPr lang="th-TH"/>
              <a:t>ระบบล็อกอิน และที่เก็บรูป การแจ้งเตือนส่งผ่าน </a:t>
            </a:r>
            <a:r>
              <a:rPr lang="en-US"/>
              <a:t>LINE Messaging API </a:t>
            </a:r>
            <a:r>
              <a:rPr lang="th-TH"/>
              <a:t>ทั้งหมดใช้บริการแบบฟรี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0625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นี่คือหัวใจของงาน ถ้าให้หน้าเว็บเป็นคนตัดสินกติกา คนที่รู้วิธีก็โกงได้ หรือถ้าสองทีมกดเข้าคิวพร้อมกันก็อาจได้คิวซ้อนกัน ผมจึงให้ฐานข้อมูลเป็นกรรมการ ทุกการเปลี่ยนแปลงต้องผ่านฟังก์ชันที่ตรวจสิทธิ์และกติกาภายใน </a:t>
            </a:r>
            <a:r>
              <a:rPr lang="en-US"/>
              <a:t>transaction </a:t>
            </a:r>
            <a:r>
              <a:rPr lang="th-TH"/>
              <a:t>ตำแหน่ง </a:t>
            </a:r>
            <a:r>
              <a:rPr lang="en-US"/>
              <a:t>GPS </a:t>
            </a:r>
            <a:r>
              <a:rPr lang="th-TH"/>
              <a:t>ก็คำนวณระยะทางที่เซิร์ฟเวอร์ ไม่เชื่อค่าที่หน้าเว็บส่งมาว่าอยู่ในระยะ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9351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ผมพัฒนาแบบสร้าง ทดสอบ แล้วปรับปรุง ทุกครั้งที่แก้โค้ด </a:t>
            </a:r>
            <a:r>
              <a:rPr lang="en-US"/>
              <a:t>GitHub </a:t>
            </a:r>
            <a:r>
              <a:rPr lang="th-TH"/>
              <a:t>จะรันเทสอัตโนมัติ 147 ข้อ ถ้าข้อไหนไม่ผ่านจะ </a:t>
            </a:r>
            <a:r>
              <a:rPr lang="en-US"/>
              <a:t>merge </a:t>
            </a:r>
            <a:r>
              <a:rPr lang="th-TH"/>
              <a:t>ไม่ได้ และบั๊กที่เจอจากการทดสอบที่สนามจริง แก้แล้วจะเขียนเทสเพิ่มเพื่อไม่ให้บั๊กนั้นกลับมาอีก (50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8069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เล่าทีละขั้นตามภาพ (1) หัวหน้าทีมกดเข้าคิวที่หน้าสนาม เห็นลำดับของตัวเองทันที (2) เมื่อถึงคิว ระบบส่ง </a:t>
            </a:r>
            <a:r>
              <a:rPr lang="en-US"/>
              <a:t>LINE </a:t>
            </a:r>
            <a:r>
              <a:rPr lang="th-TH"/>
              <a:t>ไปที่หัวหน้าทีม ไม่ต้องยืนรอที่สนาม (ภาพนี้เป็นตัวอย่างข้อความ </a:t>
            </a:r>
            <a:r>
              <a:rPr lang="en-US"/>
              <a:t>LINE </a:t>
            </a:r>
            <a:r>
              <a:rPr lang="th-TH"/>
              <a:t>จากระบบ) (3) สมาชิกทุกคนกดยืนยันตำแหน่ง เซิร์ฟเวอร์คำนวณระยะ แล้วหัวหน้ากดยืนยันทีมพร้อม (4) เล่นจบ แต่ละทีมกรอกคะแนนของผู้เล่นตัวเอง ระบบตรวจว่าตรงกัน (5) ระบบสรุปผล ทีมชนะเลือกเล่นต่อ ทีมแพ้เลือกต่อคิวใหม่ภายใน 3 นาที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9484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วันที่ 17 ต.ค. ผมพาผู้เล่น 13 คน 4 ทีม มาใช้ระบบจริงที่สนาม ตั้งแต่ 5 โมงครึ่งถึง 6 โมงครึ่ง ตามแผนจะเทสที่สนามในร่ม แต่วันนั้นกำลังซ่อมไฟสนาม ไม่มีไฟ คนเลยไม่มาเล่น ผมจึงย้ายไปเทสที่สนามคณะวิทยาศาสตร์ซึ่งมีสนามเดียว เล่นแบบ 3</a:t>
            </a:r>
            <a:r>
              <a:rPr lang="en-US"/>
              <a:t>x3 </a:t>
            </a:r>
            <a:r>
              <a:rPr lang="th-TH"/>
              <a:t>ตอนแรกเช็กอินไม่ผ่านเพราะพิกัดในระบบยังชี้ไปที่สนามในร่ม ผมตั้งพิกัดใหม่ที่สนามนั้นทันที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4670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KPI </a:t>
            </a:r>
            <a:r>
              <a:rPr lang="th-TH"/>
              <a:t>แต่ละตัววัดคนละเรื่องและใช้เครื่องมือต่างกัน </a:t>
            </a:r>
            <a:r>
              <a:rPr lang="en-US"/>
              <a:t>KPI-1 </a:t>
            </a:r>
            <a:r>
              <a:rPr lang="th-TH"/>
              <a:t>จำลองผู้ใช้ 50 คนกดเข้าออกคิวพร้อมกัน แล้วใช้ </a:t>
            </a:r>
            <a:r>
              <a:rPr lang="en-US"/>
              <a:t>SQL 9 </a:t>
            </a:r>
            <a:r>
              <a:rPr lang="th-TH"/>
              <a:t>ข้อตรวจว่ามีอะไรผิดกติกาไหม </a:t>
            </a:r>
            <a:r>
              <a:rPr lang="en-US"/>
              <a:t>KPI-2 </a:t>
            </a:r>
            <a:r>
              <a:rPr lang="th-TH"/>
              <a:t>คือเทสอัตโนมัติ </a:t>
            </a:r>
            <a:r>
              <a:rPr lang="en-US"/>
              <a:t>KPI-3 </a:t>
            </a:r>
            <a:r>
              <a:rPr lang="th-TH"/>
              <a:t>วัดเวลาส่ง </a:t>
            </a:r>
            <a:r>
              <a:rPr lang="en-US"/>
              <a:t>LINE </a:t>
            </a:r>
            <a:r>
              <a:rPr lang="th-TH"/>
              <a:t>จากข้อมูลจริงวันทดสอบ </a:t>
            </a:r>
            <a:r>
              <a:rPr lang="en-US"/>
              <a:t>KPI-4 </a:t>
            </a:r>
            <a:r>
              <a:rPr lang="th-TH"/>
              <a:t>ทำตามสถานการณ์แจ้งซ่อม 7 ขั้นบนระบบจริง </a:t>
            </a:r>
            <a:r>
              <a:rPr lang="en-US"/>
              <a:t>KPI-5 </a:t>
            </a:r>
            <a:r>
              <a:rPr lang="th-TH"/>
              <a:t>วัดความเร็วด้วย </a:t>
            </a:r>
            <a:r>
              <a:rPr lang="en-US"/>
              <a:t>k6 </a:t>
            </a:r>
            <a:r>
              <a:rPr lang="th-TH"/>
              <a:t>และ </a:t>
            </a:r>
            <a:r>
              <a:rPr lang="en-US"/>
              <a:t>Lighthouse KPI-6 </a:t>
            </a:r>
            <a:r>
              <a:rPr lang="th-TH"/>
              <a:t>คือแบบสอบถาม </a:t>
            </a:r>
            <a:r>
              <a:rPr lang="en-US"/>
              <a:t>SUS </a:t>
            </a:r>
            <a:r>
              <a:rPr lang="th-TH"/>
              <a:t>และ </a:t>
            </a:r>
            <a:r>
              <a:rPr lang="en-US"/>
              <a:t>KPI-7 </a:t>
            </a:r>
            <a:r>
              <a:rPr lang="th-TH"/>
              <a:t>ตรวจความปลอดภัยด้วยหลายเครื่องมือ ทุกเกณฑ์ตั้งไว้ก่อนวัดผล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7547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เทส 147 ข้อแบ่งเป็นสองส่วน ส่วนแรกคือเทสฐานข้อมูล 115 ข้อ เกือบครึ่งเป็นเรื่องสิทธิ์ ว่าใครอ่านหรือแก้อะไรได้บ้าง รองลงมาคือการเช็กอินด้วยตำแหน่ง กติกาชนะสองเกมแล้วพัก และการต่อคิวใหม่ อีกส่วนคือ </a:t>
            </a:r>
            <a:r>
              <a:rPr lang="en-US"/>
              <a:t>unit test 32 </a:t>
            </a:r>
            <a:r>
              <a:rPr lang="th-TH"/>
              <a:t>ข้อ ตรวจฝั่งโค้ด </a:t>
            </a:r>
            <a:r>
              <a:rPr lang="en-US"/>
              <a:t>TypeScript </a:t>
            </a:r>
            <a:r>
              <a:rPr lang="th-TH"/>
              <a:t>เช่น ข้อความ </a:t>
            </a:r>
            <a:r>
              <a:rPr lang="en-US"/>
              <a:t>LINE </a:t>
            </a:r>
            <a:r>
              <a:rPr lang="th-TH"/>
              <a:t>และ </a:t>
            </a:r>
            <a:r>
              <a:rPr lang="en-US"/>
              <a:t>security headers </a:t>
            </a:r>
            <a:r>
              <a:rPr lang="th-TH"/>
              <a:t>ทุกครั้งที่แก้โค้ด </a:t>
            </a:r>
            <a:r>
              <a:rPr lang="en-US"/>
              <a:t>GitHub </a:t>
            </a:r>
            <a:r>
              <a:rPr lang="th-TH"/>
              <a:t>จะรันทั้ง 147 ข้อ ถ้าไม่ผ่านจะ </a:t>
            </a:r>
            <a:r>
              <a:rPr lang="en-US"/>
              <a:t>merge </a:t>
            </a:r>
            <a:r>
              <a:rPr lang="th-TH"/>
              <a:t>ไม่ได้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91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ทุกเกณฑ์ตั้งไว้ก่อนวัดผล ผลออกมาผ่าน 6 จาก 7 ตัว ตัวที่ไม่ผ่านคือ </a:t>
            </a:r>
            <a:r>
              <a:rPr lang="en-US"/>
              <a:t>SUS </a:t>
            </a:r>
            <a:r>
              <a:rPr lang="th-TH"/>
              <a:t>ได้ 67.5 จากผู้เล่น 13 คน ต่ำกว่าเกณฑ์ 68 อยู่ 0.5 คะแนน ถือว่าก้ำกึ่ง ข้อที่ได้คะแนนน้อยคือต้องมีคนช่วยตอนใช้ครั้งแรก โดยเฉพาะ </a:t>
            </a:r>
            <a:r>
              <a:rPr lang="en-US"/>
              <a:t>KPI-1 </a:t>
            </a:r>
            <a:r>
              <a:rPr lang="th-TH"/>
              <a:t>ที่จำลองผู้ใช้ 50 คนกดเข้าออกคิวพร้อมกัน ไม่มีครั้งไหนที่คิวผิดกติกาเลย และมีการกดเข้าคิวซ้ำพร้อมกัน 533 ครั้ง ระบบไม่ยอมรับแม้แต่ครั้งเดียว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6506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กราฟซ้ายคือเวลาส่ง </a:t>
            </a:r>
            <a:r>
              <a:rPr lang="en-US"/>
              <a:t>LINE </a:t>
            </a:r>
            <a:r>
              <a:rPr lang="th-TH"/>
              <a:t>ในวันประเมิน แท่งคือกรณีที่ช้าที่สุดของข้อความแต่ละประเภท เส้นประคือเกณฑ์ 60 วินาที ทุกแท่งอยู่ก่อนเส้นเกณฑ์ กราฟขวาคือเวลาตอบสนองที่เปอร์เซ็นไทล์ที่ 95 ทั้งบนเครื่องทดสอบ 50 ผู้ใช้และบนระบบจริง ทุกรอบต่ำกว่าเกณฑ์ 2 วินาทีมาก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8781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สิ่งที่ได้เรียนรู้มากที่สุดคือ เทสอัตโนมัติผ่านหมดก็ยังไม่พอ ต้องให้คนจริงใช้จริง บั๊กที่ร้ายแรงที่สุดเจอจากการทดสอบที่สนาม รวมทั้งหมดเจอข้อบกพร่องในโค้ด 11 จุด แก้ครบและเพิ่มเทสทุกครั้ง และปัญหาการตั้งค่าพิกัด 1 จุดที่แก้ที่สนาม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568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ข้อจำกัดที่ตอบตรง ๆ ได้คือ ถ้ามีคนปลอม </a:t>
            </a:r>
            <a:r>
              <a:rPr lang="en-US"/>
              <a:t>GPS </a:t>
            </a:r>
            <a:r>
              <a:rPr lang="th-TH"/>
              <a:t>ระบบตรวจไม่ได้ และคะแนนเป็นค่าที่ผู้เล่นกรอกเอง ระบบตรวจได้แค่ว่าสองทีมกรอกตรงกัน งานต่อยอดคือขยายไปสนามกีฬาอื่น และใช้ </a:t>
            </a:r>
            <a:r>
              <a:rPr lang="en-US"/>
              <a:t>QR code </a:t>
            </a:r>
            <a:r>
              <a:rPr lang="th-TH"/>
              <a:t>ที่สนามเพื่อยืนยันว่ามาจริง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8229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ขอบคุณครับ ยินดีตอบคำถามครับ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B09585-0E46-4C37-8395-08B97C55711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397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B6B71-D6DE-B1B1-83B4-8BDC466E24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A6CEA-2BAD-732B-0E8F-082FD64E0F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EFDD08-99D7-A5D6-09B9-4C23C00EC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7D6BE-22C7-4C79-8EE3-503AA91565AA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C75E8A-B000-D64C-2F36-99A0AD476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E0B75C-F49C-A956-C2A3-F0632EF3C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472B0-B3E7-4249-8DD6-08FCF8D36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416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3BB5-15B3-4098-3EBA-9CCF67F46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A170B5-F8B6-B93C-56F8-F2453C731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7BAF80-DF8B-284C-CEF6-67DB81D8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7D6BE-22C7-4C79-8EE3-503AA91565AA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DEAD6-2C07-7827-4608-D53FB45B0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28B10-A59E-D697-3E5E-E59E54723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472B0-B3E7-4249-8DD6-08FCF8D36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85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600F3-6A9A-43E8-5EE8-E79FA7CAC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1D51D-3F5E-017F-27AB-E3BF9B643A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F2C5FE-2A6D-F9CA-712A-986B2AC98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7D6BE-22C7-4C79-8EE3-503AA91565AA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00BAD4-4336-219F-47A5-278D2669C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1922D-4B0F-8F20-05E6-42192FF74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472B0-B3E7-4249-8DD6-08FCF8D36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7688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167F8-23DB-F041-DB52-2E5C4EF95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2C83B-7A6B-BE43-2764-E8CE539435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E7B07E-A35C-F248-851E-E4A7E4483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19505B-DEC4-72CF-4C41-ED7ACCE96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7D6BE-22C7-4C79-8EE3-503AA91565AA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272892-FBC2-98D0-27E5-1376440A2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D0ED86-74B6-CC9F-B440-3FF9354CA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472B0-B3E7-4249-8DD6-08FCF8D36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74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F79C8-49A1-6E47-E75E-26ADD2612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78EE6D-A751-3982-D705-8F7567240A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0A7DD3-A825-1DEE-800B-39D2713D78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C0DF81-9A4C-AAB1-A154-BB02F1E7FF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812917-B73D-D328-CDA1-24D555916B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73683B-BB20-A60D-999F-0D467AD1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7D6BE-22C7-4C79-8EE3-503AA91565AA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FB3491-7B2F-E4E9-7A29-0D6DACE8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EA402E-491A-CF3C-F9BF-9DBDF9244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472B0-B3E7-4249-8DD6-08FCF8D36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075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58E63-0829-6F85-3390-43911F50C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E4D1FD-1143-D579-A7FB-AB6DA7A91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7D6BE-22C7-4C79-8EE3-503AA91565AA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AAEE9-A8DD-A192-33F5-F7E6191F6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7892F-0A36-DF30-AD15-D98C78AE4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472B0-B3E7-4249-8DD6-08FCF8D36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3454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7464C4-0A4F-8801-D04C-05C8BD7D8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7D6BE-22C7-4C79-8EE3-503AA91565AA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BCC48F-16DF-09AE-29E3-F33DA0ECC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DCBBB3-DC5A-AE5C-AAB0-1AB6F0C50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472B0-B3E7-4249-8DD6-08FCF8D36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888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20810-2022-FEBF-27DB-D1D5F914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8073D8-031C-6931-20DC-4B8A22BFB1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33DAE-C7F7-70F8-7F9D-EA237A41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D38868-6934-B7A7-91D5-00A4B00C2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7D6BE-22C7-4C79-8EE3-503AA91565AA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9EC637-81C4-EED2-E9D7-2723027FA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9BE746-58BB-2D4A-F5AF-72952E072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472B0-B3E7-4249-8DD6-08FCF8D36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050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C4BE3-5DF3-A183-1A07-48FAA81FC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D1480A-6EC1-F6AB-41C3-1CBEE4DE889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50DE2F-9B3C-EF95-3ECC-5288C027A7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3E743A-2699-0970-0CFF-B417E9534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7D6BE-22C7-4C79-8EE3-503AA91565AA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A38973-7F0F-E855-2558-968BBC771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23AF47-7579-3633-5E1E-590128C01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472B0-B3E7-4249-8DD6-08FCF8D36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6761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79B4E-8884-13BB-D314-8AF688166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AA3B88-ED3A-A36F-E23E-2845C7D71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46BAB-108F-9274-EB5F-E704FB8B5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7D6BE-22C7-4C79-8EE3-503AA91565AA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31300-5700-C9B3-DFBC-840495CF3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87D0A0-6D09-2E19-73F9-DA86CB908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472B0-B3E7-4249-8DD6-08FCF8D36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869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53519F-91FA-C388-FCEC-CDF73D59BE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EEBBD2-2749-C0EE-113D-E40017C769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549638-9BD7-5988-F905-6955BA676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7D6BE-22C7-4C79-8EE3-503AA91565AA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2C988-F4B9-5CA8-5E5A-2C513A9A9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33F31C-0693-D4B9-0111-56D0E7FE7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472B0-B3E7-4249-8DD6-08FCF8D36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04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D279DD-CAE2-EA6C-75BA-FC8DCBBF4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DB39F5-1953-9F76-A35F-B63E0335BF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45C575-D365-FEFE-12B7-DAE2ED0DB0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7D6BE-22C7-4C79-8EE3-503AA91565AA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C3DC9-28C9-5E77-6761-4956ABA8AE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E91BF-946B-C63D-6D74-456FD6C88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1472B0-B3E7-4249-8DD6-08FCF8D36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447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58626C-AE3A-4E89-2F85-62D516454227}"/>
              </a:ext>
            </a:extLst>
          </p:cNvPr>
          <p:cNvSpPr txBox="1"/>
          <p:nvPr/>
        </p:nvSpPr>
        <p:spPr>
          <a:xfrm>
            <a:off x="609600" y="10160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UNDERGRADUATE THESIS · NARESUAN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87CC66-2678-E764-A8FF-25D82242B2DD}"/>
              </a:ext>
            </a:extLst>
          </p:cNvPr>
          <p:cNvSpPr txBox="1"/>
          <p:nvPr/>
        </p:nvSpPr>
        <p:spPr>
          <a:xfrm>
            <a:off x="609600" y="13462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FFFFFF"/>
                </a:solidFill>
                <a:latin typeface="Arial" panose="020B0604020202020204" pitchFamily="34" charset="0"/>
              </a:rPr>
              <a:t>Development of a Web Application for Sports Facility Queuing and Maintenance Reporting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02D233-67EA-4CF8-34A1-46A9F080E545}"/>
              </a:ext>
            </a:extLst>
          </p:cNvPr>
          <p:cNvSpPr txBox="1"/>
          <p:nvPr/>
        </p:nvSpPr>
        <p:spPr>
          <a:xfrm>
            <a:off x="609600" y="35306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E8682C"/>
                </a:solidFill>
                <a:latin typeface="Arial" panose="020B0604020202020204" pitchFamily="34" charset="0"/>
              </a:rPr>
              <a:t>MeQ: court queues and maintenance reports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9B92AE-24A3-E7CC-1AE6-BFBCA1C91740}"/>
              </a:ext>
            </a:extLst>
          </p:cNvPr>
          <p:cNvSpPr txBox="1"/>
          <p:nvPr/>
        </p:nvSpPr>
        <p:spPr>
          <a:xfrm>
            <a:off x="6096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Nutthawut Wanma · 66311834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Advisor: Asst. Prof. Dr. Wansuree Massagram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7FDBDA-0E6F-8851-DCA5-677AE19AF56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58E2646-060F-F903-4675-B18A579441E1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221995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747739-690E-560F-ED66-0DB92D3DD12E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9ADCA1-E8E0-343A-978D-A50E709A23E7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No one can see the queue, and no one can enforce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6B4B7F-2A6F-2C84-A597-18B1A11863A4}"/>
              </a:ext>
            </a:extLst>
          </p:cNvPr>
          <p:cNvSpPr txBox="1"/>
          <p:nvPr/>
        </p:nvSpPr>
        <p:spPr>
          <a:xfrm>
            <a:off x="609600" y="158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3 courts (3x3 A, 3x3 B, 5x5), free walk-in play, crowded every evening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queue lives only in players' memory: "Who is last?"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No one can see the order or enforce it, so disputes follow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Broken hoops and lights go unreported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NU sports booking system handles reservations, not walk-in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D96120-236F-E22C-0BA5-E4A5A1D049D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778000"/>
            <a:ext cx="5232400" cy="28194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DC8510-265C-9564-F9A7-4AF0A35F23BF}"/>
              </a:ext>
            </a:extLst>
          </p:cNvPr>
          <p:cNvSpPr txBox="1"/>
          <p:nvPr/>
        </p:nvSpPr>
        <p:spPr>
          <a:xfrm>
            <a:off x="6350000" y="4724400"/>
            <a:ext cx="523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The official NU sports page handles reservations, not walk-in play</a:t>
            </a:r>
          </a:p>
        </p:txBody>
      </p:sp>
    </p:spTree>
    <p:extLst>
      <p:ext uri="{BB962C8B-B14F-4D97-AF65-F5344CB8AC3E}">
        <p14:creationId xmlns:p14="http://schemas.microsoft.com/office/powerpoint/2010/main" val="2648959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595F66-84EE-DE11-A52C-190B6BDCEC7E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62CE6C-4631-E0DC-1294-F0FBB58F14B4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Research question and objectives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25AA37A-1EBB-C770-39A6-F583A1B9CDEF}"/>
              </a:ext>
            </a:extLst>
          </p:cNvPr>
          <p:cNvSpPr/>
          <p:nvPr/>
        </p:nvSpPr>
        <p:spPr>
          <a:xfrm>
            <a:off x="609600" y="14224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Ins="304800" rtlCol="0" anchor="ctr"/>
          <a:lstStyle/>
          <a:p>
            <a:r>
              <a:rPr lang="en-US" sz="2000" i="1">
                <a:solidFill>
                  <a:srgbClr val="1E2430"/>
                </a:solidFill>
                <a:latin typeface="Arial" panose="020B0604020202020204" pitchFamily="34" charset="0"/>
              </a:rPr>
              <a:t>Can a queue whose rules are enforced by the database, together with push notifications, replace word-of-mouth queuing?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4F9D88-5417-A6F7-C9C0-54594C48CF7D}"/>
              </a:ext>
            </a:extLst>
          </p:cNvPr>
          <p:cNvSpPr/>
          <p:nvPr/>
        </p:nvSpPr>
        <p:spPr>
          <a:xfrm>
            <a:off x="609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ABECB17-C4B2-E06D-978C-EA3120BD5265}"/>
              </a:ext>
            </a:extLst>
          </p:cNvPr>
          <p:cNvSpPr/>
          <p:nvPr/>
        </p:nvSpPr>
        <p:spPr>
          <a:xfrm>
            <a:off x="863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08C033-CC32-BD2F-2B68-14355BBF50E2}"/>
              </a:ext>
            </a:extLst>
          </p:cNvPr>
          <p:cNvSpPr txBox="1"/>
          <p:nvPr/>
        </p:nvSpPr>
        <p:spPr>
          <a:xfrm>
            <a:off x="863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0EDB62-A121-57EA-7E17-7E6A256BB28F}"/>
              </a:ext>
            </a:extLst>
          </p:cNvPr>
          <p:cNvSpPr txBox="1"/>
          <p:nvPr/>
        </p:nvSpPr>
        <p:spPr>
          <a:xfrm>
            <a:off x="863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Show every court's queue and enforce the court rules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616F808-AB8B-90F0-83AC-589D26B3F789}"/>
              </a:ext>
            </a:extLst>
          </p:cNvPr>
          <p:cNvSpPr/>
          <p:nvPr/>
        </p:nvSpPr>
        <p:spPr>
          <a:xfrm>
            <a:off x="3403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70BA9BF-8413-5B5B-06A9-DAEEA76E3E4F}"/>
              </a:ext>
            </a:extLst>
          </p:cNvPr>
          <p:cNvSpPr/>
          <p:nvPr/>
        </p:nvSpPr>
        <p:spPr>
          <a:xfrm>
            <a:off x="3657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2780A0-5643-A1EA-79F9-4A6B651752CF}"/>
              </a:ext>
            </a:extLst>
          </p:cNvPr>
          <p:cNvSpPr txBox="1"/>
          <p:nvPr/>
        </p:nvSpPr>
        <p:spPr>
          <a:xfrm>
            <a:off x="3657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Presence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37567C-E4D0-769E-F201-01818A8E34BD}"/>
              </a:ext>
            </a:extLst>
          </p:cNvPr>
          <p:cNvSpPr txBox="1"/>
          <p:nvPr/>
        </p:nvSpPr>
        <p:spPr>
          <a:xfrm>
            <a:off x="3657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Verify that teams are at the court, with GPS checked on the server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72EA240-6F89-83DD-536D-B6E5467585B3}"/>
              </a:ext>
            </a:extLst>
          </p:cNvPr>
          <p:cNvSpPr/>
          <p:nvPr/>
        </p:nvSpPr>
        <p:spPr>
          <a:xfrm>
            <a:off x="6197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3B8B051-E8DD-4E20-3AA8-EC587E4D1EEB}"/>
              </a:ext>
            </a:extLst>
          </p:cNvPr>
          <p:cNvSpPr/>
          <p:nvPr/>
        </p:nvSpPr>
        <p:spPr>
          <a:xfrm>
            <a:off x="6451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2C0D0-BE4C-EA20-4496-46C179C2CFB7}"/>
              </a:ext>
            </a:extLst>
          </p:cNvPr>
          <p:cNvSpPr txBox="1"/>
          <p:nvPr/>
        </p:nvSpPr>
        <p:spPr>
          <a:xfrm>
            <a:off x="6451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Maintenance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7F8FFD-78CC-F6A0-E7D3-1E77A16FE7D6}"/>
              </a:ext>
            </a:extLst>
          </p:cNvPr>
          <p:cNvSpPr txBox="1"/>
          <p:nvPr/>
        </p:nvSpPr>
        <p:spPr>
          <a:xfrm>
            <a:off x="6451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Reports with photos, tracked to resolution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04D2A67-A59F-6B87-D3D0-E9698F253740}"/>
              </a:ext>
            </a:extLst>
          </p:cNvPr>
          <p:cNvSpPr/>
          <p:nvPr/>
        </p:nvSpPr>
        <p:spPr>
          <a:xfrm>
            <a:off x="8991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118E62D-7553-9B7B-C39B-FF0FDC531F05}"/>
              </a:ext>
            </a:extLst>
          </p:cNvPr>
          <p:cNvSpPr/>
          <p:nvPr/>
        </p:nvSpPr>
        <p:spPr>
          <a:xfrm>
            <a:off x="9245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FD9D05-7160-6AA7-9B51-A69C674C9D79}"/>
              </a:ext>
            </a:extLst>
          </p:cNvPr>
          <p:cNvSpPr txBox="1"/>
          <p:nvPr/>
        </p:nvSpPr>
        <p:spPr>
          <a:xfrm>
            <a:off x="9245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Notify, evaluate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AAC455-2E99-2B35-C0C2-FBB7D2607D05}"/>
              </a:ext>
            </a:extLst>
          </p:cNvPr>
          <p:cNvSpPr txBox="1"/>
          <p:nvPr/>
        </p:nvSpPr>
        <p:spPr>
          <a:xfrm>
            <a:off x="9245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LINE notifications and 7 KPIs fixed before measuring</a:t>
            </a:r>
          </a:p>
        </p:txBody>
      </p:sp>
    </p:spTree>
    <p:extLst>
      <p:ext uri="{BB962C8B-B14F-4D97-AF65-F5344CB8AC3E}">
        <p14:creationId xmlns:p14="http://schemas.microsoft.com/office/powerpoint/2010/main" val="3021916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A113A-7DA1-3689-2891-B47DE062230E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6621AA-C142-5026-DE80-1DD4B6F9BFD4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MeQ in one picture: from sign-in to statistics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DE68B2-8424-D310-6C4C-ECA91F1060F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0DC6A5A2-CEB5-B529-2095-963282DAE0B7}"/>
              </a:ext>
            </a:extLst>
          </p:cNvPr>
          <p:cNvSpPr/>
          <p:nvPr/>
        </p:nvSpPr>
        <p:spPr>
          <a:xfrm>
            <a:off x="6096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7BDD5B-CAAB-D466-C2C9-ECB1B542D488}"/>
              </a:ext>
            </a:extLst>
          </p:cNvPr>
          <p:cNvSpPr txBox="1"/>
          <p:nvPr/>
        </p:nvSpPr>
        <p:spPr>
          <a:xfrm>
            <a:off x="10668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Sign in with LINE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BA0CF6-FA9F-1DC3-9BD9-F48151E068D8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3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754188F4-848B-99CD-F248-6BAF016065B0}"/>
              </a:ext>
            </a:extLst>
          </p:cNvPr>
          <p:cNvSpPr/>
          <p:nvPr/>
        </p:nvSpPr>
        <p:spPr>
          <a:xfrm>
            <a:off x="28829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BF9F26-8CA1-1EB7-BCDB-EAA6203B5CA7}"/>
              </a:ext>
            </a:extLst>
          </p:cNvPr>
          <p:cNvSpPr txBox="1"/>
          <p:nvPr/>
        </p:nvSpPr>
        <p:spPr>
          <a:xfrm>
            <a:off x="33401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Create a team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C1E6E5-F34A-66FF-0E7E-F212F885688E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1B979B36-239B-52E5-CC31-D6821225230C}"/>
              </a:ext>
            </a:extLst>
          </p:cNvPr>
          <p:cNvSpPr/>
          <p:nvPr/>
        </p:nvSpPr>
        <p:spPr>
          <a:xfrm>
            <a:off x="51562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C216B0-BBD3-DC41-D23B-BD76C481C2EA}"/>
              </a:ext>
            </a:extLst>
          </p:cNvPr>
          <p:cNvSpPr txBox="1"/>
          <p:nvPr/>
        </p:nvSpPr>
        <p:spPr>
          <a:xfrm>
            <a:off x="56134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Join a court queue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3C96383-2494-1F61-846E-747D58C7E785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49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EBDBF6E2-A771-C731-F974-B7FB8AB08B4E}"/>
              </a:ext>
            </a:extLst>
          </p:cNvPr>
          <p:cNvSpPr/>
          <p:nvPr/>
        </p:nvSpPr>
        <p:spPr>
          <a:xfrm>
            <a:off x="74295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671772-1E1E-E8FF-2DF1-DD0D0B3C50C3}"/>
              </a:ext>
            </a:extLst>
          </p:cNvPr>
          <p:cNvSpPr txBox="1"/>
          <p:nvPr/>
        </p:nvSpPr>
        <p:spPr>
          <a:xfrm>
            <a:off x="78867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4F6B061-40C9-C7D7-7F2A-D2A973B0788C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74D9D900-812A-8D26-05C7-DE1FFB159E58}"/>
              </a:ext>
            </a:extLst>
          </p:cNvPr>
          <p:cNvSpPr/>
          <p:nvPr/>
        </p:nvSpPr>
        <p:spPr>
          <a:xfrm>
            <a:off x="97028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A775AE-B3E3-B144-824E-689AA9697B33}"/>
              </a:ext>
            </a:extLst>
          </p:cNvPr>
          <p:cNvSpPr txBox="1"/>
          <p:nvPr/>
        </p:nvSpPr>
        <p:spPr>
          <a:xfrm>
            <a:off x="101600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Result and statistics</a:t>
            </a:r>
          </a:p>
        </p:txBody>
      </p:sp>
    </p:spTree>
    <p:extLst>
      <p:ext uri="{BB962C8B-B14F-4D97-AF65-F5344CB8AC3E}">
        <p14:creationId xmlns:p14="http://schemas.microsoft.com/office/powerpoint/2010/main" val="2633498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511357-8B50-F7FE-C301-8C3166E9DFE6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14A35D-716D-95C4-0F32-D814CEEE75A4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court rules, enforced by the system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2FD5CFE-3DB4-E1B0-9BE2-1839E050AD27}"/>
              </a:ext>
            </a:extLst>
          </p:cNvPr>
          <p:cNvSpPr/>
          <p:nvPr/>
        </p:nvSpPr>
        <p:spPr>
          <a:xfrm>
            <a:off x="609600" y="1498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ECE73-11A4-7635-71F9-D1093F21029A}"/>
              </a:ext>
            </a:extLst>
          </p:cNvPr>
          <p:cNvSpPr txBox="1"/>
          <p:nvPr/>
        </p:nvSpPr>
        <p:spPr>
          <a:xfrm>
            <a:off x="1270000" y="1473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Full roster only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3x3 needs 3 players; 5x5 needs 5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78DA142-2A1A-25AC-42F6-1CD0BE46BEB9}"/>
              </a:ext>
            </a:extLst>
          </p:cNvPr>
          <p:cNvSpPr/>
          <p:nvPr/>
        </p:nvSpPr>
        <p:spPr>
          <a:xfrm>
            <a:off x="609600" y="24638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AC9977-320C-32EF-BCEB-ED9C055E27E0}"/>
              </a:ext>
            </a:extLst>
          </p:cNvPr>
          <p:cNvSpPr txBox="1"/>
          <p:nvPr/>
        </p:nvSpPr>
        <p:spPr>
          <a:xfrm>
            <a:off x="1270000" y="2438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One team, one queue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player belongs to one team; a team waits in one queue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3876792-8EFD-13F4-FB0C-B1F70CDEEB97}"/>
              </a:ext>
            </a:extLst>
          </p:cNvPr>
          <p:cNvSpPr/>
          <p:nvPr/>
        </p:nvSpPr>
        <p:spPr>
          <a:xfrm>
            <a:off x="609600" y="34290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1EE207-4121-02FA-B300-E6F8B6D80163}"/>
              </a:ext>
            </a:extLst>
          </p:cNvPr>
          <p:cNvSpPr txBox="1"/>
          <p:nvPr/>
        </p:nvSpPr>
        <p:spPr>
          <a:xfrm>
            <a:off x="1270000" y="34036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Check-in deadline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called team must check in at the court in time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B3CB6F3-1FAB-70E4-DAF1-35AA36BDD5F5}"/>
              </a:ext>
            </a:extLst>
          </p:cNvPr>
          <p:cNvSpPr/>
          <p:nvPr/>
        </p:nvSpPr>
        <p:spPr>
          <a:xfrm>
            <a:off x="609600" y="43942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A16AF4-2E89-9938-DDEC-4D0682A9E8EA}"/>
              </a:ext>
            </a:extLst>
          </p:cNvPr>
          <p:cNvSpPr txBox="1"/>
          <p:nvPr/>
        </p:nvSpPr>
        <p:spPr>
          <a:xfrm>
            <a:off x="1270000" y="43688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Winners stay for 2 games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Then rest 1 game; losers have 3 minutes to requeue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FC42F31-8726-3581-CCA8-89F1C57F8179}"/>
              </a:ext>
            </a:extLst>
          </p:cNvPr>
          <p:cNvSpPr/>
          <p:nvPr/>
        </p:nvSpPr>
        <p:spPr>
          <a:xfrm>
            <a:off x="609600" y="53594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D093CD-55E8-423F-2278-58925455002A}"/>
              </a:ext>
            </a:extLst>
          </p:cNvPr>
          <p:cNvSpPr txBox="1"/>
          <p:nvPr/>
        </p:nvSpPr>
        <p:spPr>
          <a:xfrm>
            <a:off x="1270000" y="53340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Both teams agree on the score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Otherwise they resubmit, or an admin decides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30D2C1C-1C78-487D-AB35-3A8060F2E05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1600" y="1422400"/>
            <a:ext cx="38735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5127993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DEB618-71D2-31C0-FB74-B65F995D163C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045A87-55A1-B198-8B6E-ACE8AFA8B3C7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Maintenance reports, tracked to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C79D4E-7BC9-57C2-65B8-AAE0262B425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D5FF13-6B3E-0C8A-A3FF-FC79786DAA8E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72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3006351-FCE8-2B83-6E14-5941DED26C05}"/>
              </a:ext>
            </a:extLst>
          </p:cNvPr>
          <p:cNvSpPr/>
          <p:nvPr/>
        </p:nvSpPr>
        <p:spPr>
          <a:xfrm>
            <a:off x="57404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New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23DC05-8DBD-CDE4-C066-A9198C983097}"/>
              </a:ext>
            </a:extLst>
          </p:cNvPr>
          <p:cNvSpPr txBox="1"/>
          <p:nvPr/>
        </p:nvSpPr>
        <p:spPr>
          <a:xfrm>
            <a:off x="70358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0BA9845-4634-56D3-0683-2990940E0748}"/>
              </a:ext>
            </a:extLst>
          </p:cNvPr>
          <p:cNvSpPr/>
          <p:nvPr/>
        </p:nvSpPr>
        <p:spPr>
          <a:xfrm>
            <a:off x="72390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Accepted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1766C3-CC6B-0F32-BB63-5C7C15BA3693}"/>
              </a:ext>
            </a:extLst>
          </p:cNvPr>
          <p:cNvSpPr txBox="1"/>
          <p:nvPr/>
        </p:nvSpPr>
        <p:spPr>
          <a:xfrm>
            <a:off x="85344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28E674A-DF98-50F5-0F35-7CDDDE0E07A2}"/>
              </a:ext>
            </a:extLst>
          </p:cNvPr>
          <p:cNvSpPr/>
          <p:nvPr/>
        </p:nvSpPr>
        <p:spPr>
          <a:xfrm>
            <a:off x="87376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Waiting for caretaker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AA8649-2012-893B-81F5-EBFB605FA8C7}"/>
              </a:ext>
            </a:extLst>
          </p:cNvPr>
          <p:cNvSpPr txBox="1"/>
          <p:nvPr/>
        </p:nvSpPr>
        <p:spPr>
          <a:xfrm>
            <a:off x="100330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EAD78D3-304F-5256-CF3B-991C898974A6}"/>
              </a:ext>
            </a:extLst>
          </p:cNvPr>
          <p:cNvSpPr/>
          <p:nvPr/>
        </p:nvSpPr>
        <p:spPr>
          <a:xfrm>
            <a:off x="102362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Resolved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90A66-1586-FB26-7C5D-4D6307167ADD}"/>
              </a:ext>
            </a:extLst>
          </p:cNvPr>
          <p:cNvSpPr txBox="1"/>
          <p:nvPr/>
        </p:nvSpPr>
        <p:spPr>
          <a:xfrm>
            <a:off x="5740400" y="2311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or Rejected, if the report is not valid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9D869-5C4D-6D93-3C83-72EA2C2ABAF6}"/>
              </a:ext>
            </a:extLst>
          </p:cNvPr>
          <p:cNvSpPr txBox="1"/>
          <p:nvPr/>
        </p:nvSpPr>
        <p:spPr>
          <a:xfrm>
            <a:off x="5740400" y="2870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Players report damage with a photo; the admin is notified on LINE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The reporter is notified of every status change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Every change is recorded in the history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A second report of an open problem is refused</a:t>
            </a:r>
          </a:p>
        </p:txBody>
      </p:sp>
    </p:spTree>
    <p:extLst>
      <p:ext uri="{BB962C8B-B14F-4D97-AF65-F5344CB8AC3E}">
        <p14:creationId xmlns:p14="http://schemas.microsoft.com/office/powerpoint/2010/main" val="496222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0D8838-97A0-D1A5-5772-D2A2D424569B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E0A23F-FFAD-685D-DFB2-8CF4CD38B154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Architecture: free-tier services, one source of truth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FEDA9D-7689-1213-9DD2-7BBD20C7E02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73200"/>
            <a:ext cx="72390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D0A9EA-4F7C-0EE5-745F-42E387F45F1A}"/>
              </a:ext>
            </a:extLst>
          </p:cNvPr>
          <p:cNvSpPr/>
          <p:nvPr/>
        </p:nvSpPr>
        <p:spPr>
          <a:xfrm>
            <a:off x="8178800" y="15240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56F550-6D04-1B76-9713-E9AD0995422D}"/>
              </a:ext>
            </a:extLst>
          </p:cNvPr>
          <p:cNvSpPr txBox="1"/>
          <p:nvPr/>
        </p:nvSpPr>
        <p:spPr>
          <a:xfrm>
            <a:off x="8382000" y="1701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Next.js 16 on Vercel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Pages and Server Actions, in TypeScript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B14A75A-2010-E07D-506F-0819DBAF7B7F}"/>
              </a:ext>
            </a:extLst>
          </p:cNvPr>
          <p:cNvSpPr/>
          <p:nvPr/>
        </p:nvSpPr>
        <p:spPr>
          <a:xfrm>
            <a:off x="8178800" y="27178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AA0694-DA48-D141-B99E-64EA4C08F386}"/>
              </a:ext>
            </a:extLst>
          </p:cNvPr>
          <p:cNvSpPr txBox="1"/>
          <p:nvPr/>
        </p:nvSpPr>
        <p:spPr>
          <a:xfrm>
            <a:off x="8382000" y="2895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600" b="1">
                <a:solidFill>
                  <a:srgbClr val="1E2430"/>
                </a:solidFill>
                <a:latin typeface="Arial" panose="020B0604020202020204" pitchFamily="34" charset="0"/>
              </a:rPr>
              <a:t>Supabase</a:t>
            </a:r>
          </a:p>
          <a:p>
            <a:r>
              <a:rPr lang="it-IT" sz="1300">
                <a:solidFill>
                  <a:srgbClr val="5B6270"/>
                </a:solidFill>
                <a:latin typeface="Arial" panose="020B0604020202020204" pitchFamily="34" charset="0"/>
              </a:rPr>
              <a:t>PostgreSQL, LINE sign-in, private photo storage</a:t>
            </a:r>
            <a:endParaRPr lang="en-US" sz="1300">
              <a:solidFill>
                <a:srgbClr val="5B627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E95A851-51EB-F675-6D77-50D959F6D5DE}"/>
              </a:ext>
            </a:extLst>
          </p:cNvPr>
          <p:cNvSpPr/>
          <p:nvPr/>
        </p:nvSpPr>
        <p:spPr>
          <a:xfrm>
            <a:off x="8178800" y="39116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4F94EA-7213-5772-83FB-B78FC93C0F65}"/>
              </a:ext>
            </a:extLst>
          </p:cNvPr>
          <p:cNvSpPr txBox="1"/>
          <p:nvPr/>
        </p:nvSpPr>
        <p:spPr>
          <a:xfrm>
            <a:off x="8382000" y="4089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LINE Messaging API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Push notifications to players and admins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0FFDE07-9225-C26E-A2F1-7B763D3FF4C5}"/>
              </a:ext>
            </a:extLst>
          </p:cNvPr>
          <p:cNvSpPr/>
          <p:nvPr/>
        </p:nvSpPr>
        <p:spPr>
          <a:xfrm>
            <a:off x="8178800" y="51054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47C859-1A08-2831-B8E8-E1A7A405B677}"/>
              </a:ext>
            </a:extLst>
          </p:cNvPr>
          <p:cNvSpPr txBox="1"/>
          <p:nvPr/>
        </p:nvSpPr>
        <p:spPr>
          <a:xfrm>
            <a:off x="8382000" y="5283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pg_cron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Advances every queue each 30 seconds</a:t>
            </a:r>
          </a:p>
        </p:txBody>
      </p:sp>
    </p:spTree>
    <p:extLst>
      <p:ext uri="{BB962C8B-B14F-4D97-AF65-F5344CB8AC3E}">
        <p14:creationId xmlns:p14="http://schemas.microsoft.com/office/powerpoint/2010/main" val="2350245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B0E49A-3841-1B90-6845-B84EC1FEC7E8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A18405-F191-5F71-5F65-B2E4862C9ED2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database is the referee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EFB280-35E5-EBEF-5078-499C0A251CA6}"/>
              </a:ext>
            </a:extLst>
          </p:cNvPr>
          <p:cNvSpPr txBox="1"/>
          <p:nvPr/>
        </p:nvSpPr>
        <p:spPr>
          <a:xfrm>
            <a:off x="609600" y="14732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browser only asks.</a:t>
            </a:r>
          </a:p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database decides.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352215-BDFB-0AA0-FD89-9405FBD1A87C}"/>
              </a:ext>
            </a:extLst>
          </p:cNvPr>
          <p:cNvSpPr txBox="1"/>
          <p:nvPr/>
        </p:nvSpPr>
        <p:spPr>
          <a:xfrm>
            <a:off x="609600" y="29210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Every change runs in one transaction that checks the user and the rules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Row-level security blocks direct writes to queue and score tables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GPS: the server computes the distance; a phone's "in range" is never trusted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Notifications are saved with the change, so none is lost or sent twice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A041752-5026-7EDF-9DCC-13111F53FFD1}"/>
              </a:ext>
            </a:extLst>
          </p:cNvPr>
          <p:cNvSpPr/>
          <p:nvPr/>
        </p:nvSpPr>
        <p:spPr>
          <a:xfrm>
            <a:off x="6451600" y="1473200"/>
            <a:ext cx="5130800" cy="3683000"/>
          </a:xfrm>
          <a:prstGeom prst="roundRect">
            <a:avLst>
              <a:gd name="adj" fmla="val 4828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3FE0137-204D-0A39-CF60-E131352AE84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800" y="2413000"/>
            <a:ext cx="4724400" cy="1790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3AECB00-FD7F-F734-50B9-EAE7BFCBF732}"/>
              </a:ext>
            </a:extLst>
          </p:cNvPr>
          <p:cNvSpPr txBox="1"/>
          <p:nvPr/>
        </p:nvSpPr>
        <p:spPr>
          <a:xfrm>
            <a:off x="6654800" y="4445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Notification outbox: saved in the same transaction as the change, then sent once</a:t>
            </a:r>
          </a:p>
        </p:txBody>
      </p:sp>
    </p:spTree>
    <p:extLst>
      <p:ext uri="{BB962C8B-B14F-4D97-AF65-F5344CB8AC3E}">
        <p14:creationId xmlns:p14="http://schemas.microsoft.com/office/powerpoint/2010/main" val="2174450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2D4184-F650-EC7E-CA97-87A9B4EDB261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01BB5A-0D94-EF26-8433-7A404604E220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Built and tested in small, verified steps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0D3E98F-BDD6-B300-696A-0C03283B5F31}"/>
              </a:ext>
            </a:extLst>
          </p:cNvPr>
          <p:cNvSpPr/>
          <p:nvPr/>
        </p:nvSpPr>
        <p:spPr>
          <a:xfrm>
            <a:off x="609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9AA2FB-C7C7-420A-1FB6-3C18F9930F05}"/>
              </a:ext>
            </a:extLst>
          </p:cNvPr>
          <p:cNvSpPr txBox="1"/>
          <p:nvPr/>
        </p:nvSpPr>
        <p:spPr>
          <a:xfrm>
            <a:off x="863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D4A98F-3C8E-F972-02DB-FA7054C1CC5C}"/>
              </a:ext>
            </a:extLst>
          </p:cNvPr>
          <p:cNvSpPr txBox="1"/>
          <p:nvPr/>
        </p:nvSpPr>
        <p:spPr>
          <a:xfrm>
            <a:off x="863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database migrations, each versioned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28D0C2-CFB3-CA9A-E279-CB4DF94668EB}"/>
              </a:ext>
            </a:extLst>
          </p:cNvPr>
          <p:cNvSpPr/>
          <p:nvPr/>
        </p:nvSpPr>
        <p:spPr>
          <a:xfrm>
            <a:off x="3403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B6634A-F05C-2610-43A8-CF5CADCE6E67}"/>
              </a:ext>
            </a:extLst>
          </p:cNvPr>
          <p:cNvSpPr txBox="1"/>
          <p:nvPr/>
        </p:nvSpPr>
        <p:spPr>
          <a:xfrm>
            <a:off x="3657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147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94AC3C-1545-741B-3127-08D9542A2B51}"/>
              </a:ext>
            </a:extLst>
          </p:cNvPr>
          <p:cNvSpPr txBox="1"/>
          <p:nvPr/>
        </p:nvSpPr>
        <p:spPr>
          <a:xfrm>
            <a:off x="3657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automated tests on every change: 115 database + 32 unit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BAEB96-D715-523D-5B7F-36C51E1CC033}"/>
              </a:ext>
            </a:extLst>
          </p:cNvPr>
          <p:cNvSpPr/>
          <p:nvPr/>
        </p:nvSpPr>
        <p:spPr>
          <a:xfrm>
            <a:off x="6197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7ED02A-D108-C751-D560-263A99E82E74}"/>
              </a:ext>
            </a:extLst>
          </p:cNvPr>
          <p:cNvSpPr txBox="1"/>
          <p:nvPr/>
        </p:nvSpPr>
        <p:spPr>
          <a:xfrm>
            <a:off x="6451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FC3031-44A7-AB43-8AA6-BA723B400D55}"/>
              </a:ext>
            </a:extLst>
          </p:cNvPr>
          <p:cNvSpPr txBox="1"/>
          <p:nvPr/>
        </p:nvSpPr>
        <p:spPr>
          <a:xfrm>
            <a:off x="6451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field sessions with real players on their own phones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9771AEB-C5A4-4F59-3123-844DD0A3FBE1}"/>
              </a:ext>
            </a:extLst>
          </p:cNvPr>
          <p:cNvSpPr/>
          <p:nvPr/>
        </p:nvSpPr>
        <p:spPr>
          <a:xfrm>
            <a:off x="8991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D6FE8C-7E7A-8738-2254-450C8BA4F3E9}"/>
              </a:ext>
            </a:extLst>
          </p:cNvPr>
          <p:cNvSpPr txBox="1"/>
          <p:nvPr/>
        </p:nvSpPr>
        <p:spPr>
          <a:xfrm>
            <a:off x="9245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83FD23-622F-3974-6E9B-B9EFEBDB032D}"/>
              </a:ext>
            </a:extLst>
          </p:cNvPr>
          <p:cNvSpPr txBox="1"/>
          <p:nvPr/>
        </p:nvSpPr>
        <p:spPr>
          <a:xfrm>
            <a:off x="9245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defects found and fixed, each covered by a new test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EAEBEE3-A652-5572-312A-FFEBC1412AE1}"/>
              </a:ext>
            </a:extLst>
          </p:cNvPr>
          <p:cNvSpPr/>
          <p:nvPr/>
        </p:nvSpPr>
        <p:spPr>
          <a:xfrm>
            <a:off x="6096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Design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F2A2D9-0AE3-381E-ABD8-D9DFA66BB3E3}"/>
              </a:ext>
            </a:extLst>
          </p:cNvPr>
          <p:cNvSpPr txBox="1"/>
          <p:nvPr/>
        </p:nvSpPr>
        <p:spPr>
          <a:xfrm>
            <a:off x="25654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CFE9891-D026-D3F8-A3E1-C1EA3432CAFB}"/>
              </a:ext>
            </a:extLst>
          </p:cNvPr>
          <p:cNvSpPr/>
          <p:nvPr/>
        </p:nvSpPr>
        <p:spPr>
          <a:xfrm>
            <a:off x="28702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Build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6E4B4E-D29B-D3F6-5F24-B5BEEE487FE6}"/>
              </a:ext>
            </a:extLst>
          </p:cNvPr>
          <p:cNvSpPr txBox="1"/>
          <p:nvPr/>
        </p:nvSpPr>
        <p:spPr>
          <a:xfrm>
            <a:off x="48260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A0A0933-7902-DD8B-E08E-B72A62556D27}"/>
              </a:ext>
            </a:extLst>
          </p:cNvPr>
          <p:cNvSpPr/>
          <p:nvPr/>
        </p:nvSpPr>
        <p:spPr>
          <a:xfrm>
            <a:off x="51308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Test in CI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197037-B8C6-56D9-8985-BC812B3742F6}"/>
              </a:ext>
            </a:extLst>
          </p:cNvPr>
          <p:cNvSpPr txBox="1"/>
          <p:nvPr/>
        </p:nvSpPr>
        <p:spPr>
          <a:xfrm>
            <a:off x="70866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5C1B4CC-11C4-9CBA-553C-F0D70AD48176}"/>
              </a:ext>
            </a:extLst>
          </p:cNvPr>
          <p:cNvSpPr/>
          <p:nvPr/>
        </p:nvSpPr>
        <p:spPr>
          <a:xfrm>
            <a:off x="73914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rial" panose="020B0604020202020204" pitchFamily="34" charset="0"/>
              </a:rPr>
              <a:t>Field test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B40102-641E-4E02-F804-BB6586BFB967}"/>
              </a:ext>
            </a:extLst>
          </p:cNvPr>
          <p:cNvSpPr txBox="1"/>
          <p:nvPr/>
        </p:nvSpPr>
        <p:spPr>
          <a:xfrm>
            <a:off x="93472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464EAB9-D690-FA5F-EC21-916EA8601EAA}"/>
              </a:ext>
            </a:extLst>
          </p:cNvPr>
          <p:cNvSpPr/>
          <p:nvPr/>
        </p:nvSpPr>
        <p:spPr>
          <a:xfrm>
            <a:off x="96520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Fix + new test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D327334-6FC9-F1E6-0C3D-50D4692CAE2A}"/>
              </a:ext>
            </a:extLst>
          </p:cNvPr>
          <p:cNvSpPr txBox="1"/>
          <p:nvPr/>
        </p:nvSpPr>
        <p:spPr>
          <a:xfrm>
            <a:off x="609600" y="58166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B6270"/>
                </a:solidFill>
                <a:latin typeface="Arial" panose="020B0604020202020204" pitchFamily="34" charset="0"/>
              </a:rPr>
              <a:t>Design science research: build, evaluate, improve</a:t>
            </a:r>
          </a:p>
        </p:txBody>
      </p:sp>
    </p:spTree>
    <p:extLst>
      <p:ext uri="{BB962C8B-B14F-4D97-AF65-F5344CB8AC3E}">
        <p14:creationId xmlns:p14="http://schemas.microsoft.com/office/powerpoint/2010/main" val="12286014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AB9C55-612B-2352-CF2A-14E8DE7548DC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WALKTHROUGH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64A90F-862D-F8CE-17AB-2E940A30273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One round, step by step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9E170E-F496-F8EE-AE79-C71A518D422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3DF768-F994-1FF3-60D9-AE5FCB83F7BD}"/>
              </a:ext>
            </a:extLst>
          </p:cNvPr>
          <p:cNvSpPr txBox="1"/>
          <p:nvPr/>
        </p:nvSpPr>
        <p:spPr>
          <a:xfrm>
            <a:off x="2463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9F400CA-A8D9-044C-A164-7F7740CB53FF}"/>
              </a:ext>
            </a:extLst>
          </p:cNvPr>
          <p:cNvSpPr/>
          <p:nvPr/>
        </p:nvSpPr>
        <p:spPr>
          <a:xfrm>
            <a:off x="609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5FFD57-CB5F-BBAD-E0B8-33F2F065C55C}"/>
              </a:ext>
            </a:extLst>
          </p:cNvPr>
          <p:cNvSpPr txBox="1"/>
          <p:nvPr/>
        </p:nvSpPr>
        <p:spPr>
          <a:xfrm>
            <a:off x="1041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Join the queue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F72B6C-A2FF-454E-FF38-CDE5C48121B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A1A8FB0-501A-E523-BD2B-EF5E8640D517}"/>
              </a:ext>
            </a:extLst>
          </p:cNvPr>
          <p:cNvSpPr txBox="1"/>
          <p:nvPr/>
        </p:nvSpPr>
        <p:spPr>
          <a:xfrm>
            <a:off x="4749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DFD3AC4-7002-25C1-FCAB-BE987B073980}"/>
              </a:ext>
            </a:extLst>
          </p:cNvPr>
          <p:cNvSpPr/>
          <p:nvPr/>
        </p:nvSpPr>
        <p:spPr>
          <a:xfrm>
            <a:off x="2895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3F5799-4140-2443-1B64-CD7E227B3D6A}"/>
              </a:ext>
            </a:extLst>
          </p:cNvPr>
          <p:cNvSpPr txBox="1"/>
          <p:nvPr/>
        </p:nvSpPr>
        <p:spPr>
          <a:xfrm>
            <a:off x="3327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LINE notifications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23235F0-62D0-B84C-8EA9-FFD2FBAED025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829E648-83EF-4CA2-5F81-C8BDFAEA12CD}"/>
              </a:ext>
            </a:extLst>
          </p:cNvPr>
          <p:cNvSpPr txBox="1"/>
          <p:nvPr/>
        </p:nvSpPr>
        <p:spPr>
          <a:xfrm>
            <a:off x="7035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265DA7E-F6E4-126B-E51E-4F832AD5080E}"/>
              </a:ext>
            </a:extLst>
          </p:cNvPr>
          <p:cNvSpPr/>
          <p:nvPr/>
        </p:nvSpPr>
        <p:spPr>
          <a:xfrm>
            <a:off x="5181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7E8B0C-3D82-C13E-0A03-91B13685609C}"/>
              </a:ext>
            </a:extLst>
          </p:cNvPr>
          <p:cNvSpPr txBox="1"/>
          <p:nvPr/>
        </p:nvSpPr>
        <p:spPr>
          <a:xfrm>
            <a:off x="5613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547A2F4-2197-B0D9-CADE-DCED478CAC45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F24AEAB-6493-C90B-6EEB-E6841CB93AD8}"/>
              </a:ext>
            </a:extLst>
          </p:cNvPr>
          <p:cNvSpPr txBox="1"/>
          <p:nvPr/>
        </p:nvSpPr>
        <p:spPr>
          <a:xfrm>
            <a:off x="9321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5A2E715-F7C4-ADA0-B849-5C36425C4299}"/>
              </a:ext>
            </a:extLst>
          </p:cNvPr>
          <p:cNvSpPr/>
          <p:nvPr/>
        </p:nvSpPr>
        <p:spPr>
          <a:xfrm>
            <a:off x="7467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67E5D3A-962B-4F64-2C00-A9EA06A5E861}"/>
              </a:ext>
            </a:extLst>
          </p:cNvPr>
          <p:cNvSpPr txBox="1"/>
          <p:nvPr/>
        </p:nvSpPr>
        <p:spPr>
          <a:xfrm>
            <a:off x="7899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Submit the scores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571AB61-B2F7-4B81-371A-9BDB5E57ACC5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6" name="Oval 25">
            <a:extLst>
              <a:ext uri="{FF2B5EF4-FFF2-40B4-BE49-F238E27FC236}">
                <a16:creationId xmlns:a16="http://schemas.microsoft.com/office/drawing/2014/main" id="{0FD0C169-AAE3-D3AB-1DFF-876E5381FCC8}"/>
              </a:ext>
            </a:extLst>
          </p:cNvPr>
          <p:cNvSpPr/>
          <p:nvPr/>
        </p:nvSpPr>
        <p:spPr>
          <a:xfrm>
            <a:off x="9753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4A837E-D208-6671-2A10-76E600E1B8D2}"/>
              </a:ext>
            </a:extLst>
          </p:cNvPr>
          <p:cNvSpPr txBox="1"/>
          <p:nvPr/>
        </p:nvSpPr>
        <p:spPr>
          <a:xfrm>
            <a:off x="10185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Result and next step</a:t>
            </a:r>
          </a:p>
        </p:txBody>
      </p:sp>
    </p:spTree>
    <p:extLst>
      <p:ext uri="{BB962C8B-B14F-4D97-AF65-F5344CB8AC3E}">
        <p14:creationId xmlns:p14="http://schemas.microsoft.com/office/powerpoint/2010/main" val="2924616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D03EA3-4F9B-2ABA-F0E7-7E080E7693DF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13BECD-BB0F-DF2A-EC53-D6B849F6CA59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Field evaluation, 17 October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E02AE3-D9FF-0F5A-E4A1-4F7BA7B1C52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558800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4D7A98-159B-31F9-50E6-7FA12C946143}"/>
              </a:ext>
            </a:extLst>
          </p:cNvPr>
          <p:cNvSpPr txBox="1"/>
          <p:nvPr/>
        </p:nvSpPr>
        <p:spPr>
          <a:xfrm>
            <a:off x="609600" y="57150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A game during the evaluation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8DA90E2-DFF0-0D7E-82EA-5EA9AF714119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16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BEE3D3-F10A-EAB2-07A2-8452AC7A1AE0}"/>
              </a:ext>
            </a:extLst>
          </p:cNvPr>
          <p:cNvSpPr txBox="1"/>
          <p:nvPr/>
        </p:nvSpPr>
        <p:spPr>
          <a:xfrm>
            <a:off x="64516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MeQ in use at the court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A76275E-A466-7FE7-33F9-1ABD278A8334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332FADD-DA9B-1D5D-1CA4-0AE98D271D2E}"/>
              </a:ext>
            </a:extLst>
          </p:cNvPr>
          <p:cNvSpPr txBox="1"/>
          <p:nvPr/>
        </p:nvSpPr>
        <p:spPr>
          <a:xfrm>
            <a:off x="90424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Planned court: no lights (maintenance)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02F63F-1BCB-6CDA-3095-7CE844E3B399}"/>
              </a:ext>
            </a:extLst>
          </p:cNvPr>
          <p:cNvSpPr txBox="1"/>
          <p:nvPr/>
        </p:nvSpPr>
        <p:spPr>
          <a:xfrm>
            <a:off x="6451600" y="4038600"/>
            <a:ext cx="513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Moved to the Faculty of Science court, played as 3x3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13 players; four teams played, 17:20–18:30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Queue, check-in, play, scores, and a maintenance report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Check-in failed at first: the court point was moved on site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SUS questionnaire answered the same evening</a:t>
            </a:r>
          </a:p>
        </p:txBody>
      </p:sp>
    </p:spTree>
    <p:extLst>
      <p:ext uri="{BB962C8B-B14F-4D97-AF65-F5344CB8AC3E}">
        <p14:creationId xmlns:p14="http://schemas.microsoft.com/office/powerpoint/2010/main" val="25799622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D4C4E6-F972-36D8-3FEF-62242F25069D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904490-C39A-A7B8-8EEC-1CDB50C4A44C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How each KPI was tested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2B457E-360A-81CC-4132-0BE1356E3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3268038"/>
              </p:ext>
            </p:extLst>
          </p:nvPr>
        </p:nvGraphicFramePr>
        <p:xfrm>
          <a:off x="609600" y="1422400"/>
          <a:ext cx="10972800" cy="48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3645487619"/>
                    </a:ext>
                  </a:extLst>
                </a:gridCol>
                <a:gridCol w="6654800">
                  <a:extLst>
                    <a:ext uri="{9D8B030D-6E8A-4147-A177-3AD203B41FA5}">
                      <a16:colId xmlns:a16="http://schemas.microsoft.com/office/drawing/2014/main" val="3006553186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34403071"/>
                    </a:ext>
                  </a:extLst>
                </a:gridCol>
              </a:tblGrid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KPI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 it was tested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Tools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9069214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1  Queue integrity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50 simulated users join and leave queues at the same time; then 9 SQL checks look for any rule violation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k6, SQL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4262289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2  Rule tests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Automated tests call every database function as different users, including users who must be refused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pgTAP, Node.js, CI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917796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3  LINE timeliness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Time from each event to LINE delivery, read from the notification outbox during the field evaluation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Outbox records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939419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4  Maintenance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Seven scripted steps on the live system: report, duplicate, each status, reject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Scenario, history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0597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5  Responsiveness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95th-percentile response time: 50 users on a laptop, 3 users on the live site, and a simulated phone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k6, Lighthouse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7525787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6  Usability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13 players answered the 10-item SUS questionnaire after using MeQ at the court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Google Forms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6863222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7  Security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Permission tests, an OWASP Top 10:2025 check, a dependency audit, and a scan of the live site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pgTAP, npm audit, ZAP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53429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D207C8A-4C4C-1693-8101-051D82DADBC8}"/>
              </a:ext>
            </a:extLst>
          </p:cNvPr>
          <p:cNvSpPr txBox="1"/>
          <p:nvPr/>
        </p:nvSpPr>
        <p:spPr>
          <a:xfrm>
            <a:off x="609600" y="6350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Every threshold was fixed before measuring.</a:t>
            </a:r>
          </a:p>
        </p:txBody>
      </p:sp>
    </p:spTree>
    <p:extLst>
      <p:ext uri="{BB962C8B-B14F-4D97-AF65-F5344CB8AC3E}">
        <p14:creationId xmlns:p14="http://schemas.microsoft.com/office/powerpoint/2010/main" val="32644708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FD118A-1C2F-94ED-352C-DF31DFE28AE7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46A76F-16D2-05BF-6422-0E7648EC166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What the 147 automated tests check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8F3AB6-C5BB-C7FA-FAB4-94011704C97A}"/>
              </a:ext>
            </a:extLst>
          </p:cNvPr>
          <p:cNvSpPr txBox="1"/>
          <p:nvPr/>
        </p:nvSpPr>
        <p:spPr>
          <a:xfrm>
            <a:off x="609600" y="13716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E8682C"/>
                </a:solidFill>
                <a:latin typeface="Arial" panose="020B0604020202020204" pitchFamily="34" charset="0"/>
              </a:rPr>
              <a:t>115 database tests (pgTAP)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3C9CD1-C824-FC23-3DF6-5157CB77E099}"/>
              </a:ext>
            </a:extLst>
          </p:cNvPr>
          <p:cNvSpPr txBox="1"/>
          <p:nvPr/>
        </p:nvSpPr>
        <p:spPr>
          <a:xfrm>
            <a:off x="609600" y="18542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Permissions and row-level security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DC94CFD-1486-C4FE-A876-279478866ED2}"/>
              </a:ext>
            </a:extLst>
          </p:cNvPr>
          <p:cNvSpPr/>
          <p:nvPr/>
        </p:nvSpPr>
        <p:spPr>
          <a:xfrm>
            <a:off x="4368800" y="1828800"/>
            <a:ext cx="27940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303FC-70EB-AEE9-B11F-37D050E5A973}"/>
              </a:ext>
            </a:extLst>
          </p:cNvPr>
          <p:cNvSpPr txBox="1"/>
          <p:nvPr/>
        </p:nvSpPr>
        <p:spPr>
          <a:xfrm>
            <a:off x="7239000" y="1854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49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69D7E3-7807-E8F6-F75B-7374CA004233}"/>
              </a:ext>
            </a:extLst>
          </p:cNvPr>
          <p:cNvSpPr txBox="1"/>
          <p:nvPr/>
        </p:nvSpPr>
        <p:spPr>
          <a:xfrm>
            <a:off x="609600" y="2413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Location check-in and team readiness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72B7BE0-9ABC-F290-7032-C861323D58F6}"/>
              </a:ext>
            </a:extLst>
          </p:cNvPr>
          <p:cNvSpPr/>
          <p:nvPr/>
        </p:nvSpPr>
        <p:spPr>
          <a:xfrm>
            <a:off x="4368800" y="2387600"/>
            <a:ext cx="10287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94726F-4C60-02C3-18EE-CD955E1F6760}"/>
              </a:ext>
            </a:extLst>
          </p:cNvPr>
          <p:cNvSpPr txBox="1"/>
          <p:nvPr/>
        </p:nvSpPr>
        <p:spPr>
          <a:xfrm>
            <a:off x="5473700" y="2413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18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5B948B-C35F-A39A-3873-6867DDB6B1CE}"/>
              </a:ext>
            </a:extLst>
          </p:cNvPr>
          <p:cNvSpPr txBox="1"/>
          <p:nvPr/>
        </p:nvSpPr>
        <p:spPr>
          <a:xfrm>
            <a:off x="609600" y="29718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Winner rotation: two wins, then rest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2EA80D6-5741-B14E-9F08-DA2513AF3281}"/>
              </a:ext>
            </a:extLst>
          </p:cNvPr>
          <p:cNvSpPr/>
          <p:nvPr/>
        </p:nvSpPr>
        <p:spPr>
          <a:xfrm>
            <a:off x="4368800" y="2946400"/>
            <a:ext cx="8001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60CF8B-563A-A27B-BF1D-653EAF2744DD}"/>
              </a:ext>
            </a:extLst>
          </p:cNvPr>
          <p:cNvSpPr txBox="1"/>
          <p:nvPr/>
        </p:nvSpPr>
        <p:spPr>
          <a:xfrm>
            <a:off x="5245100" y="2971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25057A-C428-94B2-D6C5-B8E203F10644}"/>
              </a:ext>
            </a:extLst>
          </p:cNvPr>
          <p:cNvSpPr txBox="1"/>
          <p:nvPr/>
        </p:nvSpPr>
        <p:spPr>
          <a:xfrm>
            <a:off x="609600" y="35306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Requeue and repeated check-in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8D58370-EA8B-0F31-4946-37F25D14F54D}"/>
              </a:ext>
            </a:extLst>
          </p:cNvPr>
          <p:cNvSpPr/>
          <p:nvPr/>
        </p:nvSpPr>
        <p:spPr>
          <a:xfrm>
            <a:off x="4368800" y="3505200"/>
            <a:ext cx="5080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11B66-D177-2909-E12C-7A29299564D2}"/>
              </a:ext>
            </a:extLst>
          </p:cNvPr>
          <p:cNvSpPr txBox="1"/>
          <p:nvPr/>
        </p:nvSpPr>
        <p:spPr>
          <a:xfrm>
            <a:off x="4953000" y="35306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89E4E2-5B88-7746-EF63-7D2B59E9526B}"/>
              </a:ext>
            </a:extLst>
          </p:cNvPr>
          <p:cNvSpPr txBox="1"/>
          <p:nvPr/>
        </p:nvSpPr>
        <p:spPr>
          <a:xfrm>
            <a:off x="609600" y="40894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One court failing does not stop others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E8DE869-7ED0-926B-B9FF-04222D4D053A}"/>
              </a:ext>
            </a:extLst>
          </p:cNvPr>
          <p:cNvSpPr/>
          <p:nvPr/>
        </p:nvSpPr>
        <p:spPr>
          <a:xfrm>
            <a:off x="4368800" y="4064000"/>
            <a:ext cx="4572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878B41-BA88-125D-D4FF-612539D99565}"/>
              </a:ext>
            </a:extLst>
          </p:cNvPr>
          <p:cNvSpPr txBox="1"/>
          <p:nvPr/>
        </p:nvSpPr>
        <p:spPr>
          <a:xfrm>
            <a:off x="4902200" y="4089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935FE5C-1247-BF57-C8C6-A6F857FF29DC}"/>
              </a:ext>
            </a:extLst>
          </p:cNvPr>
          <p:cNvSpPr txBox="1"/>
          <p:nvPr/>
        </p:nvSpPr>
        <p:spPr>
          <a:xfrm>
            <a:off x="609600" y="46482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Challenger returns when the winner leaves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DC49B68-B6E4-F34F-4329-D68D1756C7D3}"/>
              </a:ext>
            </a:extLst>
          </p:cNvPr>
          <p:cNvSpPr/>
          <p:nvPr/>
        </p:nvSpPr>
        <p:spPr>
          <a:xfrm>
            <a:off x="4368800" y="4622800"/>
            <a:ext cx="4572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723973-8CE1-EFEB-3E7F-4971FBE42691}"/>
              </a:ext>
            </a:extLst>
          </p:cNvPr>
          <p:cNvSpPr txBox="1"/>
          <p:nvPr/>
        </p:nvSpPr>
        <p:spPr>
          <a:xfrm>
            <a:off x="4902200" y="4648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7BC5BC-29CE-D21D-1626-C23663E0907C}"/>
              </a:ext>
            </a:extLst>
          </p:cNvPr>
          <p:cNvSpPr txBox="1"/>
          <p:nvPr/>
        </p:nvSpPr>
        <p:spPr>
          <a:xfrm>
            <a:off x="609600" y="5207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Full flows: game, queue, teams, maintenance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2AD06EA2-BF86-B5AE-5C31-5372FDBA7979}"/>
              </a:ext>
            </a:extLst>
          </p:cNvPr>
          <p:cNvSpPr/>
          <p:nvPr/>
        </p:nvSpPr>
        <p:spPr>
          <a:xfrm>
            <a:off x="4368800" y="5181600"/>
            <a:ext cx="3429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70FAC3-0606-3046-0B22-FEE8F1E02287}"/>
              </a:ext>
            </a:extLst>
          </p:cNvPr>
          <p:cNvSpPr txBox="1"/>
          <p:nvPr/>
        </p:nvSpPr>
        <p:spPr>
          <a:xfrm>
            <a:off x="4787900" y="5207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32D643-C72F-3C04-AFDE-26A6C43795E7}"/>
              </a:ext>
            </a:extLst>
          </p:cNvPr>
          <p:cNvSpPr txBox="1"/>
          <p:nvPr/>
        </p:nvSpPr>
        <p:spPr>
          <a:xfrm>
            <a:off x="609600" y="57658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LINE outbox: claim, retry, expiry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88E82D2-37D3-BCF1-5E18-5B3FBC97B436}"/>
              </a:ext>
            </a:extLst>
          </p:cNvPr>
          <p:cNvSpPr/>
          <p:nvPr/>
        </p:nvSpPr>
        <p:spPr>
          <a:xfrm>
            <a:off x="4368800" y="5740400"/>
            <a:ext cx="1651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05B3BBF-E5F6-F8D9-BB1A-EE66345AA68C}"/>
              </a:ext>
            </a:extLst>
          </p:cNvPr>
          <p:cNvSpPr txBox="1"/>
          <p:nvPr/>
        </p:nvSpPr>
        <p:spPr>
          <a:xfrm>
            <a:off x="4610100" y="5765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F4AB60C-C449-73CC-0E17-FF1B76C9010C}"/>
              </a:ext>
            </a:extLst>
          </p:cNvPr>
          <p:cNvSpPr/>
          <p:nvPr/>
        </p:nvSpPr>
        <p:spPr>
          <a:xfrm>
            <a:off x="7924800" y="1371600"/>
            <a:ext cx="3657600" cy="2794000"/>
          </a:xfrm>
          <a:prstGeom prst="roundRect">
            <a:avLst>
              <a:gd name="adj" fmla="val 6364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FBCC28-B5B0-A6C9-72EF-FA53080B540C}"/>
              </a:ext>
            </a:extLst>
          </p:cNvPr>
          <p:cNvSpPr txBox="1"/>
          <p:nvPr/>
        </p:nvSpPr>
        <p:spPr>
          <a:xfrm>
            <a:off x="8178800" y="1574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E8682C"/>
                </a:solidFill>
                <a:latin typeface="Arial" panose="020B0604020202020204" pitchFamily="34" charset="0"/>
              </a:rPr>
              <a:t>32 unit tests (TypeScript)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5D53A5C-006A-1D6A-E144-8B6598CDE21E}"/>
              </a:ext>
            </a:extLst>
          </p:cNvPr>
          <p:cNvSpPr txBox="1"/>
          <p:nvPr/>
        </p:nvSpPr>
        <p:spPr>
          <a:xfrm>
            <a:off x="8178800" y="20066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Removed browser-side queue code stays removed; security headers (10)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LINE message text and recipients (5)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Administrator rules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Live refresh of court pages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Team location rules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Maintenance statistics (3)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Game lifecycle states (2)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2FE7B6-4209-C2FC-C9DF-9A656DFB9AE9}"/>
              </a:ext>
            </a:extLst>
          </p:cNvPr>
          <p:cNvSpPr txBox="1"/>
          <p:nvPr/>
        </p:nvSpPr>
        <p:spPr>
          <a:xfrm>
            <a:off x="609600" y="6350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All 147 run on every change in GitHub Actions; a change that fails any test cannot be merged.</a:t>
            </a:r>
          </a:p>
        </p:txBody>
      </p:sp>
    </p:spTree>
    <p:extLst>
      <p:ext uri="{BB962C8B-B14F-4D97-AF65-F5344CB8AC3E}">
        <p14:creationId xmlns:p14="http://schemas.microsoft.com/office/powerpoint/2010/main" val="29947166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A9E1F90-A562-468C-FDAE-1A7C47EC37C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4492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E64EB85-6BAF-811F-BF3E-9C447BE5570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5456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28C2EB-3181-8851-08ED-7623D83C7F3A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17B154-C26E-5A05-8900-D84C50FF849D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Real players found what the tests missed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76CB062-6FC2-3A90-4C3E-399E7192FC39}"/>
              </a:ext>
            </a:extLst>
          </p:cNvPr>
          <p:cNvSpPr/>
          <p:nvPr/>
        </p:nvSpPr>
        <p:spPr>
          <a:xfrm>
            <a:off x="609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52EDF4F-8DBA-98ED-A7B1-98724BF69476}"/>
              </a:ext>
            </a:extLst>
          </p:cNvPr>
          <p:cNvSpPr/>
          <p:nvPr/>
        </p:nvSpPr>
        <p:spPr>
          <a:xfrm>
            <a:off x="863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DA2159-F64A-0622-2DA8-3C46ABACB710}"/>
              </a:ext>
            </a:extLst>
          </p:cNvPr>
          <p:cNvSpPr txBox="1"/>
          <p:nvPr/>
        </p:nvSpPr>
        <p:spPr>
          <a:xfrm>
            <a:off x="863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 stalled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5F1D88-C7E3-62F8-B8F5-5CC85FBD6406}"/>
              </a:ext>
            </a:extLst>
          </p:cNvPr>
          <p:cNvSpPr txBox="1"/>
          <p:nvPr/>
        </p:nvSpPr>
        <p:spPr>
          <a:xfrm>
            <a:off x="863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 queue stopped advancing after a team requeued. Fixed in the database, with a new test.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F485B66-5FAE-BF01-0F8C-140AF0A06DE4}"/>
              </a:ext>
            </a:extLst>
          </p:cNvPr>
          <p:cNvSpPr/>
          <p:nvPr/>
        </p:nvSpPr>
        <p:spPr>
          <a:xfrm>
            <a:off x="43561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460F1B6-597E-1FDF-2BC0-4BF9E365D352}"/>
              </a:ext>
            </a:extLst>
          </p:cNvPr>
          <p:cNvSpPr/>
          <p:nvPr/>
        </p:nvSpPr>
        <p:spPr>
          <a:xfrm>
            <a:off x="46101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AC1DC2-4EFC-2A95-9AD5-C109399D321D}"/>
              </a:ext>
            </a:extLst>
          </p:cNvPr>
          <p:cNvSpPr txBox="1"/>
          <p:nvPr/>
        </p:nvSpPr>
        <p:spPr>
          <a:xfrm>
            <a:off x="46101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Challenger dropped (16 Oct)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0BAE88-0B35-FDEA-945A-4A7169303B63}"/>
              </a:ext>
            </a:extLst>
          </p:cNvPr>
          <p:cNvSpPr txBox="1"/>
          <p:nvPr/>
        </p:nvSpPr>
        <p:spPr>
          <a:xfrm>
            <a:off x="46101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When a winner left, the called challenger vanished from the queue. Fixed the same day, with a new test.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00931E8-ACA9-8777-BE19-5528EF349644}"/>
              </a:ext>
            </a:extLst>
          </p:cNvPr>
          <p:cNvSpPr/>
          <p:nvPr/>
        </p:nvSpPr>
        <p:spPr>
          <a:xfrm>
            <a:off x="8102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918009A-E4EB-9C3B-4472-411C8219B83C}"/>
              </a:ext>
            </a:extLst>
          </p:cNvPr>
          <p:cNvSpPr/>
          <p:nvPr/>
        </p:nvSpPr>
        <p:spPr>
          <a:xfrm>
            <a:off x="8356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A560DA-89C6-8A7E-0C9C-7785513298BE}"/>
              </a:ext>
            </a:extLst>
          </p:cNvPr>
          <p:cNvSpPr txBox="1"/>
          <p:nvPr/>
        </p:nvSpPr>
        <p:spPr>
          <a:xfrm>
            <a:off x="8356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Statistics showed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9FFFE0-1444-59DB-9AEE-872C98276C96}"/>
              </a:ext>
            </a:extLst>
          </p:cNvPr>
          <p:cNvSpPr txBox="1"/>
          <p:nvPr/>
        </p:nvSpPr>
        <p:spPr>
          <a:xfrm>
            <a:off x="8356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missing permission grant hid players' statistics. Fixed and verified on the live site.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AA99ADE-72C8-0EE1-8957-F8E267818355}"/>
              </a:ext>
            </a:extLst>
          </p:cNvPr>
          <p:cNvSpPr/>
          <p:nvPr/>
        </p:nvSpPr>
        <p:spPr>
          <a:xfrm>
            <a:off x="609600" y="49530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tlCol="0" anchor="ctr"/>
          <a:lstStyle/>
          <a:p>
            <a:r>
              <a:rPr lang="en-US" sz="1900" b="1">
                <a:solidFill>
                  <a:srgbClr val="1E2430"/>
                </a:solidFill>
                <a:latin typeface="Arial" panose="020B0604020202020204" pitchFamily="34" charset="0"/>
              </a:rPr>
              <a:t>Lesson: every automated test passed, but real users on real phones found the edge cases.</a:t>
            </a:r>
          </a:p>
        </p:txBody>
      </p:sp>
    </p:spTree>
    <p:extLst>
      <p:ext uri="{BB962C8B-B14F-4D97-AF65-F5344CB8AC3E}">
        <p14:creationId xmlns:p14="http://schemas.microsoft.com/office/powerpoint/2010/main" val="12006156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370689-ADF2-5852-8679-D7E8DC59498A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DAFE6C-B04E-7113-F295-D17EDCABB0E2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Impact, limitations, and future work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DC6B7A6-EEBF-176D-F9CE-AD8560379D17}"/>
              </a:ext>
            </a:extLst>
          </p:cNvPr>
          <p:cNvSpPr/>
          <p:nvPr/>
        </p:nvSpPr>
        <p:spPr>
          <a:xfrm>
            <a:off x="609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EBC0C6-E8B0-55B7-09C6-6FC0E37EC1F4}"/>
              </a:ext>
            </a:extLst>
          </p:cNvPr>
          <p:cNvSpPr txBox="1"/>
          <p:nvPr/>
        </p:nvSpPr>
        <p:spPr>
          <a:xfrm>
            <a:off x="889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BFC261-FFC9-2B1E-4463-9098C02D790A}"/>
              </a:ext>
            </a:extLst>
          </p:cNvPr>
          <p:cNvSpPr txBox="1"/>
          <p:nvPr/>
        </p:nvSpPr>
        <p:spPr>
          <a:xfrm>
            <a:off x="889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visible, fair queue: fewer arguments, no standing by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Damage reaches the staff sooner; players follow the repair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Free infrastructure that other facilities can reuse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72F0AB-6294-560C-BBFB-7E7EEA84E86B}"/>
              </a:ext>
            </a:extLst>
          </p:cNvPr>
          <p:cNvSpPr/>
          <p:nvPr/>
        </p:nvSpPr>
        <p:spPr>
          <a:xfrm>
            <a:off x="43561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9AB21-4DC0-6985-2129-D5175C60BDD0}"/>
              </a:ext>
            </a:extLst>
          </p:cNvPr>
          <p:cNvSpPr txBox="1"/>
          <p:nvPr/>
        </p:nvSpPr>
        <p:spPr>
          <a:xfrm>
            <a:off x="46355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Limitations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6D229B-7C57-99B9-BC92-B478B6086040}"/>
              </a:ext>
            </a:extLst>
          </p:cNvPr>
          <p:cNvSpPr txBox="1"/>
          <p:nvPr/>
        </p:nvSpPr>
        <p:spPr>
          <a:xfrm>
            <a:off x="46355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faked GPS location cannot be detected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Scores are entered by the teams themselves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First use needs guidance (SUS 67.5)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One facility and a small sample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449BF83-DD91-0110-B0AF-3D84DCF6A0AF}"/>
              </a:ext>
            </a:extLst>
          </p:cNvPr>
          <p:cNvSpPr/>
          <p:nvPr/>
        </p:nvSpPr>
        <p:spPr>
          <a:xfrm>
            <a:off x="8102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272AA9-CA9A-A3E3-BD22-D40C39CD3C5B}"/>
              </a:ext>
            </a:extLst>
          </p:cNvPr>
          <p:cNvSpPr txBox="1"/>
          <p:nvPr/>
        </p:nvSpPr>
        <p:spPr>
          <a:xfrm>
            <a:off x="8382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Future 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A2B7C4-C6E9-970C-8D4F-EF5ECAE3BCA4}"/>
              </a:ext>
            </a:extLst>
          </p:cNvPr>
          <p:cNvSpPr txBox="1"/>
          <p:nvPr/>
        </p:nvSpPr>
        <p:spPr>
          <a:xfrm>
            <a:off x="8382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Queues visible without sign-in; guided first use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QR code check-in at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Futsal and volleyball courts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Measure disputes before and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28809411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F0DEC0-5181-3EEA-F5DB-3B2496C9300D}"/>
              </a:ext>
            </a:extLst>
          </p:cNvPr>
          <p:cNvSpPr txBox="1"/>
          <p:nvPr/>
        </p:nvSpPr>
        <p:spPr>
          <a:xfrm>
            <a:off x="609600" y="2159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6400" b="1">
                <a:solidFill>
                  <a:srgbClr val="FFFFFF"/>
                </a:solidFill>
                <a:latin typeface="Arial" panose="020B0604020202020204" pitchFamily="34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422754-AD20-969F-1937-1CBB9797A4F8}"/>
              </a:ext>
            </a:extLst>
          </p:cNvPr>
          <p:cNvSpPr txBox="1"/>
          <p:nvPr/>
        </p:nvSpPr>
        <p:spPr>
          <a:xfrm>
            <a:off x="609600" y="33274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E8682C"/>
                </a:solidFill>
                <a:latin typeface="Arial" panose="020B0604020202020204" pitchFamily="34" charset="0"/>
              </a:rPr>
              <a:t>Questions?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F03EC4-BFBA-52D2-D281-479DAA4D230D}"/>
              </a:ext>
            </a:extLst>
          </p:cNvPr>
          <p:cNvSpPr txBox="1"/>
          <p:nvPr/>
        </p:nvSpPr>
        <p:spPr>
          <a:xfrm>
            <a:off x="609600" y="4318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[Website link or QR code]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A63BAE-DEC9-C55D-E428-B3726AFCE96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1413008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2431</Words>
  <Application>Microsoft Office PowerPoint</Application>
  <PresentationFormat>Custom</PresentationFormat>
  <Paragraphs>259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NUTTHAWUT WANMA</dc:creator>
  <cp:lastModifiedBy>NUTTHAWUT WANMA</cp:lastModifiedBy>
  <cp:revision>1</cp:revision>
  <dcterms:created xsi:type="dcterms:W3CDTF">2026-10-19T07:13:19Z</dcterms:created>
  <dcterms:modified xsi:type="dcterms:W3CDTF">2026-10-19T07:13:19Z</dcterms:modified>
</cp:coreProperties>
</file>