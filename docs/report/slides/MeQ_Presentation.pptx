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6DDD5A-A71C-4298-AF4D-614973B27B87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F8BBF4-625F-43A5-9C14-5F040B99D7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460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ผมณัฐวุฒิ วันมา วันนี้จะนำเสนอวิทยานิพนธ์เรื่อง การพัฒนาเว็บแอปพลิเคชันสำหรับการจัดคิวสิ่งอำนวยความสะดวกด้านกีฬาและการรายงานการบำรุงรักษา ระบบที่พัฒนาชื่อว่า </a:t>
            </a:r>
            <a:r>
              <a:rPr lang="en-US"/>
              <a:t>MeQ (20 </a:t>
            </a:r>
            <a:r>
              <a:rPr lang="th-TH"/>
              <a:t>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886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9260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9133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50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9587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4634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3234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3083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2923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เล่าทีละขั้นตามภาพ (1) หัวหน้าทีมกดเข้าคิวที่หน้าสนาม เห็นลำดับของตัวเองทันที (2) เมื่อถึงคิว ระบบส่ง </a:t>
            </a:r>
            <a:r>
              <a:rPr lang="en-US"/>
              <a:t>LINE </a:t>
            </a:r>
            <a:r>
              <a:rPr lang="th-TH"/>
              <a:t>ไปที่หัวหน้าทีม ไม่ต้องยืนรอที่สนาม (ภาพนี้เป็นตัวอย่างข้อความ </a:t>
            </a:r>
            <a:r>
              <a:rPr lang="en-US"/>
              <a:t>LINE </a:t>
            </a:r>
            <a:r>
              <a:rPr lang="th-TH"/>
              <a:t>จากระบบ) (3) สมาชิกทุกคนกดยืนยันตำแหน่ง เซิร์ฟเวอร์คำนวณระยะ แล้วหัวหน้ากดยืนยันทีมพร้อม (4) เล่นจบ แต่ละทีมกรอกคะแนนของผู้เล่นตัวเอง ระบบตรวจว่าตรงกัน (5) ระบบสรุปผล ทีมชนะเลือกเล่นต่อ ทีมแพ้เลือกต่อคิวใหม่ภายใน 3 นาที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6370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วันที่ 17 ต.ค. ผมพาผู้เล่น 13 คน 4 ทีม มาใช้ระบบจริงที่สนาม ตั้งแต่ 5 โมงครึ่งถึง 6 โมงครึ่ง ตามแผนจะเทสที่สนามในร่ม แต่วันนั้นกำลังซ่อมไฟสนาม ไม่มีไฟ คนเลยไม่มาเล่น ผมจึงย้ายไปเทสที่สนามคณะวิทยาศาสตร์ซึ่งมีสนามเดียว เล่นแบบ 3</a:t>
            </a:r>
            <a:r>
              <a:rPr lang="en-US"/>
              <a:t>x3 </a:t>
            </a:r>
            <a:r>
              <a:rPr lang="th-TH"/>
              <a:t>ตอนแรกเช็กอินไม่ผ่านเพราะพิกัดในระบบยังชี้ไปที่สนามในร่ม ผมตั้งพิกัดใหม่ที่สนามนั้นทันที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5140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KPI </a:t>
            </a:r>
            <a:r>
              <a:rPr lang="th-TH"/>
              <a:t>แต่ละตัววัดคนละเรื่องและใช้เครื่องมือต่างกัน </a:t>
            </a:r>
            <a:r>
              <a:rPr lang="en-US"/>
              <a:t>KPI-1 </a:t>
            </a:r>
            <a:r>
              <a:rPr lang="th-TH"/>
              <a:t>จำลองผู้ใช้ 50 คนกดเข้าออกคิวพร้อมกัน แล้วใช้ </a:t>
            </a:r>
            <a:r>
              <a:rPr lang="en-US"/>
              <a:t>SQL 9 </a:t>
            </a:r>
            <a:r>
              <a:rPr lang="th-TH"/>
              <a:t>ข้อตรวจว่ามีอะไรผิดกติกาไหม </a:t>
            </a:r>
            <a:r>
              <a:rPr lang="en-US"/>
              <a:t>KPI-2 </a:t>
            </a:r>
            <a:r>
              <a:rPr lang="th-TH"/>
              <a:t>คือเทสอัตโนมัติ </a:t>
            </a:r>
            <a:r>
              <a:rPr lang="en-US"/>
              <a:t>KPI-3 </a:t>
            </a:r>
            <a:r>
              <a:rPr lang="th-TH"/>
              <a:t>วัดเวลาส่ง </a:t>
            </a:r>
            <a:r>
              <a:rPr lang="en-US"/>
              <a:t>LINE </a:t>
            </a:r>
            <a:r>
              <a:rPr lang="th-TH"/>
              <a:t>จากข้อมูลจริงวันทดสอบ </a:t>
            </a:r>
            <a:r>
              <a:rPr lang="en-US"/>
              <a:t>KPI-4 </a:t>
            </a:r>
            <a:r>
              <a:rPr lang="th-TH"/>
              <a:t>ทำตามสถานการณ์แจ้งซ่อม 7 ขั้นบนระบบจริง </a:t>
            </a:r>
            <a:r>
              <a:rPr lang="en-US"/>
              <a:t>KPI-5 </a:t>
            </a:r>
            <a:r>
              <a:rPr lang="th-TH"/>
              <a:t>วัดความเร็วด้วย </a:t>
            </a:r>
            <a:r>
              <a:rPr lang="en-US"/>
              <a:t>k6 </a:t>
            </a:r>
            <a:r>
              <a:rPr lang="th-TH"/>
              <a:t>และ </a:t>
            </a:r>
            <a:r>
              <a:rPr lang="en-US"/>
              <a:t>Lighthouse KPI-6 </a:t>
            </a:r>
            <a:r>
              <a:rPr lang="th-TH"/>
              <a:t>คือแบบสอบถาม </a:t>
            </a:r>
            <a:r>
              <a:rPr lang="en-US"/>
              <a:t>SUS </a:t>
            </a:r>
            <a:r>
              <a:rPr lang="th-TH"/>
              <a:t>และ </a:t>
            </a:r>
            <a:r>
              <a:rPr lang="en-US"/>
              <a:t>KPI-7 </a:t>
            </a:r>
            <a:r>
              <a:rPr lang="th-TH"/>
              <a:t>ตรวจความปลอดภัยด้วยหลายเครื่องมือ ทุกเกณฑ์ตั้งไว้ก่อนวัดผล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5500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เทส 147 ข้อแบ่งเป็นสองส่วน ส่วนแรกคือเทสฐานข้อมูล 115 ข้อ เกือบครึ่งเป็นเรื่องสิทธิ์ ว่าใครอ่านหรือแก้อะไรได้บ้าง รองลงมาคือการเช็กอินด้วยตำแหน่ง กติกาชนะสองเกมแล้วพัก และการต่อคิวใหม่ อีกส่วนคือ </a:t>
            </a:r>
            <a:r>
              <a:rPr lang="en-US"/>
              <a:t>unit test 32 </a:t>
            </a:r>
            <a:r>
              <a:rPr lang="th-TH"/>
              <a:t>ข้อ ตรวจฝั่งโค้ด </a:t>
            </a:r>
            <a:r>
              <a:rPr lang="en-US"/>
              <a:t>TypeScript </a:t>
            </a:r>
            <a:r>
              <a:rPr lang="th-TH"/>
              <a:t>เช่น ข้อความ </a:t>
            </a:r>
            <a:r>
              <a:rPr lang="en-US"/>
              <a:t>LINE </a:t>
            </a:r>
            <a:r>
              <a:rPr lang="th-TH"/>
              <a:t>และ </a:t>
            </a:r>
            <a:r>
              <a:rPr lang="en-US"/>
              <a:t>security headers </a:t>
            </a:r>
            <a:r>
              <a:rPr lang="th-TH"/>
              <a:t>ทุกครั้งที่แก้โค้ด </a:t>
            </a:r>
            <a:r>
              <a:rPr lang="en-US"/>
              <a:t>GitHub </a:t>
            </a:r>
            <a:r>
              <a:rPr lang="th-TH"/>
              <a:t>จะรันทั้ง 147 ข้อ ถ้าไม่ผ่านจะ </a:t>
            </a:r>
            <a:r>
              <a:rPr lang="en-US"/>
              <a:t>merge </a:t>
            </a:r>
            <a:r>
              <a:rPr lang="th-TH"/>
              <a:t>ไม่ได้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1875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67.5 จากผู้เล่น 13 คน ต่ำกว่าเกณฑ์ 68 อยู่ 0.5 คะแนน ถือว่าก้ำกึ่ง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2975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กราฟซ้ายคือเวลาส่ง </a:t>
            </a:r>
            <a:r>
              <a:rPr lang="en-US"/>
              <a:t>LINE </a:t>
            </a:r>
            <a:r>
              <a:rPr lang="th-TH"/>
              <a:t>ในวันประเมิน แท่งคือกรณีที่ช้าที่สุดของข้อความแต่ละประเภท เส้นประคือเกณฑ์ 60 วินาที ทุกแท่งอยู่ก่อนเส้นเกณฑ์ กราฟขวาคือเวลาตอบสนองที่เปอร์เซ็นไทล์ที่ 95 ทั้งบนเครื่องทดสอบ 50 ผู้ใช้และบนระบบจริง ทุกรอบต่ำกว่าเกณฑ์ 2 วินาทีมาก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6338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รวมทั้งหมดเจอข้อบกพร่องในโค้ด 11 จุด แก้ครบและเพิ่มเทสทุกครั้ง และปัญหาการตั้งค่าพิกัด 1 จุดที่แก้ที่สนาม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9610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351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F8BBF4-625F-43A5-9C14-5F040B99D76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26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B2A2A-793C-8466-464B-0CD4451B0C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747874-694A-2A37-C621-0B7A07DE0D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F3BF9-8909-417B-BD79-A433A47D8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8B7CE-38D7-47CB-A3B7-F41DD3AC315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5B811-63AF-9B7D-98A0-ED2844D1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85F40-1C14-EF64-D912-6201AAF8F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1C792-7BDB-4DFA-95B8-E0DC2989B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277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E53AE-26C0-9BD7-72D5-4898F3D2F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30722-F32D-5575-F017-B299894EC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0E76A-4059-7AB4-8EF9-D0FAC98B0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8B7CE-38D7-47CB-A3B7-F41DD3AC315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50F87-478F-D9EF-9837-908A83C99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5B7DE7-B3CC-E56F-0C7D-9E6C2E3F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1C792-7BDB-4DFA-95B8-E0DC2989B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953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6F71-F5E2-393D-23BF-CB99A14B9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6A323A-20A0-20B3-545F-C5F064F731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C779A-15A8-8825-7FA5-920777111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8B7CE-38D7-47CB-A3B7-F41DD3AC315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5D98C-3E7C-9E24-B439-62BD37ED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B4942-7CA8-067F-6565-B4B90DE0C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1C792-7BDB-4DFA-95B8-E0DC2989B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203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D29CE-B7B8-6071-6545-A60C5A211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38DBBB-EC05-FF01-2D9B-3C9503D18D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683867-C115-BDB8-5C01-9E8923323F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817C82-4641-325D-E65E-127283370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8B7CE-38D7-47CB-A3B7-F41DD3AC315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023DDF-229C-54FA-F737-F221ADFC9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5C6A9-4973-1004-3879-A6FAEB386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1C792-7BDB-4DFA-95B8-E0DC2989B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9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1419-6C42-5F85-CEA9-E4ABA2B32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F5CB51-90B0-11D5-1547-4F5AC52DE1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8A2F11-11BC-2533-EF3F-A863594CC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9A5389-679E-4CF8-8DEF-0730961E5A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D35E9A-1AEF-6F02-926A-3ABF1A531A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A1FB6B-31B4-C6A8-A32F-B1EE64C94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8B7CE-38D7-47CB-A3B7-F41DD3AC315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ACC093-6279-0FA3-8A7F-360F32520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BBA0B9-7195-8E1C-AEA0-8CA44703C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1C792-7BDB-4DFA-95B8-E0DC2989B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203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8D27E-38A0-37B7-4593-0EDB911F8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A85FB6-21C3-BC9F-9256-89C14D916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8B7CE-38D7-47CB-A3B7-F41DD3AC315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8381B0-2442-8245-8C4E-A880BA450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F94099-C384-439B-03A2-206AE0929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1C792-7BDB-4DFA-95B8-E0DC2989B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67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2BEF56-1911-88FB-9233-181C5DBED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8B7CE-38D7-47CB-A3B7-F41DD3AC315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C6A46A-232C-AB36-83A1-977E8D33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1A163-1DFD-A07A-E5EA-10E5EB48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1C792-7BDB-4DFA-95B8-E0DC2989B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353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14203-2315-0676-C650-6B655E58A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34753-EEF7-595F-B2A6-CE2A057F9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3E789E-6B04-833C-C151-4C01C22D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055DEB-3DA7-BBF3-5CD3-9A9E4F2CE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8B7CE-38D7-47CB-A3B7-F41DD3AC315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700C29-CEA1-BF20-DBD4-7EAB02515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C96F89-550C-CB3F-823E-CAE094451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1C792-7BDB-4DFA-95B8-E0DC2989B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242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AA51B-E0A6-5727-A0E4-D4DB07736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CE25E3-D954-DE18-AF3B-F9C31B16A5E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64FE2-621F-9351-CDDC-AB4CEB42D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E98307-A415-76A7-FC65-90F1A2CB0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8B7CE-38D7-47CB-A3B7-F41DD3AC315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DD0CF-605D-C4FC-1548-778F7026F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5E8EFB-3100-384B-FEBD-012F983CE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1C792-7BDB-4DFA-95B8-E0DC2989B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52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80441-4606-3D1E-00B8-7F78960D9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885017-6AB1-11B7-526F-97CAFF0B9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66ED9D-8DD3-3A7D-DA10-76C3D3583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8B7CE-38D7-47CB-A3B7-F41DD3AC315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FBE8C-D5E9-F69C-C597-A2136F9B9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1285-C567-FB73-8A73-4C61C3B4E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1C792-7BDB-4DFA-95B8-E0DC2989B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785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BC1894-A99D-2FEF-CB9A-D38C695AF7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3790EA-950F-63E2-A1C8-362E16B708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45FFA-8CA3-8BBA-CDDB-3EDF3D353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8B7CE-38D7-47CB-A3B7-F41DD3AC315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8AD96-527E-B2A9-977F-B5DBA41C8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0C1A55-FD8E-F6AE-4034-42772E144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1C792-7BDB-4DFA-95B8-E0DC2989B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9622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78753C-C921-0DD7-F0E5-6E06885D8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8598C-C771-2D15-C7D5-A97AD92A4B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6ADCD-FD30-C21B-64C7-5054C84914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D8B7CE-38D7-47CB-A3B7-F41DD3AC315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15433-D882-CD12-6AE9-35210CD93E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BB2FB-E835-6D11-ED9A-69FC29F245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51C792-7BDB-4DFA-95B8-E0DC2989B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268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4589A-56ED-851E-8BDA-9F5C973C9244}"/>
              </a:ext>
            </a:extLst>
          </p:cNvPr>
          <p:cNvSpPr txBox="1"/>
          <p:nvPr/>
        </p:nvSpPr>
        <p:spPr>
          <a:xfrm>
            <a:off x="609600" y="1016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UNDERGRADUATE THESIS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28FC6-40A7-39C1-F409-E9C1B0B8D016}"/>
              </a:ext>
            </a:extLst>
          </p:cNvPr>
          <p:cNvSpPr txBox="1"/>
          <p:nvPr/>
        </p:nvSpPr>
        <p:spPr>
          <a:xfrm>
            <a:off x="609600" y="1346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FFFFFF"/>
                </a:solidFill>
                <a:latin typeface="Arial" panose="020B0604020202020204" pitchFamily="34" charset="0"/>
              </a:rPr>
              <a:t>Development of a Web Application for Sports Facility Queuing and Maintenance Reporting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1A6FAF-DE2D-5782-4AE1-B8AB9F7B8294}"/>
              </a:ext>
            </a:extLst>
          </p:cNvPr>
          <p:cNvSpPr txBox="1"/>
          <p:nvPr/>
        </p:nvSpPr>
        <p:spPr>
          <a:xfrm>
            <a:off x="609600" y="35306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E8682C"/>
                </a:solidFill>
                <a:latin typeface="Arial" panose="020B0604020202020204" pitchFamily="34" charset="0"/>
              </a:rPr>
              <a:t>MeQ: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B48A88-6260-84E8-8F4E-14DA38BF5B10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Nutthawut Wanma · 66311834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Asst. Prof. Dr. Wansuree Massagram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D1CD82-2E5D-D143-D693-72684C2A01E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968D42-46E5-3D4C-19BB-6815DC2666A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624629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DEC64D-F6E0-8022-EACB-CC84DCAB10A4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07DC19-7426-11CD-11DF-0D96A68DE9D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F45299-C843-C07E-0534-17FBCF22EC40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FFF98B-A815-37E4-B266-3962B72B916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EC07C4-0368-8509-21A9-C2A02A8B9504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1607283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FC6EB2-EAED-B428-E5A4-C74F30EB579E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1DF3D2-CF0B-5695-D1DC-FBFE9E3C90C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3C6F5D-E364-4880-0233-EDD6778B4D20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1EF54EC-7F03-F77B-00F8-053C606D7FF0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DE65E65-BD12-99AE-6E2A-0EAA95B5DAD7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F6C888-4E54-6D80-68A2-19D5B26AD42F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F3436-B58A-C04F-ECF9-425981A89D4E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811BEC4-DA71-17B7-94BC-4480FC7DFD51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A834F2B-571E-9D76-FAB2-C04BE10C9849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FB5BC0-3634-D329-30B3-F9089930DC29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498EF9-6621-59FC-B4BD-6D6451E9E1FE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C07FF61-3AEC-EB5C-AB8B-D10EDDE7681C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FBD3067-E874-7D13-F1FC-FCD15B1BB6F9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BCC5B7-4A82-3BEB-6B69-B6ABDC371259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60A543-22D6-9273-CF8E-20C3F9C3BD09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652B465-F25E-BCAD-C8B4-43F9D8C64147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5BFC7A1-9DAF-E899-3EB7-9D08CB57334F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D88E82-23D9-24AD-6DC3-3D45B53382E7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5FD41C-FCE3-109F-FFC3-B24AB61F0A93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318532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DD4808-3E11-0233-8A9C-E5DE4C9384D0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99E40C-0E4A-D5D8-6CE9-FFE792C4588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5297BA-FA49-E807-CC48-3A6876584CE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C2A84D05-C01A-2A86-15AF-C7E20B3CCF77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03A779-7918-D63D-C73B-80B90771E2F7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7B5FAD-35F6-3AC5-6298-B99F68BCF2A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F8C26A02-DC59-DB7D-4511-8FB8A8F856AC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A5D382-7281-BAE9-270C-EC3D99E82941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98F2216-69E3-43D5-151A-1AAEA5DEE483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0168F6A5-0C0B-8123-2FF1-37F6D0460F8E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0A11BD-B1F0-5D3E-9DB0-7E974691C597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CA37FCF-8341-BB63-D722-A0CD9B884D6B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7D0451B-91BF-BFEA-F2A9-BEAF7E385052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CA9C76-C191-1391-75B2-0F8E2CDCE289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344C93A-77B0-8B86-D2E9-695DD6E03C13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DE51EC42-46DB-A7F5-7FA0-68B798D04933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98B7DC-8F11-4C2E-86D0-25BF88CCCE1F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2744494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D3FCD7-144F-19B8-9B8D-6F2F91674BF2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15A1BA-2C40-1875-434A-553E3361420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E0F8B47-3D3C-1C8C-77DB-4CF9C77580D3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6107AE-8A25-6A90-D084-948907A6F969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0D21E82-AABA-D4AD-E7A8-5FAC3EB9083E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9F099B-0BC9-0476-3271-9949FCCE1712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23B272A-682E-7600-37CF-4AB0E56F12A3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1F3007-955A-3C05-1F81-A7F366BF5D3D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EF9BB80-71DA-2023-3A33-CE106835D1D6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284A72-662A-5EC0-0DCF-7D104732F0F1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FE41917-17D9-F501-96DE-D2BB7D9133A1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54BC51-00CE-C17C-EBFA-D36B63801CD6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8AF26F9-1FB7-BCE8-939D-E235F903D76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739209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B5DB4E-1B93-BEE5-DC81-820177BF8FE3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77BEF9-D29B-676C-08D0-B3D6C5C8533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6173E7-0F80-0236-B424-F790B42D26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26B286D-D740-18B6-041D-7F52EC5ECAC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CDDF837-904C-25A3-761D-6847E14C474D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D8E0A7-E5B3-1BE0-0CD4-D71DA0932CA0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8B63FDD-45BE-8996-CA1F-CB8D2F7A68BB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9F12B1-C570-7CCB-2424-6457A468DE01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6E697FA-E2B3-5245-46C2-28A2AC7D1834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CB7329-BA8B-FA3D-3223-A1535855949A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419A848-46A6-5D00-DF84-162FD2F293C5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0624D0-77F3-20C6-1A64-10AFD06AB928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8D677-0C80-ED7F-217A-409BBB56311B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3464929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026EEC-BA6A-63AA-EFF7-5487F73F4C0A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B05A26-0346-EDDB-6D84-EE186418FA4F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A172D3-5242-192D-41F6-E008C4651D3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08A24AD-10BA-EE4B-8FF5-C5639CA16B92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32B779-FA89-E422-7E2C-5A7B7CC5FDDF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0694BA6-88CB-A94C-03A6-C6705F7D6255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BF08AB-4288-FAB0-4FD4-DFA230BA5957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4903C2D-5046-6B54-3F63-6525D31E4289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DCD7FA-5689-4410-F760-071F0D0592E0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D4EBE9A-8C27-DF20-A8A5-883DB12F47DA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F2DFBE-90CF-52B3-E0BC-24CBFC349679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1098814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F070C5-24AF-B920-1931-01392B44CEE8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557E80-7F54-FF78-699A-E73152A60916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6246D5-8A72-8856-6579-E6646F1CA138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F30000-0D5D-6188-2336-CF2AEB8D5CBA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1404164-512E-CEA1-2199-5E4F328CFAA8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F8966C3-BD0A-AF72-6A79-3FE5D7396BA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C48BCB2-1256-8302-BA91-1986BAED9978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18155774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8291FB-E436-FC94-A98D-B003F473D1C1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B6BA09-E744-FC73-ABC4-0267AD010A1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4E9D11-0902-8355-5EF3-0394B1B66FE4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800C4-A4BF-E146-5686-12B3A76CA85C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9A8EA4-F342-B078-B059-AFB4BF6A6B25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97E5BD8-CBA5-2D3E-6C93-EFBAB29A5BAC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54F33D-45F8-5696-50F6-47F1BC1625C5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6940E7-CB07-4A51-61CA-D47DF9394605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D6C6A8B-ACC9-1A22-80F1-FFC933E749E0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5B98E3-F66A-5DBD-678E-23E2E70535CA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3E4EE0-FA8F-D048-AC6F-053CE80C6B9D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A1464EA-8EF5-87F2-DF3F-53B3F237402D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9AD1DF-115C-A69F-FAA1-8370699558A5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566B7D-74F0-CA1B-F3C2-C48016B18A73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fixed, each covered by a new test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539274A-8B0B-345A-E0AF-B5035A934680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C9A126-753D-F8BD-5E40-83AC03EA0049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1E24747-0C69-B6BF-83BC-CA30CAFFDD86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AAEF72-AAD9-53E0-6CFF-0CBCC02E065B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95BE488-991F-22B0-7DB8-F0C68005C713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0E82E9-33E4-72ED-B2EB-FF2739D03D8A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FC9AD51-BBF0-95D7-5A9B-7D5E38C0F4F9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50404B-885B-CC46-C625-4624D1550828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2D8962D-CB0A-ED36-1EAA-2953718075ED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714CC58-F354-7B47-BE34-0C4A7725CBBD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30423988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ABDCAE-7B09-1CDD-7809-4549296A495D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WALKTHROUGH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3EA517-577A-2926-DB11-D61D35B994B8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round, step by step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D211F1-3184-4DD6-0DD7-38AF500C726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D42EE6-EF97-55C9-2265-183C428EE18C}"/>
              </a:ext>
            </a:extLst>
          </p:cNvPr>
          <p:cNvSpPr txBox="1"/>
          <p:nvPr/>
        </p:nvSpPr>
        <p:spPr>
          <a:xfrm>
            <a:off x="2463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FFB1EB9-4884-2964-F001-EE10F14FB37A}"/>
              </a:ext>
            </a:extLst>
          </p:cNvPr>
          <p:cNvSpPr/>
          <p:nvPr/>
        </p:nvSpPr>
        <p:spPr>
          <a:xfrm>
            <a:off x="609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97FC2E-635B-E678-4E65-43943741A42C}"/>
              </a:ext>
            </a:extLst>
          </p:cNvPr>
          <p:cNvSpPr txBox="1"/>
          <p:nvPr/>
        </p:nvSpPr>
        <p:spPr>
          <a:xfrm>
            <a:off x="1041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Join the queue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DF8A91-6FCF-75DF-83CE-31BE8D9A2EBB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DF67A91-8593-BAA1-1760-D7E5BC5AA960}"/>
              </a:ext>
            </a:extLst>
          </p:cNvPr>
          <p:cNvSpPr txBox="1"/>
          <p:nvPr/>
        </p:nvSpPr>
        <p:spPr>
          <a:xfrm>
            <a:off x="4749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4A72D37-92DB-B5CA-EB29-6C815BD08B81}"/>
              </a:ext>
            </a:extLst>
          </p:cNvPr>
          <p:cNvSpPr/>
          <p:nvPr/>
        </p:nvSpPr>
        <p:spPr>
          <a:xfrm>
            <a:off x="2895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53CD87-594B-817B-86AD-7EB4142875C8}"/>
              </a:ext>
            </a:extLst>
          </p:cNvPr>
          <p:cNvSpPr txBox="1"/>
          <p:nvPr/>
        </p:nvSpPr>
        <p:spPr>
          <a:xfrm>
            <a:off x="3327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LINE notifications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05A702C-17CC-E620-6C5F-994F0DAB1DE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AA817DF-3C58-9E36-06C2-C5CA68C1FD9D}"/>
              </a:ext>
            </a:extLst>
          </p:cNvPr>
          <p:cNvSpPr txBox="1"/>
          <p:nvPr/>
        </p:nvSpPr>
        <p:spPr>
          <a:xfrm>
            <a:off x="7035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E6D4ECD-083B-8A30-9B80-9114D917F5E6}"/>
              </a:ext>
            </a:extLst>
          </p:cNvPr>
          <p:cNvSpPr/>
          <p:nvPr/>
        </p:nvSpPr>
        <p:spPr>
          <a:xfrm>
            <a:off x="5181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631057-B5A3-416A-8A35-D258C61E1E33}"/>
              </a:ext>
            </a:extLst>
          </p:cNvPr>
          <p:cNvSpPr txBox="1"/>
          <p:nvPr/>
        </p:nvSpPr>
        <p:spPr>
          <a:xfrm>
            <a:off x="5613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D453CA8-54C8-A216-E4E2-5A6B1BCCEF2C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7D523E8-5C0C-B644-AD58-578CC569C1ED}"/>
              </a:ext>
            </a:extLst>
          </p:cNvPr>
          <p:cNvSpPr txBox="1"/>
          <p:nvPr/>
        </p:nvSpPr>
        <p:spPr>
          <a:xfrm>
            <a:off x="9321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52020CF-93A0-D4C0-F43E-DF2508F4BB62}"/>
              </a:ext>
            </a:extLst>
          </p:cNvPr>
          <p:cNvSpPr/>
          <p:nvPr/>
        </p:nvSpPr>
        <p:spPr>
          <a:xfrm>
            <a:off x="7467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6ED84FF-FAD1-647D-6165-30197C1B7B5A}"/>
              </a:ext>
            </a:extLst>
          </p:cNvPr>
          <p:cNvSpPr txBox="1"/>
          <p:nvPr/>
        </p:nvSpPr>
        <p:spPr>
          <a:xfrm>
            <a:off x="7899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Submit the scores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7F03D1B-0A6A-7E75-BE6D-16130E0BCA47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A43D06D4-6243-C795-026F-746AD582FFFC}"/>
              </a:ext>
            </a:extLst>
          </p:cNvPr>
          <p:cNvSpPr/>
          <p:nvPr/>
        </p:nvSpPr>
        <p:spPr>
          <a:xfrm>
            <a:off x="9753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CF7538-9639-96E2-EA4E-F7EC2A204EE4}"/>
              </a:ext>
            </a:extLst>
          </p:cNvPr>
          <p:cNvSpPr txBox="1"/>
          <p:nvPr/>
        </p:nvSpPr>
        <p:spPr>
          <a:xfrm>
            <a:off x="10185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Result and next step</a:t>
            </a:r>
          </a:p>
        </p:txBody>
      </p:sp>
    </p:spTree>
    <p:extLst>
      <p:ext uri="{BB962C8B-B14F-4D97-AF65-F5344CB8AC3E}">
        <p14:creationId xmlns:p14="http://schemas.microsoft.com/office/powerpoint/2010/main" val="1562820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26F73E-E63C-1EFB-756F-C93C2BBB983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2325A-764E-6A9F-51D1-6602994808E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Field evaluation, 17 October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FA994E-BA19-19BC-BF72-D0D5DB19187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558800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90820A-F3EF-9E51-62BD-157CEC8C8A5B}"/>
              </a:ext>
            </a:extLst>
          </p:cNvPr>
          <p:cNvSpPr txBox="1"/>
          <p:nvPr/>
        </p:nvSpPr>
        <p:spPr>
          <a:xfrm>
            <a:off x="609600" y="57150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A game during the evaluation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BAA241-BD50-4DD2-C5D8-28AC01FAED20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16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3ADF8D-B771-8DFA-D55C-AF6035A0AFA3}"/>
              </a:ext>
            </a:extLst>
          </p:cNvPr>
          <p:cNvSpPr txBox="1"/>
          <p:nvPr/>
        </p:nvSpPr>
        <p:spPr>
          <a:xfrm>
            <a:off x="64516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MeQ in use at the court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092B23-6543-900D-670B-5B0610C82134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0EA14D0-45F5-8A84-DE2B-8C12F4C0747E}"/>
              </a:ext>
            </a:extLst>
          </p:cNvPr>
          <p:cNvSpPr txBox="1"/>
          <p:nvPr/>
        </p:nvSpPr>
        <p:spPr>
          <a:xfrm>
            <a:off x="90424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Planned court: no lights (maintenance)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FC51ED-E63F-3332-D921-CF8FF3770664}"/>
              </a:ext>
            </a:extLst>
          </p:cNvPr>
          <p:cNvSpPr txBox="1"/>
          <p:nvPr/>
        </p:nvSpPr>
        <p:spPr>
          <a:xfrm>
            <a:off x="6451600" y="40386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Moved to the Faculty of Science court, played as 3x3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13 players; four teams played, 17:20–18:30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Queue, check-in, play, scores, and a maintenance report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Check-in failed at first: the court point was moved on site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SUS questionnaire answered the same evening</a:t>
            </a:r>
          </a:p>
        </p:txBody>
      </p:sp>
    </p:spTree>
    <p:extLst>
      <p:ext uri="{BB962C8B-B14F-4D97-AF65-F5344CB8AC3E}">
        <p14:creationId xmlns:p14="http://schemas.microsoft.com/office/powerpoint/2010/main" val="3030611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E44861-EDE5-FF34-ED1B-07ABF78D1BC8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BC8DD3-4078-3822-5A06-1FE2565FB2D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How each KPI was tested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D6DAF7-5123-4D2D-4304-D62E29541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98902"/>
              </p:ext>
            </p:extLst>
          </p:nvPr>
        </p:nvGraphicFramePr>
        <p:xfrm>
          <a:off x="609600" y="1422400"/>
          <a:ext cx="10972800" cy="48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563992291"/>
                    </a:ext>
                  </a:extLst>
                </a:gridCol>
                <a:gridCol w="6654800">
                  <a:extLst>
                    <a:ext uri="{9D8B030D-6E8A-4147-A177-3AD203B41FA5}">
                      <a16:colId xmlns:a16="http://schemas.microsoft.com/office/drawing/2014/main" val="208975707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628858425"/>
                    </a:ext>
                  </a:extLst>
                </a:gridCol>
              </a:tblGrid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KPI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 it was tested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Tools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8486644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  Queue integrity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50 simulated users join and leave queues at the same time; then 9 SQL checks look for any rule violation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SQL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554100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2  Rule tests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Automated tests call every database function as different users, including users who must be refused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Node.js, CI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482155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3  LINE timeliness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Time from each event to LINE delivery, read from the notification outbox during the field evaluation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Outbox records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2452220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4  Maintenance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Seven scripted steps on the live system: report, duplicate, each status, reject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Scenario, history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3032511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  Responsiveness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95th-percentile response time: 50 users on a laptop, 3 users on the live site, and a simulated phone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Lighthouse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3235761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6  Usability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13 players answered the 10-item SUS questionnaire after using MeQ at the court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Google Forms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7930755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7  Security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Permission tests, an OWASP Top 10:2025 check, a dependency audit, and a scan of the live site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npm audit, ZAP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42122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1E1E20-EF4D-7B1E-3DC2-8174B35A2EA3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Every threshold was fixed before measuring.</a:t>
            </a:r>
          </a:p>
        </p:txBody>
      </p:sp>
    </p:spTree>
    <p:extLst>
      <p:ext uri="{BB962C8B-B14F-4D97-AF65-F5344CB8AC3E}">
        <p14:creationId xmlns:p14="http://schemas.microsoft.com/office/powerpoint/2010/main" val="1142998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20C4C6-2F04-8EB8-9DCE-19682B9B971C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E6BBC-C1E7-08D6-0AFD-9C9EA98EE6AF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What the 147 automated tests check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97E1D-D62D-82FA-932E-BC994A3572C4}"/>
              </a:ext>
            </a:extLst>
          </p:cNvPr>
          <p:cNvSpPr txBox="1"/>
          <p:nvPr/>
        </p:nvSpPr>
        <p:spPr>
          <a:xfrm>
            <a:off x="609600" y="13716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115 database tests (pgTAP)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F59D42-EEB3-0464-C43D-2B61C2F91548}"/>
              </a:ext>
            </a:extLst>
          </p:cNvPr>
          <p:cNvSpPr txBox="1"/>
          <p:nvPr/>
        </p:nvSpPr>
        <p:spPr>
          <a:xfrm>
            <a:off x="609600" y="1854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Permissions and row-level security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28272C6-E711-0BEA-9E87-924C5B0F5F28}"/>
              </a:ext>
            </a:extLst>
          </p:cNvPr>
          <p:cNvSpPr/>
          <p:nvPr/>
        </p:nvSpPr>
        <p:spPr>
          <a:xfrm>
            <a:off x="4368800" y="1828800"/>
            <a:ext cx="2794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B2879D-5026-F7A7-9CBD-F5455813BB5D}"/>
              </a:ext>
            </a:extLst>
          </p:cNvPr>
          <p:cNvSpPr txBox="1"/>
          <p:nvPr/>
        </p:nvSpPr>
        <p:spPr>
          <a:xfrm>
            <a:off x="7239000" y="1854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49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5D97F4-94B4-EBBE-ED3F-EBCDE43D577B}"/>
              </a:ext>
            </a:extLst>
          </p:cNvPr>
          <p:cNvSpPr txBox="1"/>
          <p:nvPr/>
        </p:nvSpPr>
        <p:spPr>
          <a:xfrm>
            <a:off x="609600" y="2413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Location check-in and team readiness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C4C618-CBE5-6A9D-6656-7ACC7AB62AB9}"/>
              </a:ext>
            </a:extLst>
          </p:cNvPr>
          <p:cNvSpPr/>
          <p:nvPr/>
        </p:nvSpPr>
        <p:spPr>
          <a:xfrm>
            <a:off x="4368800" y="2387600"/>
            <a:ext cx="10287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00BE38-2CC8-2144-1795-EBFF54040958}"/>
              </a:ext>
            </a:extLst>
          </p:cNvPr>
          <p:cNvSpPr txBox="1"/>
          <p:nvPr/>
        </p:nvSpPr>
        <p:spPr>
          <a:xfrm>
            <a:off x="5473700" y="2413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B83806-C9CC-4248-7B6D-0555C8AE31B9}"/>
              </a:ext>
            </a:extLst>
          </p:cNvPr>
          <p:cNvSpPr txBox="1"/>
          <p:nvPr/>
        </p:nvSpPr>
        <p:spPr>
          <a:xfrm>
            <a:off x="609600" y="2971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Winner rotation: two wins, then rest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241A1C8-AD35-84BC-2941-F46ADEF7820E}"/>
              </a:ext>
            </a:extLst>
          </p:cNvPr>
          <p:cNvSpPr/>
          <p:nvPr/>
        </p:nvSpPr>
        <p:spPr>
          <a:xfrm>
            <a:off x="4368800" y="2946400"/>
            <a:ext cx="800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272240-9A29-8A9F-D04D-D2E83E6979D8}"/>
              </a:ext>
            </a:extLst>
          </p:cNvPr>
          <p:cNvSpPr txBox="1"/>
          <p:nvPr/>
        </p:nvSpPr>
        <p:spPr>
          <a:xfrm>
            <a:off x="5245100" y="2971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843008-F433-ACF1-383F-D53CBFD68E8A}"/>
              </a:ext>
            </a:extLst>
          </p:cNvPr>
          <p:cNvSpPr txBox="1"/>
          <p:nvPr/>
        </p:nvSpPr>
        <p:spPr>
          <a:xfrm>
            <a:off x="609600" y="35306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Requeue and repeated check-in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F00405A-FC3B-CEF5-44C6-4E9EDE699E39}"/>
              </a:ext>
            </a:extLst>
          </p:cNvPr>
          <p:cNvSpPr/>
          <p:nvPr/>
        </p:nvSpPr>
        <p:spPr>
          <a:xfrm>
            <a:off x="4368800" y="3505200"/>
            <a:ext cx="508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2062BE-85D8-5E54-BF35-371EBB51B1A8}"/>
              </a:ext>
            </a:extLst>
          </p:cNvPr>
          <p:cNvSpPr txBox="1"/>
          <p:nvPr/>
        </p:nvSpPr>
        <p:spPr>
          <a:xfrm>
            <a:off x="4953000" y="3530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1D9B4B-94F7-AAD0-894D-28A741C61863}"/>
              </a:ext>
            </a:extLst>
          </p:cNvPr>
          <p:cNvSpPr txBox="1"/>
          <p:nvPr/>
        </p:nvSpPr>
        <p:spPr>
          <a:xfrm>
            <a:off x="609600" y="40894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One court failing does not stop others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2883126-0537-3248-7654-39CF53CBF376}"/>
              </a:ext>
            </a:extLst>
          </p:cNvPr>
          <p:cNvSpPr/>
          <p:nvPr/>
        </p:nvSpPr>
        <p:spPr>
          <a:xfrm>
            <a:off x="4368800" y="40640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D1FA78-C9D9-7822-8623-EBE651D14EE1}"/>
              </a:ext>
            </a:extLst>
          </p:cNvPr>
          <p:cNvSpPr txBox="1"/>
          <p:nvPr/>
        </p:nvSpPr>
        <p:spPr>
          <a:xfrm>
            <a:off x="4902200" y="4089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DE8669-88D0-4B0C-64BE-DC2B4EF91FBC}"/>
              </a:ext>
            </a:extLst>
          </p:cNvPr>
          <p:cNvSpPr txBox="1"/>
          <p:nvPr/>
        </p:nvSpPr>
        <p:spPr>
          <a:xfrm>
            <a:off x="609600" y="4648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Challenger returns when the winner leaves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F07ABC4-656A-0230-4BD1-A37102CB64F1}"/>
              </a:ext>
            </a:extLst>
          </p:cNvPr>
          <p:cNvSpPr/>
          <p:nvPr/>
        </p:nvSpPr>
        <p:spPr>
          <a:xfrm>
            <a:off x="4368800" y="46228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D586B8-55D7-0161-CED1-22BD8FECB909}"/>
              </a:ext>
            </a:extLst>
          </p:cNvPr>
          <p:cNvSpPr txBox="1"/>
          <p:nvPr/>
        </p:nvSpPr>
        <p:spPr>
          <a:xfrm>
            <a:off x="4902200" y="4648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03F194-0C0B-CE16-D956-9E683E6FDE41}"/>
              </a:ext>
            </a:extLst>
          </p:cNvPr>
          <p:cNvSpPr txBox="1"/>
          <p:nvPr/>
        </p:nvSpPr>
        <p:spPr>
          <a:xfrm>
            <a:off x="609600" y="5207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Full flows: game, queue, teams, maintenance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034B839-A302-F014-ECC8-DEAED85805F7}"/>
              </a:ext>
            </a:extLst>
          </p:cNvPr>
          <p:cNvSpPr/>
          <p:nvPr/>
        </p:nvSpPr>
        <p:spPr>
          <a:xfrm>
            <a:off x="4368800" y="5181600"/>
            <a:ext cx="3429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ECD281-B46D-DACB-C74E-6CAC7D613841}"/>
              </a:ext>
            </a:extLst>
          </p:cNvPr>
          <p:cNvSpPr txBox="1"/>
          <p:nvPr/>
        </p:nvSpPr>
        <p:spPr>
          <a:xfrm>
            <a:off x="4787900" y="5207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1E6850-75F8-AD96-FABF-B039745AA7BD}"/>
              </a:ext>
            </a:extLst>
          </p:cNvPr>
          <p:cNvSpPr txBox="1"/>
          <p:nvPr/>
        </p:nvSpPr>
        <p:spPr>
          <a:xfrm>
            <a:off x="609600" y="5765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LINE outbox: claim, retry, expiry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5C41B76E-51F8-D41A-C076-3FD5B074FCB7}"/>
              </a:ext>
            </a:extLst>
          </p:cNvPr>
          <p:cNvSpPr/>
          <p:nvPr/>
        </p:nvSpPr>
        <p:spPr>
          <a:xfrm>
            <a:off x="4368800" y="5740400"/>
            <a:ext cx="165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74BEB0-0184-A9CF-D4C0-5518BC60403B}"/>
              </a:ext>
            </a:extLst>
          </p:cNvPr>
          <p:cNvSpPr txBox="1"/>
          <p:nvPr/>
        </p:nvSpPr>
        <p:spPr>
          <a:xfrm>
            <a:off x="4610100" y="5765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F3DF2E9-DD5B-44A7-9FFC-401AE756BF38}"/>
              </a:ext>
            </a:extLst>
          </p:cNvPr>
          <p:cNvSpPr/>
          <p:nvPr/>
        </p:nvSpPr>
        <p:spPr>
          <a:xfrm>
            <a:off x="7924800" y="1371600"/>
            <a:ext cx="3657600" cy="2794000"/>
          </a:xfrm>
          <a:prstGeom prst="roundRect">
            <a:avLst>
              <a:gd name="adj" fmla="val 6364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D85D4D-E23E-E9BD-CDE2-2929CEA592A6}"/>
              </a:ext>
            </a:extLst>
          </p:cNvPr>
          <p:cNvSpPr txBox="1"/>
          <p:nvPr/>
        </p:nvSpPr>
        <p:spPr>
          <a:xfrm>
            <a:off x="8178800" y="1574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32 unit tests (TypeScript)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0014B3-DACC-ECC3-916F-59E832C81AA9}"/>
              </a:ext>
            </a:extLst>
          </p:cNvPr>
          <p:cNvSpPr txBox="1"/>
          <p:nvPr/>
        </p:nvSpPr>
        <p:spPr>
          <a:xfrm>
            <a:off x="8178800" y="2006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Removed browser-side queue code stays removed; security headers (10)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LINE message text and recipients (5)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Administrator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Live refresh of court pages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Team location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Maintenance statistics (3)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Game lifecycle states (2)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AB57F1-6715-EC4D-58A1-1B82A394B5FF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All 147 run on every change in GitHub Actions; a change that fails any test cannot be merged.</a:t>
            </a:r>
          </a:p>
        </p:txBody>
      </p:sp>
    </p:spTree>
    <p:extLst>
      <p:ext uri="{BB962C8B-B14F-4D97-AF65-F5344CB8AC3E}">
        <p14:creationId xmlns:p14="http://schemas.microsoft.com/office/powerpoint/2010/main" val="1875129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F10409-8885-4550-1BF6-91A331DD404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8673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163077-B6AC-DA20-0993-1284D75C446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104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659BF0-34F5-0D1C-4EDB-7F0506DEB1B8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806FED-C63C-2BB3-DEBA-3C556EEBDC3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2C43C2-3840-842D-BDF4-B48A8F9884A6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432D250-4F78-8E8B-A03B-A394737698B4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2ECCAE-366C-ADFF-C9EE-16616EA77103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481490-FD5A-AC8A-018A-45D36616A293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BB5A35-BB28-500B-E98F-C78DFC4F4838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CD3BE3A-C4CA-E6D2-8C03-8807A6258240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1C57E5-F7B2-4ECC-5D69-C092ABF7B204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A6E11F-BB8F-B84C-1D4D-F4A347A0FA18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15C51F6-C3BE-E3BB-3F91-7034D08BD2F4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679FDA3-178D-2651-8CDF-B8B83A3FDB1C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88E9E1-9161-BC8E-E4CB-CE2AA071C42F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08B232-E9BC-1122-DCA7-67D39E382F15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FC12C88-4312-1ECF-2EF5-09786409AC04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2668049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1CDFD5-D571-1F70-4E1B-FC579FBB6DB2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92AE89-72CF-5AD9-E70E-727DE5D1E96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E6B2CF8-4A5E-FEE3-D74D-3F6CAF610284}"/>
              </a:ext>
            </a:extLst>
          </p:cNvPr>
          <p:cNvSpPr/>
          <p:nvPr/>
        </p:nvSpPr>
        <p:spPr>
          <a:xfrm>
            <a:off x="609600" y="1498600"/>
            <a:ext cx="3479800" cy="4445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2093F6-AB4A-2A1D-1C0D-4335A2663111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B832F2-4E2C-5D69-D8BF-43AA42D892EA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850C935-4A9E-0867-7F56-4C4EE0ACDF0C}"/>
              </a:ext>
            </a:extLst>
          </p:cNvPr>
          <p:cNvSpPr/>
          <p:nvPr/>
        </p:nvSpPr>
        <p:spPr>
          <a:xfrm>
            <a:off x="4356100" y="1498600"/>
            <a:ext cx="3479800" cy="4445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930B14-7D12-3334-5036-91E09CE5C8D4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4D2DE6-6946-8A78-5B70-5A18FC565558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67.5)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PDPA self-check: 3 of 8 duties fully met; data deletion and breach steps still missing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E40C03D-7267-89AF-F24A-686F551FFA19}"/>
              </a:ext>
            </a:extLst>
          </p:cNvPr>
          <p:cNvSpPr/>
          <p:nvPr/>
        </p:nvSpPr>
        <p:spPr>
          <a:xfrm>
            <a:off x="8102600" y="1498600"/>
            <a:ext cx="3479800" cy="4445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F97AFE-A3A9-9062-E6C9-753050D64F3A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4745F3-E1A7-46A8-3065-81F13880D601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28720300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FB6E1D-A55C-170F-973D-50B1C4AD4724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C24FBB-3449-D542-DFE9-5B2A28F526AF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6D99FA-650E-46AB-BB97-94B37BB9271C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8B7BE0-F0B9-EB02-3A38-D2C381A723B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386456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2448</Words>
  <Application>Microsoft Office PowerPoint</Application>
  <PresentationFormat>Custom</PresentationFormat>
  <Paragraphs>260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NUTTHAWUT WANMA</dc:creator>
  <cp:lastModifiedBy>NUTTHAWUT WANMA</cp:lastModifiedBy>
  <cp:revision>1</cp:revision>
  <dcterms:created xsi:type="dcterms:W3CDTF">2026-10-19T07:24:00Z</dcterms:created>
  <dcterms:modified xsi:type="dcterms:W3CDTF">2026-10-19T07:24:00Z</dcterms:modified>
</cp:coreProperties>
</file>