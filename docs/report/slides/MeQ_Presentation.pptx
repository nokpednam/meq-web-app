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E1DDF9-AF78-451C-A5C9-846E4592E8B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C33392-1F60-4105-8E00-8D4DCA3F76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16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สวัสดีครับ ผม ... วันนี้จะนำเสนอโปรเจกต์ </a:t>
            </a:r>
            <a:r>
              <a:rPr lang="en-US"/>
              <a:t>MeQ </a:t>
            </a:r>
            <a:r>
              <a:rPr lang="th-TH"/>
              <a:t>ระบบคิวสนามบาสและแจ้งซ่อมของมหาวิทยาลัยนเรศวร (20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3392-1F60-4105-8E00-8D4DCA3F76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2020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ตอนเย็นทีมที่มารอมีมากกว่าจำนวนสนาม คิวมีอยู่แค่ในความจำของผู้เล่น ทีมที่มาใหม่ต้องถามว่าใครต่อคิวท้ายสุด ทุกคนมองไม่เห็นลำดับ และไม่มีอะไรบังคับให้เป็นไปตามลำดับ เลยทะเลาะกันบ่อย งานวิจัยเรื่องคิวบอกว่าความยุติธรรมที่ผู้คนมองเห็นสำคัญพอ ๆ กับเวลาที่ต้องรอ อีกปัญหาหนึ่งคืออุปกรณ์เสียแล้วไม่มีช่องทางแจ้ง ระบบจองของมหาวิทยาลัยมีอยู่แล้ว แต่ใช้สำหรับจองล่วงหน้า ไม่ได้รองรับคนที่เดินมาเล่น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3392-1F60-4105-8E00-8D4DCA3F76E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6397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คำถามหลักคือ คิวที่ฐานข้อมูลเป็นคนบังคับกติกา บวกกับการแจ้งเตือนผ่าน </a:t>
            </a:r>
            <a:r>
              <a:rPr lang="en-US"/>
              <a:t>LINE </a:t>
            </a:r>
            <a:r>
              <a:rPr lang="th-TH"/>
              <a:t>จะใช้แทนการต่อคิวแบบปากต่อปากได้ไหม ผมแบ่งเป็นวัตถุประสงค์ 4 ข้อ และตั้งเกณฑ์วัดผล 7 ตัวไว้ก่อนเริ่มวัดผล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3392-1F60-4105-8E00-8D4DCA3F76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9944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MeQ </a:t>
            </a:r>
            <a:r>
              <a:rPr lang="th-TH"/>
              <a:t>เป็นเว็บแอปที่เปิดบนมือถือ ไม่ต้องติดตั้ง ผู้ใช้ล็อกอินด้วย </a:t>
            </a:r>
            <a:r>
              <a:rPr lang="en-US"/>
              <a:t>LINE </a:t>
            </a:r>
            <a:r>
              <a:rPr lang="th-TH"/>
              <a:t>สร้างทีม เชิญเพื่อน แล้วเข้าคิวสนามที่ต้องการ เมื่อถึงคิว ระบบเรียกทีมและแจ้งเตือนผ่าน </a:t>
            </a:r>
            <a:r>
              <a:rPr lang="en-US"/>
              <a:t>LINE </a:t>
            </a:r>
            <a:r>
              <a:rPr lang="th-TH"/>
              <a:t>ทุกคนในทีมต้องเช็กอินที่สนาม พอเล่นจบ ทั้งสองทีมส่งคะแนน ระบบตรวจว่าคะแนนตรงกันแล้วบันทึกลงสถิติ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3392-1F60-4105-8E00-8D4DCA3F76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2540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กติกาเหล่านี้เป็นกติกาที่ผู้เล่นใช้กันอยู่แล้วที่สนาม ผมแค่เอามาให้ระบบบังคับใช้แทนคน ที่ผู้เล่นสนใจที่สุดคือข้อทีมชนะอยู่ต่อได้ 2 เกมแล้วต้องพัก เพื่อไม่ให้ทีมเก่งทีมเดียวครองสนามทั้งคืน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3392-1F60-4105-8E00-8D4DCA3F76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7657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ผู้เล่นถ่ายรูปจุดที่เสียแล้วส่งรายงาน แอดมินได้รับแจ้งเตือนผ่าน </a:t>
            </a:r>
            <a:r>
              <a:rPr lang="en-US"/>
              <a:t>LINE </a:t>
            </a:r>
            <a:r>
              <a:rPr lang="th-TH"/>
              <a:t>ทันที ทุกครั้งที่สถานะเปลี่ยน ผู้แจ้งได้รับแจ้งเตือน และระบบเก็บประวัติไว้ทุกขั้น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3392-1F60-4105-8E00-8D4DCA3F76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6009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หน้าเว็บทำด้วย </a:t>
            </a:r>
            <a:r>
              <a:rPr lang="en-US"/>
              <a:t>Next.js </a:t>
            </a:r>
            <a:r>
              <a:rPr lang="th-TH"/>
              <a:t>และ </a:t>
            </a:r>
            <a:r>
              <a:rPr lang="en-US"/>
              <a:t>deploy </a:t>
            </a:r>
            <a:r>
              <a:rPr lang="th-TH"/>
              <a:t>บน </a:t>
            </a:r>
            <a:r>
              <a:rPr lang="en-US"/>
              <a:t>Vercel </a:t>
            </a:r>
            <a:r>
              <a:rPr lang="th-TH"/>
              <a:t>ฝั่งหลังบ้านใช้ </a:t>
            </a:r>
            <a:r>
              <a:rPr lang="en-US"/>
              <a:t>Supabase </a:t>
            </a:r>
            <a:r>
              <a:rPr lang="th-TH"/>
              <a:t>ซึ่งมีฐานข้อมูล </a:t>
            </a:r>
            <a:r>
              <a:rPr lang="en-US"/>
              <a:t>PostgreSQL </a:t>
            </a:r>
            <a:r>
              <a:rPr lang="th-TH"/>
              <a:t>ระบบล็อกอิน และที่เก็บรูป การแจ้งเตือนส่งผ่าน </a:t>
            </a:r>
            <a:r>
              <a:rPr lang="en-US"/>
              <a:t>LINE Messaging API </a:t>
            </a:r>
            <a:r>
              <a:rPr lang="th-TH"/>
              <a:t>ทั้งหมดใช้บริการแบบฟรี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3392-1F60-4105-8E00-8D4DCA3F76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8038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นี่คือหัวใจของงาน ถ้าให้หน้าเว็บเป็นคนตัดสินกติกา คนที่รู้วิธีก็โกงได้ หรือถ้าสองทีมกดเข้าคิวพร้อมกันก็อาจได้คิวซ้อนกัน ผมจึงให้ฐานข้อมูลเป็นกรรมการ ทุกการเปลี่ยนแปลงต้องผ่านฟังก์ชันที่ตรวจสิทธิ์และกติกาภายใน </a:t>
            </a:r>
            <a:r>
              <a:rPr lang="en-US"/>
              <a:t>transaction </a:t>
            </a:r>
            <a:r>
              <a:rPr lang="th-TH"/>
              <a:t>ตำแหน่ง </a:t>
            </a:r>
            <a:r>
              <a:rPr lang="en-US"/>
              <a:t>GPS </a:t>
            </a:r>
            <a:r>
              <a:rPr lang="th-TH"/>
              <a:t>ก็คำนวณระยะทางที่เซิร์ฟเวอร์ ไม่เชื่อค่าที่หน้าเว็บส่งมาว่าอยู่ในระยะ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3392-1F60-4105-8E00-8D4DCA3F76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7484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ผมพัฒนาแบบสร้าง ทดสอบ แล้วปรับปรุง ทุกครั้งที่แก้โค้ด </a:t>
            </a:r>
            <a:r>
              <a:rPr lang="en-US"/>
              <a:t>GitHub </a:t>
            </a:r>
            <a:r>
              <a:rPr lang="th-TH"/>
              <a:t>จะรันเทสอัตโนมัติ 147 ข้อ ถ้าข้อไหนไม่ผ่านจะ </a:t>
            </a:r>
            <a:r>
              <a:rPr lang="en-US"/>
              <a:t>merge </a:t>
            </a:r>
            <a:r>
              <a:rPr lang="th-TH"/>
              <a:t>ไม่ได้ และบั๊กที่เจอจากการทดสอบที่สนามจริง แก้แล้วจะเขียนเทสเพิ่มเพื่อไม่ให้บั๊กนั้นกลับมาอีก (50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3392-1F60-4105-8E00-8D4DCA3F76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3164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เล่าทีละขั้นตามภาพ (1) หัวหน้าทีมกดเข้าคิวที่หน้าสนาม เห็นลำดับของตัวเองทันที (2) เมื่อถึงคิว ระบบส่ง </a:t>
            </a:r>
            <a:r>
              <a:rPr lang="en-US"/>
              <a:t>LINE </a:t>
            </a:r>
            <a:r>
              <a:rPr lang="th-TH"/>
              <a:t>ไปที่หัวหน้าทีม ไม่ต้องยืนรอที่สนาม (ภาพนี้เป็นตัวอย่างข้อความ </a:t>
            </a:r>
            <a:r>
              <a:rPr lang="en-US"/>
              <a:t>LINE </a:t>
            </a:r>
            <a:r>
              <a:rPr lang="th-TH"/>
              <a:t>จากระบบ) (3) สมาชิกทุกคนกดยืนยันตำแหน่ง เซิร์ฟเวอร์คำนวณระยะ แล้วหัวหน้ากดยืนยันทีมพร้อม (4) เล่นจบ แต่ละทีมกรอกคะแนนของผู้เล่นตัวเอง ระบบตรวจว่าตรงกัน (5) ระบบสรุปผล ทีมชนะเลือกเล่นต่อ ทีมแพ้เลือกต่อคิวใหม่ภายใน 3 นาที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3392-1F60-4105-8E00-8D4DCA3F76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794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วันที่ 17 ต.ค. ผมพาผู้เล่น 13 คน 4 ทีม มาใช้ระบบจริงที่สนาม ตั้งแต่ 5 โมงครึ่งถึง 6 โมงครึ่ง ตามแผนจะเทสที่สนามในร่ม แต่วันนั้นกำลังซ่อมไฟสนาม ไม่มีไฟ คนเลยไม่มาเล่น ผมจึงย้ายไปเทสที่สนามคณะวิทยาศาสตร์ซึ่งมีสนามเดียว เล่นแบบ 3</a:t>
            </a:r>
            <a:r>
              <a:rPr lang="en-US"/>
              <a:t>x3 </a:t>
            </a:r>
            <a:r>
              <a:rPr lang="th-TH"/>
              <a:t>ตอนแรกเช็กอินไม่ผ่านเพราะพิกัดในระบบยังชี้ไปที่สนามในร่ม ผมตั้งพิกัดใหม่ที่สนามนั้นทันที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3392-1F60-4105-8E00-8D4DCA3F76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3072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ทุกเกณฑ์ตั้งไว้ก่อนวัดผล ผลออกมาผ่าน 6 จาก 7 ตัว ตัวที่ไม่ผ่านคือ </a:t>
            </a:r>
            <a:r>
              <a:rPr lang="en-US"/>
              <a:t>SUS </a:t>
            </a:r>
            <a:r>
              <a:rPr lang="th-TH"/>
              <a:t>ได้ 67.5 จากผู้เล่น 13 คน ต่ำกว่าเกณฑ์ 68 อยู่ 0.5 คะแนน ถือว่าก้ำกึ่ง ข้อที่ได้คะแนนน้อยคือต้องมีคนช่วยตอนใช้ครั้งแรก โดยเฉพาะ </a:t>
            </a:r>
            <a:r>
              <a:rPr lang="en-US"/>
              <a:t>KPI-1 </a:t>
            </a:r>
            <a:r>
              <a:rPr lang="th-TH"/>
              <a:t>ที่จำลองผู้ใช้ 50 คนกดเข้าออกคิวพร้อมกัน ไม่มีครั้งไหนที่คิวผิดกติกาเลย และมีการกดเข้าคิวซ้ำพร้อมกัน 533 ครั้ง ระบบไม่ยอมรับแม้แต่ครั้งเดียว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3392-1F60-4105-8E00-8D4DCA3F76E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0893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สิ่งที่ได้เรียนรู้มากที่สุดคือ เทสอัตโนมัติผ่านหมดก็ยังไม่พอ ต้องให้คนจริงใช้จริง บั๊กที่ร้ายแรงที่สุดเจอจากการทดสอบที่สนาม รวมทั้งหมดเจอข้อบกพร่องในโค้ด 11 จุด แก้ครบและเพิ่มเทสทุกครั้ง และปัญหาการตั้งค่าพิกัด 1 จุดที่แก้ที่สนาม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3392-1F60-4105-8E00-8D4DCA3F76E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4175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ข้อจำกัดที่ตอบตรง ๆ ได้คือ ถ้ามีคนปลอม </a:t>
            </a:r>
            <a:r>
              <a:rPr lang="en-US"/>
              <a:t>GPS </a:t>
            </a:r>
            <a:r>
              <a:rPr lang="th-TH"/>
              <a:t>ระบบตรวจไม่ได้ และคะแนนเป็นค่าที่ผู้เล่นกรอกเอง ระบบตรวจได้แค่ว่าสองทีมกรอกตรงกัน งานต่อยอดคือขยายไปสนามกีฬาอื่น และใช้ </a:t>
            </a:r>
            <a:r>
              <a:rPr lang="en-US"/>
              <a:t>QR code </a:t>
            </a:r>
            <a:r>
              <a:rPr lang="th-TH"/>
              <a:t>ที่สนามเพื่อยืนยันว่ามาจริง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3392-1F60-4105-8E00-8D4DCA3F76E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012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ขอบคุณครับ ยินดีตอบคำถามครับ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3392-1F60-4105-8E00-8D4DCA3F76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5694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F3708-C9D6-D2CC-33AE-14AD8793F5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62F763-E2F0-7501-CE8C-E7CD8E8205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D2AFF7-89F8-B970-293F-774856249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8619E-C7CC-4CA0-A55E-A289553764A8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48B84-42BE-FB54-8A66-732BADAEE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F77B6-2B47-AD64-AFC6-E9B1A56D4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99E6F-A33E-42C4-B02B-61A6F72AE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9137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4EE0A-B3FA-BC2F-72CF-8B6E8DFC3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A1A0FD-D085-49C3-8CD1-29BB5D990C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F77010-3F96-0FDC-3B9F-19C561E16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8619E-C7CC-4CA0-A55E-A289553764A8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EEF727-AB52-07B4-B1A5-ED77C1DE5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9CD3C8-F0A1-3DE1-5B12-72EFB2940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99E6F-A33E-42C4-B02B-61A6F72AE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558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98DC6-0AF8-4AE9-AD2C-4FB2B9A81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498F4F-7DC9-40B6-0B76-C12DAF2488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CA237A-BBBD-1F7B-80B2-858D23556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8619E-C7CC-4CA0-A55E-A289553764A8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2E4CB7-D8CB-AEDA-03E7-2DFA91F60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66AB4-3396-99E8-8498-076591A95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99E6F-A33E-42C4-B02B-61A6F72AE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807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A12C1-EF72-4308-B536-84BF7973C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963AC-633E-FDFF-C356-755AB6499F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9DAB82-0822-B3FE-A5F6-17FED712F2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DEF380-D6A5-47BE-1158-1E324D498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8619E-C7CC-4CA0-A55E-A289553764A8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EE3FF1-4E0F-EE95-451F-788E74A83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0584E5-E5D2-5BCF-CABB-3F74C304E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99E6F-A33E-42C4-B02B-61A6F72AE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704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B240D-567D-15A1-6051-9E7AAB2DA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012886-DC07-F1F4-A27B-801921DB55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B56FB6-D360-CA92-42E0-0F1447A0BC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E96387-0DA4-D02C-F207-AF2D6D2966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F10C82-9DF6-B641-AAC2-A610D8F6B5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69713A-E07F-2E67-C5DA-C6271AC8E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8619E-C7CC-4CA0-A55E-A289553764A8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F9B58A-B2E2-7C6F-9966-78F274A07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950737-08D8-632A-7D82-1F82AF7D9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99E6F-A33E-42C4-B02B-61A6F72AE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26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BA180-E636-7303-E59F-6AAEA4E28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36418E-72DB-AFA8-EF85-DF573A8E9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8619E-C7CC-4CA0-A55E-A289553764A8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DC3019-7C48-7FC2-3E25-9B7C9F11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74FA9-29D7-269A-B0E4-E6E1AA0B9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99E6F-A33E-42C4-B02B-61A6F72AE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2298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946F7B-195F-36C0-E079-E27B30A9E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8619E-C7CC-4CA0-A55E-A289553764A8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A59683-179D-84E1-B316-A1B286EFA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C6303C-54A4-9758-47B7-FAD55CBD2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99E6F-A33E-42C4-B02B-61A6F72AE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319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5C21E-5E9E-087D-FF5D-70553A0B6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F7AD3-2BF0-8DCF-B1E3-35001FACE5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E30990-2493-A686-0879-4838450E2B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FCCC34-8C7D-F606-7677-5CE83577B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8619E-C7CC-4CA0-A55E-A289553764A8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256C4D-2059-D396-CCB7-A46DAAD72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92A7F-2555-7FC5-1F7D-129AB7565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99E6F-A33E-42C4-B02B-61A6F72AE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686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9453F-82BD-9D76-FFF2-F6E17BA4C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8AA7A7-7505-B651-F550-2B28535507B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20AE6E-5DFB-903A-E8F9-59A9C439B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09679-3452-6498-37F2-D1851CCBC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8619E-C7CC-4CA0-A55E-A289553764A8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67A18B-2F6C-9ABA-D695-0C5FFDC8B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D52625-0077-4194-105B-087964A42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99E6F-A33E-42C4-B02B-61A6F72AE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915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3261E-9DA5-4979-48CE-03EAE2C06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DBA2A0-26A2-5739-AD2B-A5DF618B54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CED08B-ADDE-4E60-85E7-A508A99A1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8619E-C7CC-4CA0-A55E-A289553764A8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C3944-184E-A64D-7FA9-5B793F983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0D1A1B-519A-8D31-540B-D0BF05B4C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99E6F-A33E-42C4-B02B-61A6F72AE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070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1C4AC3-2686-D58A-1B06-3CE4205D8C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F8DDCF-FCC0-6086-332B-E1D3D1CC3C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E19A67-8D5C-609B-8ABE-4F63D63F3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8619E-C7CC-4CA0-A55E-A289553764A8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EA5B32-0942-5411-18DB-88D56124A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8CA3D-6C8F-D2A7-2480-97391848A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99E6F-A33E-42C4-B02B-61A6F72AE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961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5BC0C5-71F0-CE47-245C-BA6802372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7DF370-10B3-7966-6695-9BE6B6B557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EB823-EA59-CEE5-57BB-F90253170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38619E-C7CC-4CA0-A55E-A289553764A8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2B603-C087-82EA-3301-EB7F0D526C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D3AD97-8AE7-3562-52FF-792E660CC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899E6F-A33E-42C4-B02B-61A6F72AE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623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jpg"/><Relationship Id="rId4" Type="http://schemas.openxmlformats.org/officeDocument/2006/relationships/image" Target="../media/image16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C6F5C4-417F-C512-9AAC-169B1F475884}"/>
              </a:ext>
            </a:extLst>
          </p:cNvPr>
          <p:cNvSpPr txBox="1"/>
          <p:nvPr/>
        </p:nvSpPr>
        <p:spPr>
          <a:xfrm>
            <a:off x="609600" y="15240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FINAL-YEAR PROJECT · COMPUTER SCIENCE · NARESUAN UNIVERSITY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D9C183-CC67-F6C4-A403-58A6EFB2D33D}"/>
              </a:ext>
            </a:extLst>
          </p:cNvPr>
          <p:cNvSpPr txBox="1"/>
          <p:nvPr/>
        </p:nvSpPr>
        <p:spPr>
          <a:xfrm>
            <a:off x="609600" y="18542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200" b="1">
                <a:solidFill>
                  <a:srgbClr val="FFFFFF"/>
                </a:solidFill>
                <a:latin typeface="Arial" panose="020B0604020202020204" pitchFamily="34" charset="0"/>
              </a:rPr>
              <a:t>MeQ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DA8E1C-A5EE-4674-3122-3240297C4932}"/>
              </a:ext>
            </a:extLst>
          </p:cNvPr>
          <p:cNvSpPr txBox="1"/>
          <p:nvPr/>
        </p:nvSpPr>
        <p:spPr>
          <a:xfrm>
            <a:off x="609600" y="30480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Arial" panose="020B0604020202020204" pitchFamily="34" charset="0"/>
              </a:rPr>
              <a:t>A mobile web application for basketball court queues and maintenance reports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257EC-FA19-09FF-8CFD-03C7CDEDFC8D}"/>
              </a:ext>
            </a:extLst>
          </p:cNvPr>
          <p:cNvSpPr txBox="1"/>
          <p:nvPr/>
        </p:nvSpPr>
        <p:spPr>
          <a:xfrm>
            <a:off x="609600" y="4724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[Your name] · [Student ID]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Advisor: [Advisor name]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2026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9EEA90-69DB-7A24-73D9-7010689E3BF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ACC483-A4F1-BD8C-2107-83941AA731A8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8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29756534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87BB8C-E307-F9CD-5260-DF6DAF0A48B4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385AB8-654C-8427-BD40-6A872CCE886B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No one can see the queue, and no one can enforce 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B00F36-2C95-87AA-AC9A-FDDEBA3FF928}"/>
              </a:ext>
            </a:extLst>
          </p:cNvPr>
          <p:cNvSpPr txBox="1"/>
          <p:nvPr/>
        </p:nvSpPr>
        <p:spPr>
          <a:xfrm>
            <a:off x="609600" y="15875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3 courts (3x3 A, 3x3 B, 5x5), free walk-in play, crowded every evening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queue lives only in players' memory: "Who is last?"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No one can see the order or enforce it, so disputes follow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Broken hoops and lights go unreported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NU sports booking system handles reservations, not walk-in queues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06F10F-2546-AA16-E97A-D1377074F9D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1778000"/>
            <a:ext cx="5232400" cy="28194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9E8234-7687-D34E-5239-1C89A3745398}"/>
              </a:ext>
            </a:extLst>
          </p:cNvPr>
          <p:cNvSpPr txBox="1"/>
          <p:nvPr/>
        </p:nvSpPr>
        <p:spPr>
          <a:xfrm>
            <a:off x="6350000" y="4724400"/>
            <a:ext cx="523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The official NU sports page handles reservations, not walk-in play</a:t>
            </a:r>
          </a:p>
        </p:txBody>
      </p:sp>
    </p:spTree>
    <p:extLst>
      <p:ext uri="{BB962C8B-B14F-4D97-AF65-F5344CB8AC3E}">
        <p14:creationId xmlns:p14="http://schemas.microsoft.com/office/powerpoint/2010/main" val="2917388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0BDA68-F87D-5406-5575-DB9CC7F6932D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71CE6F-7DEF-6F6D-DA88-30D84ABCD66A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Research question and objectives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FAC4DC4-9263-3507-0828-9444C5BA1B5B}"/>
              </a:ext>
            </a:extLst>
          </p:cNvPr>
          <p:cNvSpPr/>
          <p:nvPr/>
        </p:nvSpPr>
        <p:spPr>
          <a:xfrm>
            <a:off x="609600" y="14224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Ins="304800" rtlCol="0" anchor="ctr"/>
          <a:lstStyle/>
          <a:p>
            <a:r>
              <a:rPr lang="en-US" sz="2000" i="1">
                <a:solidFill>
                  <a:srgbClr val="1E2430"/>
                </a:solidFill>
                <a:latin typeface="Arial" panose="020B0604020202020204" pitchFamily="34" charset="0"/>
              </a:rPr>
              <a:t>Can a queue whose rules are enforced by the database, together with push notifications, replace word-of-mouth queuing?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C340A89-5F2C-C119-007B-75A1D2D621F1}"/>
              </a:ext>
            </a:extLst>
          </p:cNvPr>
          <p:cNvSpPr/>
          <p:nvPr/>
        </p:nvSpPr>
        <p:spPr>
          <a:xfrm>
            <a:off x="609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F867A1E-97AD-4B31-E3BE-2F3CCA0BE706}"/>
              </a:ext>
            </a:extLst>
          </p:cNvPr>
          <p:cNvSpPr/>
          <p:nvPr/>
        </p:nvSpPr>
        <p:spPr>
          <a:xfrm>
            <a:off x="863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478671-1F58-36DA-C180-9DAE70355CBF}"/>
              </a:ext>
            </a:extLst>
          </p:cNvPr>
          <p:cNvSpPr txBox="1"/>
          <p:nvPr/>
        </p:nvSpPr>
        <p:spPr>
          <a:xfrm>
            <a:off x="863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B8E18C-6BFC-B5DD-8215-1B059B98A059}"/>
              </a:ext>
            </a:extLst>
          </p:cNvPr>
          <p:cNvSpPr txBox="1"/>
          <p:nvPr/>
        </p:nvSpPr>
        <p:spPr>
          <a:xfrm>
            <a:off x="863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Show every court's queue and enforce the court rules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A18D41B-8ECA-7C72-329E-C8F904C6023D}"/>
              </a:ext>
            </a:extLst>
          </p:cNvPr>
          <p:cNvSpPr/>
          <p:nvPr/>
        </p:nvSpPr>
        <p:spPr>
          <a:xfrm>
            <a:off x="3403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6A0764C-358F-BAA8-2D0B-566CAFB57FBD}"/>
              </a:ext>
            </a:extLst>
          </p:cNvPr>
          <p:cNvSpPr/>
          <p:nvPr/>
        </p:nvSpPr>
        <p:spPr>
          <a:xfrm>
            <a:off x="3657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96BACD-CB6D-EB2B-43BE-D50357A5C534}"/>
              </a:ext>
            </a:extLst>
          </p:cNvPr>
          <p:cNvSpPr txBox="1"/>
          <p:nvPr/>
        </p:nvSpPr>
        <p:spPr>
          <a:xfrm>
            <a:off x="3657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Presence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3082F3-22C2-D2E2-AAE4-CEDE61324F0A}"/>
              </a:ext>
            </a:extLst>
          </p:cNvPr>
          <p:cNvSpPr txBox="1"/>
          <p:nvPr/>
        </p:nvSpPr>
        <p:spPr>
          <a:xfrm>
            <a:off x="3657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Verify that teams are at the court, with GPS checked on the server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60AC6C1-EC63-B7A6-919F-A8F8C151BFC2}"/>
              </a:ext>
            </a:extLst>
          </p:cNvPr>
          <p:cNvSpPr/>
          <p:nvPr/>
        </p:nvSpPr>
        <p:spPr>
          <a:xfrm>
            <a:off x="6197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6ED3079-8B90-6901-CF49-ACF77A38D253}"/>
              </a:ext>
            </a:extLst>
          </p:cNvPr>
          <p:cNvSpPr/>
          <p:nvPr/>
        </p:nvSpPr>
        <p:spPr>
          <a:xfrm>
            <a:off x="6451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45635C-2A51-E346-6646-62A772D4B6D3}"/>
              </a:ext>
            </a:extLst>
          </p:cNvPr>
          <p:cNvSpPr txBox="1"/>
          <p:nvPr/>
        </p:nvSpPr>
        <p:spPr>
          <a:xfrm>
            <a:off x="6451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Maintenance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BA017B-D2F2-495F-977E-B5CC651557B9}"/>
              </a:ext>
            </a:extLst>
          </p:cNvPr>
          <p:cNvSpPr txBox="1"/>
          <p:nvPr/>
        </p:nvSpPr>
        <p:spPr>
          <a:xfrm>
            <a:off x="6451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Reports with photos, tracked to resolution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6B7F589-1B84-FE97-9EC8-8E3E2469BC30}"/>
              </a:ext>
            </a:extLst>
          </p:cNvPr>
          <p:cNvSpPr/>
          <p:nvPr/>
        </p:nvSpPr>
        <p:spPr>
          <a:xfrm>
            <a:off x="8991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1124123-ECEF-040A-9055-E437F225F965}"/>
              </a:ext>
            </a:extLst>
          </p:cNvPr>
          <p:cNvSpPr/>
          <p:nvPr/>
        </p:nvSpPr>
        <p:spPr>
          <a:xfrm>
            <a:off x="9245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769AA0-312F-05F8-1BAF-70C09C56CD70}"/>
              </a:ext>
            </a:extLst>
          </p:cNvPr>
          <p:cNvSpPr txBox="1"/>
          <p:nvPr/>
        </p:nvSpPr>
        <p:spPr>
          <a:xfrm>
            <a:off x="9245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Notify, evaluate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A35086-C736-6AB3-81FF-C52DAD1297CA}"/>
              </a:ext>
            </a:extLst>
          </p:cNvPr>
          <p:cNvSpPr txBox="1"/>
          <p:nvPr/>
        </p:nvSpPr>
        <p:spPr>
          <a:xfrm>
            <a:off x="9245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LINE notifications and 7 KPIs fixed before measuring</a:t>
            </a:r>
          </a:p>
        </p:txBody>
      </p:sp>
    </p:spTree>
    <p:extLst>
      <p:ext uri="{BB962C8B-B14F-4D97-AF65-F5344CB8AC3E}">
        <p14:creationId xmlns:p14="http://schemas.microsoft.com/office/powerpoint/2010/main" val="1316335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E1BBC3-EF33-3D37-6814-D485E186645E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2E3BDF-957F-5DFD-E507-63F12AC41567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MeQ in one picture: from sign-in to statistics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BE6F22-ADC4-52CB-544A-FCD29AB5FCB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03795953-0E96-04AC-5386-214118344DED}"/>
              </a:ext>
            </a:extLst>
          </p:cNvPr>
          <p:cNvSpPr/>
          <p:nvPr/>
        </p:nvSpPr>
        <p:spPr>
          <a:xfrm>
            <a:off x="6096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74DE51-F3E2-4504-A343-FFFD15138FB2}"/>
              </a:ext>
            </a:extLst>
          </p:cNvPr>
          <p:cNvSpPr txBox="1"/>
          <p:nvPr/>
        </p:nvSpPr>
        <p:spPr>
          <a:xfrm>
            <a:off x="10668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Sign in with LINE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EB19FFC-B625-8524-F123-6E62CD5F8E1F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3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49D0FA64-A9B2-B435-488D-3045ED726DFE}"/>
              </a:ext>
            </a:extLst>
          </p:cNvPr>
          <p:cNvSpPr/>
          <p:nvPr/>
        </p:nvSpPr>
        <p:spPr>
          <a:xfrm>
            <a:off x="28829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60239C-FFA0-D9F7-3F6F-F684560D0BDF}"/>
              </a:ext>
            </a:extLst>
          </p:cNvPr>
          <p:cNvSpPr txBox="1"/>
          <p:nvPr/>
        </p:nvSpPr>
        <p:spPr>
          <a:xfrm>
            <a:off x="33401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Create a team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9F95682-F60B-A3E6-2101-2E0C08A1FDB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510F24A1-AC7D-7194-969A-D62BD76FD240}"/>
              </a:ext>
            </a:extLst>
          </p:cNvPr>
          <p:cNvSpPr/>
          <p:nvPr/>
        </p:nvSpPr>
        <p:spPr>
          <a:xfrm>
            <a:off x="51562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87F10A-EF74-0D74-1AD0-D59B46AA23A2}"/>
              </a:ext>
            </a:extLst>
          </p:cNvPr>
          <p:cNvSpPr txBox="1"/>
          <p:nvPr/>
        </p:nvSpPr>
        <p:spPr>
          <a:xfrm>
            <a:off x="56134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Join a court queue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970D223-BBDF-9E2D-2AEB-09EFEAC6651B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49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CB6320AE-E98A-A42E-D4C2-A46EAFCF8C3E}"/>
              </a:ext>
            </a:extLst>
          </p:cNvPr>
          <p:cNvSpPr/>
          <p:nvPr/>
        </p:nvSpPr>
        <p:spPr>
          <a:xfrm>
            <a:off x="74295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F5D905-5A1B-55DA-6A62-E8A3BB6F9987}"/>
              </a:ext>
            </a:extLst>
          </p:cNvPr>
          <p:cNvSpPr txBox="1"/>
          <p:nvPr/>
        </p:nvSpPr>
        <p:spPr>
          <a:xfrm>
            <a:off x="78867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F0198F9-B153-2AA5-BCE1-135ED254C5A8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2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37860E7F-4C0E-A0C2-4985-D0714408C4D2}"/>
              </a:ext>
            </a:extLst>
          </p:cNvPr>
          <p:cNvSpPr/>
          <p:nvPr/>
        </p:nvSpPr>
        <p:spPr>
          <a:xfrm>
            <a:off x="97028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46AC69B-05F1-FA6F-8352-E01E6DCA3C84}"/>
              </a:ext>
            </a:extLst>
          </p:cNvPr>
          <p:cNvSpPr txBox="1"/>
          <p:nvPr/>
        </p:nvSpPr>
        <p:spPr>
          <a:xfrm>
            <a:off x="101600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Result and statistics</a:t>
            </a:r>
          </a:p>
        </p:txBody>
      </p:sp>
    </p:spTree>
    <p:extLst>
      <p:ext uri="{BB962C8B-B14F-4D97-AF65-F5344CB8AC3E}">
        <p14:creationId xmlns:p14="http://schemas.microsoft.com/office/powerpoint/2010/main" val="868246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2C04E3-B4CE-C08D-FD74-65778A3C9EDF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FA30FF-C240-3D3D-56D0-325104305BB9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court rules, enforced by the system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F2E1052-1046-511B-EC0F-8E4ECB99A8AA}"/>
              </a:ext>
            </a:extLst>
          </p:cNvPr>
          <p:cNvSpPr/>
          <p:nvPr/>
        </p:nvSpPr>
        <p:spPr>
          <a:xfrm>
            <a:off x="609600" y="1498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1AD0D5-DE9B-803E-D76A-08D590C19EA4}"/>
              </a:ext>
            </a:extLst>
          </p:cNvPr>
          <p:cNvSpPr txBox="1"/>
          <p:nvPr/>
        </p:nvSpPr>
        <p:spPr>
          <a:xfrm>
            <a:off x="1270000" y="1473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Full roster only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3x3 needs 3 players; 5x5 needs 5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46A7CF1-FC27-D2DD-1F55-47CC7C628157}"/>
              </a:ext>
            </a:extLst>
          </p:cNvPr>
          <p:cNvSpPr/>
          <p:nvPr/>
        </p:nvSpPr>
        <p:spPr>
          <a:xfrm>
            <a:off x="609600" y="24638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D9D10B-8BBF-D02F-C95F-BB30CAE163F3}"/>
              </a:ext>
            </a:extLst>
          </p:cNvPr>
          <p:cNvSpPr txBox="1"/>
          <p:nvPr/>
        </p:nvSpPr>
        <p:spPr>
          <a:xfrm>
            <a:off x="1270000" y="2438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One team, one queue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player belongs to one team; a team waits in one queue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AABFE53-FD58-52E2-16BF-AB8EE7DF28A9}"/>
              </a:ext>
            </a:extLst>
          </p:cNvPr>
          <p:cNvSpPr/>
          <p:nvPr/>
        </p:nvSpPr>
        <p:spPr>
          <a:xfrm>
            <a:off x="609600" y="34290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0A5028-FA35-677F-0721-B1A688D5EED2}"/>
              </a:ext>
            </a:extLst>
          </p:cNvPr>
          <p:cNvSpPr txBox="1"/>
          <p:nvPr/>
        </p:nvSpPr>
        <p:spPr>
          <a:xfrm>
            <a:off x="1270000" y="34036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Check-in deadline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called team must check in at the court in time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995B84C-47B5-AC9F-EE58-71986BF54872}"/>
              </a:ext>
            </a:extLst>
          </p:cNvPr>
          <p:cNvSpPr/>
          <p:nvPr/>
        </p:nvSpPr>
        <p:spPr>
          <a:xfrm>
            <a:off x="609600" y="43942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65B300-ADFF-1E78-16CA-FF72C9D73435}"/>
              </a:ext>
            </a:extLst>
          </p:cNvPr>
          <p:cNvSpPr txBox="1"/>
          <p:nvPr/>
        </p:nvSpPr>
        <p:spPr>
          <a:xfrm>
            <a:off x="1270000" y="43688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Winners stay for 2 games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Then rest 1 game; losers have 3 minutes to requeue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AF516F7-CF37-371E-BC1A-A5C700A53A72}"/>
              </a:ext>
            </a:extLst>
          </p:cNvPr>
          <p:cNvSpPr/>
          <p:nvPr/>
        </p:nvSpPr>
        <p:spPr>
          <a:xfrm>
            <a:off x="609600" y="53594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612947-1CBC-9B34-AE7B-EBFC837A17D1}"/>
              </a:ext>
            </a:extLst>
          </p:cNvPr>
          <p:cNvSpPr txBox="1"/>
          <p:nvPr/>
        </p:nvSpPr>
        <p:spPr>
          <a:xfrm>
            <a:off x="1270000" y="53340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Both teams agree on the score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Otherwise they resubmit, or an admin decides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E8580ED-C071-CBBE-0417-6588F927070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1600" y="1422400"/>
            <a:ext cx="38735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2943488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7DCF3C-B2F4-78C1-0EDF-867C5A0764B5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769824-2E21-987E-C77D-1120396FBD6B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Maintenance reports, tracked to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CC100C-B083-BA9F-FF67-626C8D9BF81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3943EB-91D3-9F0F-08B5-E57219FF957E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72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624C20F-B8AD-CF07-A8DD-B834500164D0}"/>
              </a:ext>
            </a:extLst>
          </p:cNvPr>
          <p:cNvSpPr/>
          <p:nvPr/>
        </p:nvSpPr>
        <p:spPr>
          <a:xfrm>
            <a:off x="57404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New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3AE9A5-BF93-3628-7FD5-553DDC12AD92}"/>
              </a:ext>
            </a:extLst>
          </p:cNvPr>
          <p:cNvSpPr txBox="1"/>
          <p:nvPr/>
        </p:nvSpPr>
        <p:spPr>
          <a:xfrm>
            <a:off x="70358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074CE33-4FBE-C17B-7CF1-8F15559B980E}"/>
              </a:ext>
            </a:extLst>
          </p:cNvPr>
          <p:cNvSpPr/>
          <p:nvPr/>
        </p:nvSpPr>
        <p:spPr>
          <a:xfrm>
            <a:off x="72390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Accepted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B2386B-6D89-E838-1F4B-44AFBBDADDA7}"/>
              </a:ext>
            </a:extLst>
          </p:cNvPr>
          <p:cNvSpPr txBox="1"/>
          <p:nvPr/>
        </p:nvSpPr>
        <p:spPr>
          <a:xfrm>
            <a:off x="85344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B8ADBD3-ADD4-3742-B694-559F054CB1EB}"/>
              </a:ext>
            </a:extLst>
          </p:cNvPr>
          <p:cNvSpPr/>
          <p:nvPr/>
        </p:nvSpPr>
        <p:spPr>
          <a:xfrm>
            <a:off x="87376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Waiting for caretaker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779CD4-E92D-CC89-B9B9-21F91A7C1B0F}"/>
              </a:ext>
            </a:extLst>
          </p:cNvPr>
          <p:cNvSpPr txBox="1"/>
          <p:nvPr/>
        </p:nvSpPr>
        <p:spPr>
          <a:xfrm>
            <a:off x="100330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8621F88-D1D1-131A-0E90-41CD53A433AD}"/>
              </a:ext>
            </a:extLst>
          </p:cNvPr>
          <p:cNvSpPr/>
          <p:nvPr/>
        </p:nvSpPr>
        <p:spPr>
          <a:xfrm>
            <a:off x="102362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Resolved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69A555-2AFD-6EDC-BCE2-F4FF4D82899A}"/>
              </a:ext>
            </a:extLst>
          </p:cNvPr>
          <p:cNvSpPr txBox="1"/>
          <p:nvPr/>
        </p:nvSpPr>
        <p:spPr>
          <a:xfrm>
            <a:off x="5740400" y="2311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or Rejected, if the report is not valid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B73A55-3D6C-6300-E3D9-C119BBB84F4B}"/>
              </a:ext>
            </a:extLst>
          </p:cNvPr>
          <p:cNvSpPr txBox="1"/>
          <p:nvPr/>
        </p:nvSpPr>
        <p:spPr>
          <a:xfrm>
            <a:off x="5740400" y="2870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Players report damage with a photo; the admin is notified on LINE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The reporter is notified of every status change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Every change is recorded in the history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A second report of an open problem is refused</a:t>
            </a:r>
          </a:p>
        </p:txBody>
      </p:sp>
    </p:spTree>
    <p:extLst>
      <p:ext uri="{BB962C8B-B14F-4D97-AF65-F5344CB8AC3E}">
        <p14:creationId xmlns:p14="http://schemas.microsoft.com/office/powerpoint/2010/main" val="725013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C4766E-161B-3A4B-6AAC-9B8688ED970B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30E8BA-DF83-7EFB-D51E-7891FEB585C0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Architecture: free-tier services, one source of truth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1A1CF8-4A4C-460D-2B8F-BA986098958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73200"/>
            <a:ext cx="72390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1020AA8-5F51-CAAA-C7CC-501D904B5BA8}"/>
              </a:ext>
            </a:extLst>
          </p:cNvPr>
          <p:cNvSpPr/>
          <p:nvPr/>
        </p:nvSpPr>
        <p:spPr>
          <a:xfrm>
            <a:off x="8178800" y="15240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2F8F93-5875-EF7A-4F91-65E95B8BF896}"/>
              </a:ext>
            </a:extLst>
          </p:cNvPr>
          <p:cNvSpPr txBox="1"/>
          <p:nvPr/>
        </p:nvSpPr>
        <p:spPr>
          <a:xfrm>
            <a:off x="8382000" y="1701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Next.js 16 on Vercel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Pages and Server Actions, in TypeScript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7ED1820-D837-B1BE-12B4-79782417A626}"/>
              </a:ext>
            </a:extLst>
          </p:cNvPr>
          <p:cNvSpPr/>
          <p:nvPr/>
        </p:nvSpPr>
        <p:spPr>
          <a:xfrm>
            <a:off x="8178800" y="27178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02D41A-64DF-209E-AB0F-FCEFC6D6DA30}"/>
              </a:ext>
            </a:extLst>
          </p:cNvPr>
          <p:cNvSpPr txBox="1"/>
          <p:nvPr/>
        </p:nvSpPr>
        <p:spPr>
          <a:xfrm>
            <a:off x="8382000" y="2895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600" b="1">
                <a:solidFill>
                  <a:srgbClr val="1E2430"/>
                </a:solidFill>
                <a:latin typeface="Arial" panose="020B0604020202020204" pitchFamily="34" charset="0"/>
              </a:rPr>
              <a:t>Supabase</a:t>
            </a:r>
          </a:p>
          <a:p>
            <a:r>
              <a:rPr lang="it-IT" sz="1300">
                <a:solidFill>
                  <a:srgbClr val="5B6270"/>
                </a:solidFill>
                <a:latin typeface="Arial" panose="020B0604020202020204" pitchFamily="34" charset="0"/>
              </a:rPr>
              <a:t>PostgreSQL, LINE sign-in, private photo storage</a:t>
            </a:r>
            <a:endParaRPr lang="en-US" sz="1300">
              <a:solidFill>
                <a:srgbClr val="5B6270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19E92EE-DC72-7003-F3A2-8FCE52603941}"/>
              </a:ext>
            </a:extLst>
          </p:cNvPr>
          <p:cNvSpPr/>
          <p:nvPr/>
        </p:nvSpPr>
        <p:spPr>
          <a:xfrm>
            <a:off x="8178800" y="39116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4E42B7-4CB8-260A-420F-3455ED034532}"/>
              </a:ext>
            </a:extLst>
          </p:cNvPr>
          <p:cNvSpPr txBox="1"/>
          <p:nvPr/>
        </p:nvSpPr>
        <p:spPr>
          <a:xfrm>
            <a:off x="8382000" y="40894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LINE Messaging API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Push notifications to players and admins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1B07654-004F-4F1D-E3BD-DE495C8AC4E0}"/>
              </a:ext>
            </a:extLst>
          </p:cNvPr>
          <p:cNvSpPr/>
          <p:nvPr/>
        </p:nvSpPr>
        <p:spPr>
          <a:xfrm>
            <a:off x="8178800" y="51054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75180D-BC31-0478-D2D5-ADD429E4F857}"/>
              </a:ext>
            </a:extLst>
          </p:cNvPr>
          <p:cNvSpPr txBox="1"/>
          <p:nvPr/>
        </p:nvSpPr>
        <p:spPr>
          <a:xfrm>
            <a:off x="8382000" y="5283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pg_cron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Advances every queue each 30 seconds</a:t>
            </a:r>
          </a:p>
        </p:txBody>
      </p:sp>
    </p:spTree>
    <p:extLst>
      <p:ext uri="{BB962C8B-B14F-4D97-AF65-F5344CB8AC3E}">
        <p14:creationId xmlns:p14="http://schemas.microsoft.com/office/powerpoint/2010/main" val="3667432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9CF2A4-7C22-FF0C-758F-9D3B83412ADE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663B8D-1904-40B5-666B-442BAD402D9B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database is the referee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6EE9C4-9579-825F-0FF9-73A5AA8A60C2}"/>
              </a:ext>
            </a:extLst>
          </p:cNvPr>
          <p:cNvSpPr txBox="1"/>
          <p:nvPr/>
        </p:nvSpPr>
        <p:spPr>
          <a:xfrm>
            <a:off x="609600" y="14732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browser only asks.</a:t>
            </a:r>
          </a:p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database decides.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0281FD-435E-DCCF-A63E-FFD351BAC76D}"/>
              </a:ext>
            </a:extLst>
          </p:cNvPr>
          <p:cNvSpPr txBox="1"/>
          <p:nvPr/>
        </p:nvSpPr>
        <p:spPr>
          <a:xfrm>
            <a:off x="609600" y="29210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Every change runs in one transaction that checks the user and the rules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Row-level security blocks direct writes to queue and score tables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GPS: the server computes the distance; a phone's "in range" is never trusted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Notifications are saved with the change, so none is lost or sent twice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5D4A455-F0B3-F588-DA90-FC0B717CD1D5}"/>
              </a:ext>
            </a:extLst>
          </p:cNvPr>
          <p:cNvSpPr/>
          <p:nvPr/>
        </p:nvSpPr>
        <p:spPr>
          <a:xfrm>
            <a:off x="6451600" y="1473200"/>
            <a:ext cx="5130800" cy="3683000"/>
          </a:xfrm>
          <a:prstGeom prst="roundRect">
            <a:avLst>
              <a:gd name="adj" fmla="val 4828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AF65EC-3763-6012-D666-EBBE1075089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800" y="2413000"/>
            <a:ext cx="4724400" cy="17907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F58FC4-7369-D551-041F-0AF80982668E}"/>
              </a:ext>
            </a:extLst>
          </p:cNvPr>
          <p:cNvSpPr txBox="1"/>
          <p:nvPr/>
        </p:nvSpPr>
        <p:spPr>
          <a:xfrm>
            <a:off x="6654800" y="44450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Notification outbox: saved in the same transaction as the change, then sent once</a:t>
            </a:r>
          </a:p>
        </p:txBody>
      </p:sp>
    </p:spTree>
    <p:extLst>
      <p:ext uri="{BB962C8B-B14F-4D97-AF65-F5344CB8AC3E}">
        <p14:creationId xmlns:p14="http://schemas.microsoft.com/office/powerpoint/2010/main" val="59924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17517-21B1-D92E-ADD1-488E0837C889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62E12E-25A5-2C7C-D6EE-D0A55420DE9B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Built and tested in small, verified steps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9C9B06E-4B85-BFB1-B934-84D304AEC40A}"/>
              </a:ext>
            </a:extLst>
          </p:cNvPr>
          <p:cNvSpPr/>
          <p:nvPr/>
        </p:nvSpPr>
        <p:spPr>
          <a:xfrm>
            <a:off x="609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775498-95B4-0A7A-8A5C-6280C507DFFE}"/>
              </a:ext>
            </a:extLst>
          </p:cNvPr>
          <p:cNvSpPr txBox="1"/>
          <p:nvPr/>
        </p:nvSpPr>
        <p:spPr>
          <a:xfrm>
            <a:off x="863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D4B457-819F-B0D2-525A-8B9E2FBBBDA7}"/>
              </a:ext>
            </a:extLst>
          </p:cNvPr>
          <p:cNvSpPr txBox="1"/>
          <p:nvPr/>
        </p:nvSpPr>
        <p:spPr>
          <a:xfrm>
            <a:off x="863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database migrations, each versioned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C460BC9-0393-EE90-FE1B-25F3B2D6955F}"/>
              </a:ext>
            </a:extLst>
          </p:cNvPr>
          <p:cNvSpPr/>
          <p:nvPr/>
        </p:nvSpPr>
        <p:spPr>
          <a:xfrm>
            <a:off x="3403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6A019B-D911-3FE9-B1A9-7FFA6EB5FC08}"/>
              </a:ext>
            </a:extLst>
          </p:cNvPr>
          <p:cNvSpPr txBox="1"/>
          <p:nvPr/>
        </p:nvSpPr>
        <p:spPr>
          <a:xfrm>
            <a:off x="3657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147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546DE8-15CA-17AB-4C48-FBCFA032E49B}"/>
              </a:ext>
            </a:extLst>
          </p:cNvPr>
          <p:cNvSpPr txBox="1"/>
          <p:nvPr/>
        </p:nvSpPr>
        <p:spPr>
          <a:xfrm>
            <a:off x="3657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automated tests on every change: 115 database + 32 unit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301E542-525F-8687-B5EA-44E02E4BD016}"/>
              </a:ext>
            </a:extLst>
          </p:cNvPr>
          <p:cNvSpPr/>
          <p:nvPr/>
        </p:nvSpPr>
        <p:spPr>
          <a:xfrm>
            <a:off x="6197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884D11-98B3-A9AD-EB9A-A6E0D3BAF885}"/>
              </a:ext>
            </a:extLst>
          </p:cNvPr>
          <p:cNvSpPr txBox="1"/>
          <p:nvPr/>
        </p:nvSpPr>
        <p:spPr>
          <a:xfrm>
            <a:off x="6451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9FD130-C235-35BC-6B51-FE3738139368}"/>
              </a:ext>
            </a:extLst>
          </p:cNvPr>
          <p:cNvSpPr txBox="1"/>
          <p:nvPr/>
        </p:nvSpPr>
        <p:spPr>
          <a:xfrm>
            <a:off x="6451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field sessions with real players on their own phones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28FF77E-AE78-30D0-DFEE-17F335D6ACF4}"/>
              </a:ext>
            </a:extLst>
          </p:cNvPr>
          <p:cNvSpPr/>
          <p:nvPr/>
        </p:nvSpPr>
        <p:spPr>
          <a:xfrm>
            <a:off x="8991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AC2B02-919E-B4BE-28E5-01CA5355B2C1}"/>
              </a:ext>
            </a:extLst>
          </p:cNvPr>
          <p:cNvSpPr txBox="1"/>
          <p:nvPr/>
        </p:nvSpPr>
        <p:spPr>
          <a:xfrm>
            <a:off x="9245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EFFC60-C8C8-E365-3AD7-AA3CE48C2B81}"/>
              </a:ext>
            </a:extLst>
          </p:cNvPr>
          <p:cNvSpPr txBox="1"/>
          <p:nvPr/>
        </p:nvSpPr>
        <p:spPr>
          <a:xfrm>
            <a:off x="9245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defects found and fixed, each covered by a new test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44CD37F-CABB-B30A-1BD1-F42911A0CA60}"/>
              </a:ext>
            </a:extLst>
          </p:cNvPr>
          <p:cNvSpPr/>
          <p:nvPr/>
        </p:nvSpPr>
        <p:spPr>
          <a:xfrm>
            <a:off x="6096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Design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3668A0-6536-A9AD-6125-2DD6B102B1BD}"/>
              </a:ext>
            </a:extLst>
          </p:cNvPr>
          <p:cNvSpPr txBox="1"/>
          <p:nvPr/>
        </p:nvSpPr>
        <p:spPr>
          <a:xfrm>
            <a:off x="25654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C3DA0C8-057A-24B7-FAAF-D849B61B3C80}"/>
              </a:ext>
            </a:extLst>
          </p:cNvPr>
          <p:cNvSpPr/>
          <p:nvPr/>
        </p:nvSpPr>
        <p:spPr>
          <a:xfrm>
            <a:off x="28702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Build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F65A24-CD26-ADDB-94E9-36ABB38A1287}"/>
              </a:ext>
            </a:extLst>
          </p:cNvPr>
          <p:cNvSpPr txBox="1"/>
          <p:nvPr/>
        </p:nvSpPr>
        <p:spPr>
          <a:xfrm>
            <a:off x="48260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F1E7AB1-7A36-1A26-99FA-37C0D14FFC18}"/>
              </a:ext>
            </a:extLst>
          </p:cNvPr>
          <p:cNvSpPr/>
          <p:nvPr/>
        </p:nvSpPr>
        <p:spPr>
          <a:xfrm>
            <a:off x="51308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Test in CI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3FC8DC-FDF8-A761-3AC9-1547B6D53130}"/>
              </a:ext>
            </a:extLst>
          </p:cNvPr>
          <p:cNvSpPr txBox="1"/>
          <p:nvPr/>
        </p:nvSpPr>
        <p:spPr>
          <a:xfrm>
            <a:off x="70866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8A84CE3-13CF-08E8-022A-978B32F762C0}"/>
              </a:ext>
            </a:extLst>
          </p:cNvPr>
          <p:cNvSpPr/>
          <p:nvPr/>
        </p:nvSpPr>
        <p:spPr>
          <a:xfrm>
            <a:off x="73914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rial" panose="020B0604020202020204" pitchFamily="34" charset="0"/>
              </a:rPr>
              <a:t>Field test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D3F43A-E2DA-FDA7-0F53-6F161715441C}"/>
              </a:ext>
            </a:extLst>
          </p:cNvPr>
          <p:cNvSpPr txBox="1"/>
          <p:nvPr/>
        </p:nvSpPr>
        <p:spPr>
          <a:xfrm>
            <a:off x="93472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10CFBF7-0893-F8B9-0B3B-FE03AD480C2B}"/>
              </a:ext>
            </a:extLst>
          </p:cNvPr>
          <p:cNvSpPr/>
          <p:nvPr/>
        </p:nvSpPr>
        <p:spPr>
          <a:xfrm>
            <a:off x="96520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Fix + new test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BF5BCD7-B073-FD21-B05E-7EB4312D3EED}"/>
              </a:ext>
            </a:extLst>
          </p:cNvPr>
          <p:cNvSpPr txBox="1"/>
          <p:nvPr/>
        </p:nvSpPr>
        <p:spPr>
          <a:xfrm>
            <a:off x="609600" y="58166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B6270"/>
                </a:solidFill>
                <a:latin typeface="Arial" panose="020B0604020202020204" pitchFamily="34" charset="0"/>
              </a:rPr>
              <a:t>Design science research: build, evaluate, improve</a:t>
            </a:r>
          </a:p>
        </p:txBody>
      </p:sp>
    </p:spTree>
    <p:extLst>
      <p:ext uri="{BB962C8B-B14F-4D97-AF65-F5344CB8AC3E}">
        <p14:creationId xmlns:p14="http://schemas.microsoft.com/office/powerpoint/2010/main" val="1929838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EF289F-4F78-C227-32B3-8668F866720F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WALKTHROUGH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9FA463-7238-4F65-5C81-5D673655FBB2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FFFFFF"/>
                </a:solidFill>
                <a:latin typeface="Arial" panose="020B0604020202020204" pitchFamily="34" charset="0"/>
              </a:rPr>
              <a:t>One round, step by step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585399-66F5-2DCB-F74E-49485C275CB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1A6077-823B-AF72-1954-ABDDE194D90B}"/>
              </a:ext>
            </a:extLst>
          </p:cNvPr>
          <p:cNvSpPr txBox="1"/>
          <p:nvPr/>
        </p:nvSpPr>
        <p:spPr>
          <a:xfrm>
            <a:off x="2463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43F7F1B-A6E6-0028-11BD-8DB9E6428E0A}"/>
              </a:ext>
            </a:extLst>
          </p:cNvPr>
          <p:cNvSpPr/>
          <p:nvPr/>
        </p:nvSpPr>
        <p:spPr>
          <a:xfrm>
            <a:off x="609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BE8888-67D4-EE11-9A3F-E6D64B801858}"/>
              </a:ext>
            </a:extLst>
          </p:cNvPr>
          <p:cNvSpPr txBox="1"/>
          <p:nvPr/>
        </p:nvSpPr>
        <p:spPr>
          <a:xfrm>
            <a:off x="1041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Join the queue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8114DA-363E-7EDA-7BE8-CBD0FEA1420C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5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C6C42D6-0FFE-487A-5BB0-ACFDAB6A4DC8}"/>
              </a:ext>
            </a:extLst>
          </p:cNvPr>
          <p:cNvSpPr txBox="1"/>
          <p:nvPr/>
        </p:nvSpPr>
        <p:spPr>
          <a:xfrm>
            <a:off x="4749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E3DC150-48F3-11D7-D523-B4FCFD795921}"/>
              </a:ext>
            </a:extLst>
          </p:cNvPr>
          <p:cNvSpPr/>
          <p:nvPr/>
        </p:nvSpPr>
        <p:spPr>
          <a:xfrm>
            <a:off x="2895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066A-A718-7E30-11F6-C18C41CD1814}"/>
              </a:ext>
            </a:extLst>
          </p:cNvPr>
          <p:cNvSpPr txBox="1"/>
          <p:nvPr/>
        </p:nvSpPr>
        <p:spPr>
          <a:xfrm>
            <a:off x="3327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LINE notifications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950D997-6D01-0AF8-AB24-683C36088D5A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5250C1F-E468-012B-076D-80B1EF41DBB5}"/>
              </a:ext>
            </a:extLst>
          </p:cNvPr>
          <p:cNvSpPr txBox="1"/>
          <p:nvPr/>
        </p:nvSpPr>
        <p:spPr>
          <a:xfrm>
            <a:off x="7035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42DCA67-747D-2294-1EA1-F852BC2DEBCD}"/>
              </a:ext>
            </a:extLst>
          </p:cNvPr>
          <p:cNvSpPr/>
          <p:nvPr/>
        </p:nvSpPr>
        <p:spPr>
          <a:xfrm>
            <a:off x="5181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61A982-7520-5D44-E7EB-47AE6C9118E8}"/>
              </a:ext>
            </a:extLst>
          </p:cNvPr>
          <p:cNvSpPr txBox="1"/>
          <p:nvPr/>
        </p:nvSpPr>
        <p:spPr>
          <a:xfrm>
            <a:off x="5613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8FD024B-77A8-C348-E3CF-2E7AA6925342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3C40C40-161C-9C93-4485-5ACECAB062A0}"/>
              </a:ext>
            </a:extLst>
          </p:cNvPr>
          <p:cNvSpPr txBox="1"/>
          <p:nvPr/>
        </p:nvSpPr>
        <p:spPr>
          <a:xfrm>
            <a:off x="9321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AB63F34-476A-E579-B3A4-915ABAD89F0E}"/>
              </a:ext>
            </a:extLst>
          </p:cNvPr>
          <p:cNvSpPr/>
          <p:nvPr/>
        </p:nvSpPr>
        <p:spPr>
          <a:xfrm>
            <a:off x="7467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765F7F-8803-67F1-E662-05C15A20E381}"/>
              </a:ext>
            </a:extLst>
          </p:cNvPr>
          <p:cNvSpPr txBox="1"/>
          <p:nvPr/>
        </p:nvSpPr>
        <p:spPr>
          <a:xfrm>
            <a:off x="7899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Submit the scores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B5A3B1E-78B0-B780-D40B-45F579C38067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6" name="Oval 25">
            <a:extLst>
              <a:ext uri="{FF2B5EF4-FFF2-40B4-BE49-F238E27FC236}">
                <a16:creationId xmlns:a16="http://schemas.microsoft.com/office/drawing/2014/main" id="{1C9F301A-AFEC-B940-1014-1226AC9A6FC1}"/>
              </a:ext>
            </a:extLst>
          </p:cNvPr>
          <p:cNvSpPr/>
          <p:nvPr/>
        </p:nvSpPr>
        <p:spPr>
          <a:xfrm>
            <a:off x="9753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C882D6F-AA80-082D-DFDB-122A7AF7BFD5}"/>
              </a:ext>
            </a:extLst>
          </p:cNvPr>
          <p:cNvSpPr txBox="1"/>
          <p:nvPr/>
        </p:nvSpPr>
        <p:spPr>
          <a:xfrm>
            <a:off x="10185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Result and next step</a:t>
            </a:r>
          </a:p>
        </p:txBody>
      </p:sp>
    </p:spTree>
    <p:extLst>
      <p:ext uri="{BB962C8B-B14F-4D97-AF65-F5344CB8AC3E}">
        <p14:creationId xmlns:p14="http://schemas.microsoft.com/office/powerpoint/2010/main" val="41926129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0D03256-4026-4D7F-0C68-C124852A0718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6B042B-1D91-76AE-E72F-25A058ABF94A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Field evaluation, 17 October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593119-A0FC-DDDC-EFF8-0A782215861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558800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14B560-A56A-F0F4-3A61-1B37DC0BFC7E}"/>
              </a:ext>
            </a:extLst>
          </p:cNvPr>
          <p:cNvSpPr txBox="1"/>
          <p:nvPr/>
        </p:nvSpPr>
        <p:spPr>
          <a:xfrm>
            <a:off x="609600" y="57150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A game during the evaluation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6AE8D44-267F-BB6A-EF31-368ACB6EA9D3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16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6E2FD18-FFA0-094C-6FFC-A9E588D86EF5}"/>
              </a:ext>
            </a:extLst>
          </p:cNvPr>
          <p:cNvSpPr txBox="1"/>
          <p:nvPr/>
        </p:nvSpPr>
        <p:spPr>
          <a:xfrm>
            <a:off x="64516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MeQ in use at the court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F742334-DF84-D724-0F3D-C6D07766DDC2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24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E87FB18-A77B-657A-9F26-15D6EEF2C851}"/>
              </a:ext>
            </a:extLst>
          </p:cNvPr>
          <p:cNvSpPr txBox="1"/>
          <p:nvPr/>
        </p:nvSpPr>
        <p:spPr>
          <a:xfrm>
            <a:off x="90424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Planned court: no lights (maintenance)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CE26C7-C90D-B749-AB32-4C1A0FF4C73E}"/>
              </a:ext>
            </a:extLst>
          </p:cNvPr>
          <p:cNvSpPr txBox="1"/>
          <p:nvPr/>
        </p:nvSpPr>
        <p:spPr>
          <a:xfrm>
            <a:off x="6451600" y="4038600"/>
            <a:ext cx="5130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Moved to the Faculty of Science court, played as 3x3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13 players; four teams played, 17:20–18:30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Queue, check-in, play, scores, and a maintenance report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Check-in failed at first: the court point was moved on site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SUS questionnaire answered the same evening</a:t>
            </a:r>
          </a:p>
        </p:txBody>
      </p:sp>
    </p:spTree>
    <p:extLst>
      <p:ext uri="{BB962C8B-B14F-4D97-AF65-F5344CB8AC3E}">
        <p14:creationId xmlns:p14="http://schemas.microsoft.com/office/powerpoint/2010/main" val="35372148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BBCD32-7986-256E-94CA-23DD7D7B998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5972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0F590A-E920-0677-3925-7BE8D5665792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2565A9-75A5-12BE-1717-537EFFFFFB8B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Real players found what the tests missed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35E9199-BA87-129C-108C-CED230369AE5}"/>
              </a:ext>
            </a:extLst>
          </p:cNvPr>
          <p:cNvSpPr/>
          <p:nvPr/>
        </p:nvSpPr>
        <p:spPr>
          <a:xfrm>
            <a:off x="609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369B268-7E57-7EA7-A116-3737CB3F7075}"/>
              </a:ext>
            </a:extLst>
          </p:cNvPr>
          <p:cNvSpPr/>
          <p:nvPr/>
        </p:nvSpPr>
        <p:spPr>
          <a:xfrm>
            <a:off x="863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03917F-D660-27BA-9EC6-D9D30F05361D}"/>
              </a:ext>
            </a:extLst>
          </p:cNvPr>
          <p:cNvSpPr txBox="1"/>
          <p:nvPr/>
        </p:nvSpPr>
        <p:spPr>
          <a:xfrm>
            <a:off x="863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 stalled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73C995-3BDB-80B6-F507-DAF533CE6E7D}"/>
              </a:ext>
            </a:extLst>
          </p:cNvPr>
          <p:cNvSpPr txBox="1"/>
          <p:nvPr/>
        </p:nvSpPr>
        <p:spPr>
          <a:xfrm>
            <a:off x="863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 queue stopped advancing after a team requeued. Fixed in the database, with a new test.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E32A7E0-3065-BC16-F8B2-9C43DDC3A0D4}"/>
              </a:ext>
            </a:extLst>
          </p:cNvPr>
          <p:cNvSpPr/>
          <p:nvPr/>
        </p:nvSpPr>
        <p:spPr>
          <a:xfrm>
            <a:off x="43561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037AF0E-FF3E-8CD9-35D7-E52D6FE64044}"/>
              </a:ext>
            </a:extLst>
          </p:cNvPr>
          <p:cNvSpPr/>
          <p:nvPr/>
        </p:nvSpPr>
        <p:spPr>
          <a:xfrm>
            <a:off x="46101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508533-148C-8010-35B3-412ED57AE660}"/>
              </a:ext>
            </a:extLst>
          </p:cNvPr>
          <p:cNvSpPr txBox="1"/>
          <p:nvPr/>
        </p:nvSpPr>
        <p:spPr>
          <a:xfrm>
            <a:off x="46101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Challenger dropped (16 Oct)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76A956-784B-07D4-F3EB-1829EDC465F3}"/>
              </a:ext>
            </a:extLst>
          </p:cNvPr>
          <p:cNvSpPr txBox="1"/>
          <p:nvPr/>
        </p:nvSpPr>
        <p:spPr>
          <a:xfrm>
            <a:off x="46101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When a winner left, the called challenger vanished from the queue. Fixed the same day, with a new test.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8BA9D0-0B6A-1FBB-45F6-F20087089794}"/>
              </a:ext>
            </a:extLst>
          </p:cNvPr>
          <p:cNvSpPr/>
          <p:nvPr/>
        </p:nvSpPr>
        <p:spPr>
          <a:xfrm>
            <a:off x="8102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725D8AC-2C63-CFFF-B846-6245CE3AB601}"/>
              </a:ext>
            </a:extLst>
          </p:cNvPr>
          <p:cNvSpPr/>
          <p:nvPr/>
        </p:nvSpPr>
        <p:spPr>
          <a:xfrm>
            <a:off x="8356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BC7343-3E0C-245F-6DC5-F82404C94B44}"/>
              </a:ext>
            </a:extLst>
          </p:cNvPr>
          <p:cNvSpPr txBox="1"/>
          <p:nvPr/>
        </p:nvSpPr>
        <p:spPr>
          <a:xfrm>
            <a:off x="8356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Statistics showed 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94037F-DDBA-9D1B-E99A-A77CEC87CF41}"/>
              </a:ext>
            </a:extLst>
          </p:cNvPr>
          <p:cNvSpPr txBox="1"/>
          <p:nvPr/>
        </p:nvSpPr>
        <p:spPr>
          <a:xfrm>
            <a:off x="8356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missing permission grant hid players' statistics. Fixed and verified on the live site.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12BFCA4-FC5F-90AA-C762-8D13371F034B}"/>
              </a:ext>
            </a:extLst>
          </p:cNvPr>
          <p:cNvSpPr/>
          <p:nvPr/>
        </p:nvSpPr>
        <p:spPr>
          <a:xfrm>
            <a:off x="609600" y="49530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tlCol="0" anchor="ctr"/>
          <a:lstStyle/>
          <a:p>
            <a:r>
              <a:rPr lang="en-US" sz="1900" b="1">
                <a:solidFill>
                  <a:srgbClr val="1E2430"/>
                </a:solidFill>
                <a:latin typeface="Arial" panose="020B0604020202020204" pitchFamily="34" charset="0"/>
              </a:rPr>
              <a:t>Lesson: every automated test passed, but real users on real phones found the edge cases.</a:t>
            </a:r>
          </a:p>
        </p:txBody>
      </p:sp>
    </p:spTree>
    <p:extLst>
      <p:ext uri="{BB962C8B-B14F-4D97-AF65-F5344CB8AC3E}">
        <p14:creationId xmlns:p14="http://schemas.microsoft.com/office/powerpoint/2010/main" val="35096655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002EC7-B4A8-3B0C-E21C-42F194B3C3D6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078140-EF61-CD3C-E558-57C9305E853B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Impact, limitations, and future work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F2976E3-60F4-6D0B-3048-DFCB1C4A2255}"/>
              </a:ext>
            </a:extLst>
          </p:cNvPr>
          <p:cNvSpPr/>
          <p:nvPr/>
        </p:nvSpPr>
        <p:spPr>
          <a:xfrm>
            <a:off x="609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03025B-84E0-1DF4-6C1E-61CBC083F281}"/>
              </a:ext>
            </a:extLst>
          </p:cNvPr>
          <p:cNvSpPr txBox="1"/>
          <p:nvPr/>
        </p:nvSpPr>
        <p:spPr>
          <a:xfrm>
            <a:off x="889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4FF075-A6A0-DF54-A606-5FE91DB70143}"/>
              </a:ext>
            </a:extLst>
          </p:cNvPr>
          <p:cNvSpPr txBox="1"/>
          <p:nvPr/>
        </p:nvSpPr>
        <p:spPr>
          <a:xfrm>
            <a:off x="889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visible, fair queue: fewer arguments, no standing by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Damage reaches the staff sooner; players follow the repair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Free infrastructure that other facilities can reuse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0889A1F-5F18-9381-A5B6-4BAE8C58367D}"/>
              </a:ext>
            </a:extLst>
          </p:cNvPr>
          <p:cNvSpPr/>
          <p:nvPr/>
        </p:nvSpPr>
        <p:spPr>
          <a:xfrm>
            <a:off x="43561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CF649C-D590-3C2A-A380-EF08040E253A}"/>
              </a:ext>
            </a:extLst>
          </p:cNvPr>
          <p:cNvSpPr txBox="1"/>
          <p:nvPr/>
        </p:nvSpPr>
        <p:spPr>
          <a:xfrm>
            <a:off x="46355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Limitations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620DE4-895E-A201-C0AB-3B204BFA9A98}"/>
              </a:ext>
            </a:extLst>
          </p:cNvPr>
          <p:cNvSpPr txBox="1"/>
          <p:nvPr/>
        </p:nvSpPr>
        <p:spPr>
          <a:xfrm>
            <a:off x="46355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faked GPS location cannot be detected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Scores are entered by the teams themselves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First use needs guidance (SUS 67.5)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One facility and a small sample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39951C-04A5-7AA4-1479-4A1A4305A9C2}"/>
              </a:ext>
            </a:extLst>
          </p:cNvPr>
          <p:cNvSpPr/>
          <p:nvPr/>
        </p:nvSpPr>
        <p:spPr>
          <a:xfrm>
            <a:off x="8102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C095E2-EDDA-DC5E-11E9-2ADF4393807B}"/>
              </a:ext>
            </a:extLst>
          </p:cNvPr>
          <p:cNvSpPr txBox="1"/>
          <p:nvPr/>
        </p:nvSpPr>
        <p:spPr>
          <a:xfrm>
            <a:off x="8382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Future work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6FAE91-D60F-8D38-C02E-B3829FF4DC5B}"/>
              </a:ext>
            </a:extLst>
          </p:cNvPr>
          <p:cNvSpPr txBox="1"/>
          <p:nvPr/>
        </p:nvSpPr>
        <p:spPr>
          <a:xfrm>
            <a:off x="8382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Queues visible without sign-in; guided first use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QR code check-in at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Futsal and volleyball courts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Measure disputes before and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23068466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BDECFE-87EB-AA49-55A4-49861EEF74A1}"/>
              </a:ext>
            </a:extLst>
          </p:cNvPr>
          <p:cNvSpPr txBox="1"/>
          <p:nvPr/>
        </p:nvSpPr>
        <p:spPr>
          <a:xfrm>
            <a:off x="609600" y="2159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6400" b="1">
                <a:solidFill>
                  <a:srgbClr val="FFFFFF"/>
                </a:solidFill>
                <a:latin typeface="Arial" panose="020B0604020202020204" pitchFamily="34" charset="0"/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A4AF1A-1332-23C6-59B5-3005D7B95DB2}"/>
              </a:ext>
            </a:extLst>
          </p:cNvPr>
          <p:cNvSpPr txBox="1"/>
          <p:nvPr/>
        </p:nvSpPr>
        <p:spPr>
          <a:xfrm>
            <a:off x="609600" y="33274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E8682C"/>
                </a:solidFill>
                <a:latin typeface="Arial" panose="020B0604020202020204" pitchFamily="34" charset="0"/>
              </a:rPr>
              <a:t>Questions?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C27653-FC03-E8A9-F9F3-F48C0CD67338}"/>
              </a:ext>
            </a:extLst>
          </p:cNvPr>
          <p:cNvSpPr txBox="1"/>
          <p:nvPr/>
        </p:nvSpPr>
        <p:spPr>
          <a:xfrm>
            <a:off x="609600" y="4318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[Website link or QR code]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6BEE2E-1742-8B85-E96F-17CAA4DC5E3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40197044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1838</Words>
  <Application>Microsoft Office PowerPoint</Application>
  <PresentationFormat>Custom</PresentationFormat>
  <Paragraphs>198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NUTTHAWUT WANMA</dc:creator>
  <cp:lastModifiedBy>NUTTHAWUT WANMA</cp:lastModifiedBy>
  <cp:revision>1</cp:revision>
  <dcterms:created xsi:type="dcterms:W3CDTF">2026-10-18T18:00:17Z</dcterms:created>
  <dcterms:modified xsi:type="dcterms:W3CDTF">2026-10-18T18:00:17Z</dcterms:modified>
</cp:coreProperties>
</file>