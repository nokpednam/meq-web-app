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1412F9-8CE2-412E-8574-E5C5DBAE8377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E3E0D0-D75B-4F91-AB2A-0A9E41949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2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ผมณัฐวุฒิ วันมา วันนี้จะนำเสนอวิทยานิพนธ์เรื่อง การพัฒนาเว็บแอปพลิเคชันสำหรับการจัดคิวสิ่งอำนวยความสะดวกด้านกีฬาและการรายงานการบำรุงรักษา ระบบที่พัฒนาชื่อว่า </a:t>
            </a:r>
            <a:r>
              <a:rPr lang="en-US"/>
              <a:t>MeQ (20 </a:t>
            </a:r>
            <a:r>
              <a:rPr lang="th-TH"/>
              <a:t>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382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08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079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951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2189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2400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689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4336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5060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เล่าทีละขั้นตามภาพ (1) หัวหน้าทีมกดเข้าคิวที่หน้าสนาม เห็นลำดับของตัวเองทันที (2) เมื่อถึงคิว ระบบส่ง </a:t>
            </a:r>
            <a:r>
              <a:rPr lang="en-US"/>
              <a:t>LINE </a:t>
            </a:r>
            <a:r>
              <a:rPr lang="th-TH"/>
              <a:t>ไปที่หัวหน้าทีม ไม่ต้องยืนรอที่สนาม (ภาพนี้เป็นตัวอย่างข้อความ </a:t>
            </a:r>
            <a:r>
              <a:rPr lang="en-US"/>
              <a:t>LINE </a:t>
            </a:r>
            <a:r>
              <a:rPr lang="th-TH"/>
              <a:t>จากระบบ) (3) สมาชิกทุกคนกดยืนยันตำแหน่ง เซิร์ฟเวอร์คำนวณระยะ แล้วหัวหน้ากดยืนยันทีมพร้อม (4) เล่นจบ แต่ละทีมกรอกคะแนนของผู้เล่นตัวเอง ระบบตรวจว่าตรงกัน (5) ระบบสรุปผล ทีมชนะเลือกเล่นต่อ ทีมแพ้เลือกต่อคิวใหม่ภายใน 3 นาที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372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5305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KPI </a:t>
            </a:r>
            <a:r>
              <a:rPr lang="th-TH"/>
              <a:t>แต่ละตัววัดคนละเรื่องและใช้เครื่องมือต่างกัน </a:t>
            </a:r>
            <a:r>
              <a:rPr lang="en-US"/>
              <a:t>KPI-1 </a:t>
            </a:r>
            <a:r>
              <a:rPr lang="th-TH"/>
              <a:t>จำลองผู้ใช้ 50 คนกดเข้าออกคิวพร้อมกัน แล้วใช้ </a:t>
            </a:r>
            <a:r>
              <a:rPr lang="en-US"/>
              <a:t>SQL 9 </a:t>
            </a:r>
            <a:r>
              <a:rPr lang="th-TH"/>
              <a:t>ข้อตรวจว่ามีอะไรผิดกติกาไหม </a:t>
            </a:r>
            <a:r>
              <a:rPr lang="en-US"/>
              <a:t>KPI-2 </a:t>
            </a:r>
            <a:r>
              <a:rPr lang="th-TH"/>
              <a:t>คือเทสอัตโนมัติ </a:t>
            </a:r>
            <a:r>
              <a:rPr lang="en-US"/>
              <a:t>KPI-3 </a:t>
            </a:r>
            <a:r>
              <a:rPr lang="th-TH"/>
              <a:t>วัดเวลาส่ง </a:t>
            </a:r>
            <a:r>
              <a:rPr lang="en-US"/>
              <a:t>LINE </a:t>
            </a:r>
            <a:r>
              <a:rPr lang="th-TH"/>
              <a:t>จากข้อมูลจริงวันทดสอบ </a:t>
            </a:r>
            <a:r>
              <a:rPr lang="en-US"/>
              <a:t>KPI-4 </a:t>
            </a:r>
            <a:r>
              <a:rPr lang="th-TH"/>
              <a:t>ทำตามสถานการณ์แจ้งซ่อม 7 ขั้นบนระบบจริง </a:t>
            </a:r>
            <a:r>
              <a:rPr lang="en-US"/>
              <a:t>KPI-5 </a:t>
            </a:r>
            <a:r>
              <a:rPr lang="th-TH"/>
              <a:t>วัดความเร็วด้วย </a:t>
            </a:r>
            <a:r>
              <a:rPr lang="en-US"/>
              <a:t>k6 </a:t>
            </a:r>
            <a:r>
              <a:rPr lang="th-TH"/>
              <a:t>และ </a:t>
            </a:r>
            <a:r>
              <a:rPr lang="en-US"/>
              <a:t>Lighthouse KPI-6 </a:t>
            </a:r>
            <a:r>
              <a:rPr lang="th-TH"/>
              <a:t>คือแบบสอบถาม </a:t>
            </a:r>
            <a:r>
              <a:rPr lang="en-US"/>
              <a:t>SUS </a:t>
            </a:r>
            <a:r>
              <a:rPr lang="th-TH"/>
              <a:t>และ </a:t>
            </a:r>
            <a:r>
              <a:rPr lang="en-US"/>
              <a:t>KPI-7 </a:t>
            </a:r>
            <a:r>
              <a:rPr lang="th-TH"/>
              <a:t>ตรวจความปลอดภัยด้วยหลายเครื่องมือ ทุกเกณฑ์ตั้งไว้ก่อนวัดผล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930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เทส 147 ข้อแบ่งเป็นสองส่วน ส่วนแรกคือเทสฐานข้อมูล 115 ข้อ เกือบครึ่งเป็นเรื่องสิทธิ์ ว่าใครอ่านหรือแก้อะไรได้บ้าง รองลงมาคือการเช็กอินด้วยตำแหน่ง กติกาชนะสองเกมแล้วพัก และการต่อคิวใหม่ อีกส่วนคือ </a:t>
            </a:r>
            <a:r>
              <a:rPr lang="en-US"/>
              <a:t>unit test 32 </a:t>
            </a:r>
            <a:r>
              <a:rPr lang="th-TH"/>
              <a:t>ข้อ ตรวจฝั่งโค้ด </a:t>
            </a:r>
            <a:r>
              <a:rPr lang="en-US"/>
              <a:t>TypeScript </a:t>
            </a:r>
            <a:r>
              <a:rPr lang="th-TH"/>
              <a:t>เช่น ข้อความ </a:t>
            </a:r>
            <a:r>
              <a:rPr lang="en-US"/>
              <a:t>LINE </a:t>
            </a:r>
            <a:r>
              <a:rPr lang="th-TH"/>
              <a:t>และ </a:t>
            </a:r>
            <a:r>
              <a:rPr lang="en-US"/>
              <a:t>security headers </a:t>
            </a:r>
            <a:r>
              <a:rPr lang="th-TH"/>
              <a:t>ทุกครั้งที่แก้โค้ด </a:t>
            </a:r>
            <a:r>
              <a:rPr lang="en-US"/>
              <a:t>GitHub </a:t>
            </a:r>
            <a:r>
              <a:rPr lang="th-TH"/>
              <a:t>จะรันทั้ง 147 ข้อ ถ้าไม่ผ่านจะ </a:t>
            </a:r>
            <a:r>
              <a:rPr lang="en-US"/>
              <a:t>merge </a:t>
            </a:r>
            <a:r>
              <a:rPr lang="th-TH"/>
              <a:t>ไม่ได้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856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1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กราฟซ้ายคือเวลาส่ง </a:t>
            </a:r>
            <a:r>
              <a:rPr lang="en-US"/>
              <a:t>LINE </a:t>
            </a:r>
            <a:r>
              <a:rPr lang="th-TH"/>
              <a:t>ในวันประเมิน แท่งคือกรณีที่ช้าที่สุดของข้อความแต่ละประเภท เส้นประคือเกณฑ์ 60 วินาที ทุกแท่งอยู่ก่อนเส้นเกณฑ์ กราฟขวาคือเวลาตอบสนองที่เปอร์เซ็นไทล์ที่ 95 ทั้งบนเครื่องทดสอบ 50 ผู้ใช้และบนระบบจริง ทุกรอบต่ำกว่าเกณฑ์ 2 วินาทีมาก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1854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1365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ด้านการคุ้มครองข้อมูลส่วนบุคคล ผมประเมินระบบเทียบกับหน้าที่หลัก 8 ข้อของผู้ควบคุมข้อมูลตาม พ.ร.บ.คุ้มครองข้อมูลส่วนบุคคล พ.ศ. 2562 ระบบดำเนินการครบ 3 ข้อ และบางส่วนอีก 5 ข้อ จุดเด่นคือเก็บข้อมูลเท่าที่จำเป็น ไม่เก็บอีเมล เบอร์โทรศัพท์ และพิกัด เก็บเพียงระยะห่างจากสนาม ส่วนที่ยังขาดคือการลบข้อมูลเก่าอัตโนมัติ การลบบัญชีด้วยตนเอง และขั้นตอนการแจ้งเหตุข้อมูลรั่วไหล ซึ่งได้ระบุไว้ในข้อเสนอแนะก่อนนำไปใช้งานจริง ทั้งนี้เป็นการประเมินตนเอง ไม่ใช่การตรวจทางกฎหมาย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7881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709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E3E0D0-D75B-4F91-AB2A-0A9E41949C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26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25FBC-F57F-3676-42B8-5AD721847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C7768-2CE9-558B-7CFB-CCACB5D01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1E2E7-6C95-BA8D-6018-9392C0DD2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20878-145A-F406-D796-1EF5CC7F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46790-799A-D320-454C-7127CD6E9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21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B0420-48A4-378B-0C5D-23B565C73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61BEA-76FA-FD6A-8841-CAD205405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216D1C-F101-52D4-E888-E78A8766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19E3-F123-6486-5E3C-5CF05B93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60966-42F8-0F5F-8C48-042507C13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611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FC574-A2CC-BD26-1083-C47E2A1F3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0F5ED-225D-1832-5104-81246B743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361348-E9F0-7C34-AF4E-6A467B093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3864E-38C2-CDE7-4159-8B4583884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A2802-9AE9-ADEA-0E58-AF7DEC202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68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5C04-7827-053E-6E80-E1B45EC45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BAD61-F0A7-3C8B-2221-DBC2B150E3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912484-3F34-080B-821C-BB8BEE9F1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9320-B780-CD2A-75C9-714DCF41B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012FF-CDFD-ED85-8E6E-96D7368B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35033-0B02-CC07-94E0-97BBB666A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242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8EF11-CE11-548F-E1D5-9F646D11B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A24D7-8DA8-39F0-A4F7-70E81BBB6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D031C3-1E9E-2050-BACB-9ACA511CE7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F0E6F7-A14B-0559-D57C-900A65F90F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7009D-EE6D-D96A-678E-02C5E65760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062144-B481-BF32-F3A3-CF928CAC2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912C84-7216-00E7-4AB6-A464BD1EC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868736-BD37-1984-5332-557923822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17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BF232-BEC8-F491-247E-1CF461B44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E32A9-DA4B-1D68-C3CC-8C088CE9C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A2D16-675D-B841-7D72-E975EDC4E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620F0-0E80-BF2F-4145-C6EB7F680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268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C31E11-2F54-B732-4C22-952C81C75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68DA29-BA54-EA6A-18FD-7D82C3F61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AC7F7-6B96-7640-CDEC-1E72D87B6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013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6265D-2399-E72D-706A-F24D4AA3B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07246-2A8D-1488-C47F-BE99E764C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144E29-9725-B2EC-80EC-80EB9D75A3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AE51A6-C681-EB1D-B3DE-AB4C92BBC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228E99-B3C6-CE24-BCE9-962769A29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1EDB7-3997-6B6D-D2F0-F91047902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655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5A8D-7013-BC63-20F9-9C5D80E79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FEE052-DF76-DA17-1BA8-26C6A8C82CD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587F64-B55B-1F4C-A32D-AA8B243EC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81B8F-D69E-0BE1-96EE-09516B67A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96960B-B731-B3E5-DEE5-2F090999D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9EDE8F-4A39-AC65-D4BF-B5BFE3186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866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EDB2-803A-A831-7377-B0E4AEE1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257521-D1FC-B5D1-BB6F-55660D5435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A65626-2770-C013-9F4A-96D871B27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22D83-0EF0-E950-F38C-B9D846179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7E402-069B-B1AE-B85B-39558308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123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BED96E-A34C-F1CB-C058-3A41CB4405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A0C1A-8989-5B3B-C91C-8A4AE52B0F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C4E-1B16-62DF-11D2-E95BB25DB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448A2-EF9A-D863-67D0-328BDEDE2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73369-9FF6-E411-ABA1-BE9873E4C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577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8BD7B7-C618-D5C9-3EAA-160F5441E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EC7A90-DB8D-A236-D63A-B7CE1F71E4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BF4450-4289-13A8-BB6F-7C1EF27BBE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00B167-A197-4F31-BCF5-33722375AA7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58F3-4832-0031-DC71-611ECDA90D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A0EA2-F972-5CE6-6E64-7E2D8CB769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158351-CD27-46D0-9879-621543B06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76D96E-2DBD-F27A-6B86-1FEE38E2DE5B}"/>
              </a:ext>
            </a:extLst>
          </p:cNvPr>
          <p:cNvSpPr txBox="1"/>
          <p:nvPr/>
        </p:nvSpPr>
        <p:spPr>
          <a:xfrm>
            <a:off x="609600" y="1016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UNDERGRADUATE THESIS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05AC88-CBA5-4F58-80A6-E65CE3D2B860}"/>
              </a:ext>
            </a:extLst>
          </p:cNvPr>
          <p:cNvSpPr txBox="1"/>
          <p:nvPr/>
        </p:nvSpPr>
        <p:spPr>
          <a:xfrm>
            <a:off x="609600" y="1346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FFFFFF"/>
                </a:solidFill>
                <a:latin typeface="Arial" panose="020B0604020202020204" pitchFamily="34" charset="0"/>
              </a:rPr>
              <a:t>Development of a Web Application for Sports Facility Queuing and Maintenance Reporting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9E728-BFB1-0978-D705-77DCED675B0A}"/>
              </a:ext>
            </a:extLst>
          </p:cNvPr>
          <p:cNvSpPr txBox="1"/>
          <p:nvPr/>
        </p:nvSpPr>
        <p:spPr>
          <a:xfrm>
            <a:off x="609600" y="35306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E8682C"/>
                </a:solidFill>
                <a:latin typeface="Arial" panose="020B0604020202020204" pitchFamily="34" charset="0"/>
              </a:rPr>
              <a:t>MeQ: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0A78BB-BBA3-F30E-C108-F43600BBE698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Nutthawut Wanma · 66311834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Asst. Prof. Dr. Wansuree Massagram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A7B292-70A7-7B5F-0F1E-42BD7E5D867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8BE536-ED94-E11D-3924-9E8B4B1BADFE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418535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DEEB1E-248D-09A6-1173-71C4D802895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A8FDF-E69B-0F30-E8CC-48A246C77D4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E4AF28-9306-9C39-E596-6812EF634539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063E29-E436-E725-65CC-CE571724940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FE5D67-8A73-EE99-97C5-95C7DCD543CD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4187305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B766A5-081B-917F-B530-1AA22CE7E09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4441EB-F039-BB96-D530-E57CA9E7B73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53275D-9E16-8C5E-ADF8-C0F272BD5B33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BE0E3C3-626B-D9BD-EAC2-90E7A94AD9EB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D3F2701-4DEE-F02B-CB5B-63F1C58322BA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5A0942-6AD9-C5C4-7FCF-90E865444669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FA0908-BF7E-A187-185D-C13F63106C16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1806F81-2F97-92EC-C60B-01527A39073B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B23D736-821E-63A6-0882-1DF19B5E23B4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9B05BA-16D2-6064-051C-CD4CD3FCC36C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5714BB-0655-328C-3C2C-73CC03E799EE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C380C8A-4664-980B-E804-0B2DD8A4F9B8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67C1266-B90A-0C90-26FF-25748FA111D8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C48C49-503E-FBA0-58A1-CE601458896D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9AA80-4D1F-6866-B4C9-D8686D2910F0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0FE1B44-1B62-B723-B11E-DCD895FC287F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F4FEADD-ED1F-4A66-4F06-2429731F5BFA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862227-3839-6B94-5EA9-C7A835989EAD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96C428-E878-06A9-FE34-798F102C5354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239335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44DFC2-CD17-DA66-83A2-E6297B02763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879B36-2A91-3A7F-828E-32B33957666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51B3C-29B0-0124-C9C3-7F424439A81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2AB1470-4183-BACC-C248-3ECFF4E54F4A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00381-99AF-EDD8-8FA0-F951CF26E79F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FC66F1-FCC4-38E4-7264-7FA22DF3698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FF096A1-5703-6968-7A39-9523EC036FC0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303DC5-5754-56BF-998E-97DBAA0D228C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7EFA55B-C5A0-418F-3196-8E90523F1A77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1157C3EF-41B2-3988-FC4A-4C26FCA2B8E9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49D297-BF52-7405-5E18-A79E4E636B6E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D3BF52-A5A2-6702-3092-F6BCAFA87202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703C4CE-EC2F-D925-61C4-44EE93FAE64C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D01EB4-77C7-28E0-D10C-61E78928BA0E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F1F2CB9-BACB-3FCC-3AD9-32BBB838EBE3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93F7B288-2747-6656-E1A3-FDE848D5979B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D7DAE4-64BE-1FC5-E69A-73D46D92F8CB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1505847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63B463-536F-1B76-6240-9FA97947F31A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820685-F6E7-FF71-3300-F8EB49FFA69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0C9438B-087B-BE70-273E-89B0B5315626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BE5476-35DA-FBC7-04B6-16944E07A576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CA57294-EBAD-D68E-D97D-B19FCC782E5F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BA22B2-A583-51A9-8D7D-90292C7ECB5E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4B2E32C-BFB1-A415-C98B-0558F3B704D1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7912B5-3685-F135-1BFE-752DA4F11AC7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F2D6F3E-E08E-ED8A-754E-975995BCCDBF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32F9C9-922C-7C95-37A2-0161F9EFBB58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7C5272A-B551-A973-1F83-AC851A2EDD38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2B8659-29BF-2250-C584-38F034D1C723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CB1CF24-6081-4BB7-80DB-E5E402AD11E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038426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847554-79C0-BB91-3DF3-ABB6B21B2D7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CCF72E-8B75-311F-3852-D3FFF549D0C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78FD0F-09DD-8BF1-68EC-B556E4EFDC8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16CE4A-41EF-9AB4-2958-2EE7E88EEEA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B729DD3-C34A-998C-4CA2-AFD919F06AB0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15CD89-5FF6-5D49-7AEF-B094D62CCEFF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C3458B5-356A-6A8A-06A3-0D57F3AFBA30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90DFBF-51B7-3C84-1FC1-3A9BE284C130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7C93A36-8FA1-9691-E271-F6CB5FFF2F5D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976FFA-C16E-644C-B648-966827F50ED7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9987576-DF4A-E79F-1632-F8B3248C80D2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895D7A-E4F7-39BD-2DA1-2AE2CF900E2E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39A792-62C4-E323-98E3-52BE99F8C0F8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1063088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1F4ADB-28AF-F00D-60F1-8582894DA2A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7557A1-AA13-A426-0089-889147EC3A8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AC25E3-74E4-6A2F-A139-837EEA9E425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21CC30-EB35-95BC-FE9B-CAF9FDCA6091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99EE1-9F96-7B32-FC2D-730FA6E0073C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86551D4-9611-1B08-3032-0842FD6E6A30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A902A9-EA48-896F-8DB9-B2D90403B3DC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46A43A9-C17A-3D13-4F5A-F2880449EA70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122760-6EC7-3A30-CDDB-19C0A91EB7EB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D3A099-67AC-026F-09C8-9B89968ACACB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0AF422-2C3F-7658-EFE5-D0D038565783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638564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6DE345-67E7-D6A4-AAF4-9EA52A94FAD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6E449E-54C7-24CB-4349-8584B6346ED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BADD54-83FB-542B-49E9-C9FA3EFCF302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98D0C0-2FA0-8022-6C75-838089A4972B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4C5CA5E-C886-691B-4D8B-ED2443270E59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9809FF-AEF9-5C31-0353-93E906CDF6E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988BA8-D304-0831-AEAC-7725F36DD331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1753646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BE7A9E-1CFE-49E3-7867-96BCD04BCD6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32C6B-7A1C-024D-224E-6D8B8E85754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FA4CA5-A012-311A-4B92-5C0ADC902F53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8E9D14-BC5D-8630-509E-2953286FB563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D48996-2729-B2D0-7B89-16AAED3DD381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B08F03-98C3-C54D-E4CA-E2CA973012CD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94B0A0-B5B2-8249-D1DB-DCE2614C3DF8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6D1D0E-A160-2C9B-4CD6-6AC1259243F1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F44811D-B948-DD3E-1782-4AC0C71ED916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751150-1C8B-6B03-8F1B-8E115CB90EF1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C11967-3389-FA40-C23F-5DE78FDBCA02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0349B2E-B620-A487-5F18-6C76277B80CB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2147CD-F77D-9A2C-1E3E-595917982C9E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648ED3-BA7F-D8EE-4F23-A365ED7CF13B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4D8AA5E-E76F-43BD-01C9-3C3AA6BB282B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D4180B-2385-0C24-629E-68091EDD11CC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7E82F8E-ECE7-EB9D-32D4-A6129DDD07CC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17BFA-4FB3-387F-9636-097BDC05B233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86E5099-72CC-1498-7D32-820E2F065489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C8BA67-A1B3-C010-B02F-0FEC46B17396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D7F5A76-E58A-5ACD-7FBD-01C7D9DA4FC2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88489B-0008-706F-180C-41EE6998A139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E46161C-942A-7D25-5789-F918DF597176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F754D8-EAA3-915E-E73C-A6620A6DCF0E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907716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FCDD08-B391-BD55-2059-CE905D553CB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WALKTHROUGH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CE5220-1E54-0F86-1605-C1FE38D9994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round, step by step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BC79C9-0672-5DC1-A993-5870D4D241C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F88184-70BD-A5D4-797A-AF91CD2E715B}"/>
              </a:ext>
            </a:extLst>
          </p:cNvPr>
          <p:cNvSpPr txBox="1"/>
          <p:nvPr/>
        </p:nvSpPr>
        <p:spPr>
          <a:xfrm>
            <a:off x="2463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CC18EC-9DB8-F444-DC95-5B3F90640807}"/>
              </a:ext>
            </a:extLst>
          </p:cNvPr>
          <p:cNvSpPr/>
          <p:nvPr/>
        </p:nvSpPr>
        <p:spPr>
          <a:xfrm>
            <a:off x="609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029554-F5DF-253E-62AF-E4349E15CF4A}"/>
              </a:ext>
            </a:extLst>
          </p:cNvPr>
          <p:cNvSpPr txBox="1"/>
          <p:nvPr/>
        </p:nvSpPr>
        <p:spPr>
          <a:xfrm>
            <a:off x="1041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Join the queue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96D1333-F52D-A905-82BA-70B5B16278B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632C61-EDAD-3666-D784-7D4B36B6AD67}"/>
              </a:ext>
            </a:extLst>
          </p:cNvPr>
          <p:cNvSpPr txBox="1"/>
          <p:nvPr/>
        </p:nvSpPr>
        <p:spPr>
          <a:xfrm>
            <a:off x="4749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7034CDA-ED46-35EE-628F-ED6799C27CF9}"/>
              </a:ext>
            </a:extLst>
          </p:cNvPr>
          <p:cNvSpPr/>
          <p:nvPr/>
        </p:nvSpPr>
        <p:spPr>
          <a:xfrm>
            <a:off x="2895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8C58D-5AEB-C87C-7DB5-AAE14D284510}"/>
              </a:ext>
            </a:extLst>
          </p:cNvPr>
          <p:cNvSpPr txBox="1"/>
          <p:nvPr/>
        </p:nvSpPr>
        <p:spPr>
          <a:xfrm>
            <a:off x="3327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LINE notifications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35E4516-5552-97DB-54B3-80E8150E8705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CE17540-58D4-9A76-14D2-8F740365229F}"/>
              </a:ext>
            </a:extLst>
          </p:cNvPr>
          <p:cNvSpPr txBox="1"/>
          <p:nvPr/>
        </p:nvSpPr>
        <p:spPr>
          <a:xfrm>
            <a:off x="7035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91CA921-C976-5524-891B-0CF7E556C237}"/>
              </a:ext>
            </a:extLst>
          </p:cNvPr>
          <p:cNvSpPr/>
          <p:nvPr/>
        </p:nvSpPr>
        <p:spPr>
          <a:xfrm>
            <a:off x="5181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FF272D-69A6-DF4C-4B2D-B39EAE0FE98B}"/>
              </a:ext>
            </a:extLst>
          </p:cNvPr>
          <p:cNvSpPr txBox="1"/>
          <p:nvPr/>
        </p:nvSpPr>
        <p:spPr>
          <a:xfrm>
            <a:off x="5613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8BDB6DD-7524-35AC-6F18-FE0307771B1A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CF02B7D-9EE2-C1D6-A112-685225DD7275}"/>
              </a:ext>
            </a:extLst>
          </p:cNvPr>
          <p:cNvSpPr txBox="1"/>
          <p:nvPr/>
        </p:nvSpPr>
        <p:spPr>
          <a:xfrm>
            <a:off x="9321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C56288C-BD4E-F38C-A632-62CCEB44D71C}"/>
              </a:ext>
            </a:extLst>
          </p:cNvPr>
          <p:cNvSpPr/>
          <p:nvPr/>
        </p:nvSpPr>
        <p:spPr>
          <a:xfrm>
            <a:off x="7467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A7FB92-C975-1773-2AE3-5DCEE62DA072}"/>
              </a:ext>
            </a:extLst>
          </p:cNvPr>
          <p:cNvSpPr txBox="1"/>
          <p:nvPr/>
        </p:nvSpPr>
        <p:spPr>
          <a:xfrm>
            <a:off x="7899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Submit the scores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8AB8538-EF06-D6CF-40F3-9B5C26BAA7FA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F668461B-7C52-E3AE-2670-C116877DD714}"/>
              </a:ext>
            </a:extLst>
          </p:cNvPr>
          <p:cNvSpPr/>
          <p:nvPr/>
        </p:nvSpPr>
        <p:spPr>
          <a:xfrm>
            <a:off x="9753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A11470-BC73-A570-87F4-891BA961C422}"/>
              </a:ext>
            </a:extLst>
          </p:cNvPr>
          <p:cNvSpPr txBox="1"/>
          <p:nvPr/>
        </p:nvSpPr>
        <p:spPr>
          <a:xfrm>
            <a:off x="10185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Result and next step</a:t>
            </a:r>
          </a:p>
        </p:txBody>
      </p:sp>
    </p:spTree>
    <p:extLst>
      <p:ext uri="{BB962C8B-B14F-4D97-AF65-F5344CB8AC3E}">
        <p14:creationId xmlns:p14="http://schemas.microsoft.com/office/powerpoint/2010/main" val="2233364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4A3A03-A023-3F2E-8E6D-1BA78AA37C0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E9397E-5AAE-3AD6-8473-70FD0617E27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CA9C9A-8438-4A86-EBE4-0640DDA561A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C32004-B318-AE9A-08C3-75A9F9AF35D0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B753FA-CCA7-2559-CAC0-DEF101E4E08E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031206-80B1-606B-1D5A-B3408A47CBA3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235414-951A-827E-71D7-9BF44869BA9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6D5E69A-469A-AFDC-E902-0DAAA6A59477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F428C7-D696-ECDF-7F37-F4CAAD3E52B1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400538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CFAA6B-4863-2868-26A2-D8B7CB07F4B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083392-DAC2-DC41-8B68-E43ECDF733E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How each KPI was tested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76FBCD-E9F7-7D74-A73E-739FA2687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276629"/>
              </p:ext>
            </p:extLst>
          </p:nvPr>
        </p:nvGraphicFramePr>
        <p:xfrm>
          <a:off x="609600" y="1422400"/>
          <a:ext cx="109728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1452049621"/>
                    </a:ext>
                  </a:extLst>
                </a:gridCol>
                <a:gridCol w="6654800">
                  <a:extLst>
                    <a:ext uri="{9D8B030D-6E8A-4147-A177-3AD203B41FA5}">
                      <a16:colId xmlns:a16="http://schemas.microsoft.com/office/drawing/2014/main" val="246771538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80498964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KPI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 it was tested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Tools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02457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  Queue integrity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50 simulated users join and leave queues at the same time; then 9 SQL checks look for any rule violation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SQL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383803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2  Rule tests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Automated tests call every database function as different users, including users who must be refused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Node.js, CI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12996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3  LINE timeliness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Time from each event to LINE delivery, read from the notification outbox during the field evaluation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Outbox records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24534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4  Maintenance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Seven scripted steps on the live system: report, duplicate, each status, reject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Scenario, history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083002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  Responsiveness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95th-percentile response time: 50 users on a laptop, 3 users on the live site, and a simulated phone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Lighthouse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03716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6  Usability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13 players answered the 10-item SUS questionnaire after using MeQ at the court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Google Forms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5143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7  Security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Permission tests, an OWASP Top 10:2025 check, a dependency audit, and a scan of the live site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npm audit, ZAP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0857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1B4F6D-27CD-5118-7CDB-5A8714566C17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Every threshold was fixed before measuring.</a:t>
            </a:r>
          </a:p>
        </p:txBody>
      </p:sp>
    </p:spTree>
    <p:extLst>
      <p:ext uri="{BB962C8B-B14F-4D97-AF65-F5344CB8AC3E}">
        <p14:creationId xmlns:p14="http://schemas.microsoft.com/office/powerpoint/2010/main" val="4093874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421F4B-3958-95E3-7DFD-D3153B22B85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43966-04C9-556A-2DF6-D944162B09F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What the 147 automated tests check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917950-C09A-1F49-B5D1-3E16A42A2A50}"/>
              </a:ext>
            </a:extLst>
          </p:cNvPr>
          <p:cNvSpPr txBox="1"/>
          <p:nvPr/>
        </p:nvSpPr>
        <p:spPr>
          <a:xfrm>
            <a:off x="609600" y="13716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115 database tests (pgTAP)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E98EE5-33AB-4549-02E9-B66C278F94D3}"/>
              </a:ext>
            </a:extLst>
          </p:cNvPr>
          <p:cNvSpPr txBox="1"/>
          <p:nvPr/>
        </p:nvSpPr>
        <p:spPr>
          <a:xfrm>
            <a:off x="609600" y="1854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Permissions and row-level security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96C7515-10D1-D236-CE41-23BC36B140CC}"/>
              </a:ext>
            </a:extLst>
          </p:cNvPr>
          <p:cNvSpPr/>
          <p:nvPr/>
        </p:nvSpPr>
        <p:spPr>
          <a:xfrm>
            <a:off x="4368800" y="1828800"/>
            <a:ext cx="2794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64B281-5BFE-81CB-A3CA-E59A8A5C3751}"/>
              </a:ext>
            </a:extLst>
          </p:cNvPr>
          <p:cNvSpPr txBox="1"/>
          <p:nvPr/>
        </p:nvSpPr>
        <p:spPr>
          <a:xfrm>
            <a:off x="7239000" y="1854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49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28A6DE-15AE-A499-8C06-245440DF6ECD}"/>
              </a:ext>
            </a:extLst>
          </p:cNvPr>
          <p:cNvSpPr txBox="1"/>
          <p:nvPr/>
        </p:nvSpPr>
        <p:spPr>
          <a:xfrm>
            <a:off x="609600" y="2413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Location check-in and team readiness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7BC63C3-ACDA-C5F6-F425-DE510F692809}"/>
              </a:ext>
            </a:extLst>
          </p:cNvPr>
          <p:cNvSpPr/>
          <p:nvPr/>
        </p:nvSpPr>
        <p:spPr>
          <a:xfrm>
            <a:off x="4368800" y="2387600"/>
            <a:ext cx="10287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D52811-31CB-1DF3-BEF4-BEF7E13AB5E8}"/>
              </a:ext>
            </a:extLst>
          </p:cNvPr>
          <p:cNvSpPr txBox="1"/>
          <p:nvPr/>
        </p:nvSpPr>
        <p:spPr>
          <a:xfrm>
            <a:off x="5473700" y="2413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526FA2-BC4A-E11E-51F8-1C65EAA60282}"/>
              </a:ext>
            </a:extLst>
          </p:cNvPr>
          <p:cNvSpPr txBox="1"/>
          <p:nvPr/>
        </p:nvSpPr>
        <p:spPr>
          <a:xfrm>
            <a:off x="609600" y="2971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Winner rotation: two wins, then rest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F2C06CE-76B1-2426-0F8F-C84FFBFBE222}"/>
              </a:ext>
            </a:extLst>
          </p:cNvPr>
          <p:cNvSpPr/>
          <p:nvPr/>
        </p:nvSpPr>
        <p:spPr>
          <a:xfrm>
            <a:off x="4368800" y="2946400"/>
            <a:ext cx="800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9F726C-7219-4F10-564B-20DA055233FF}"/>
              </a:ext>
            </a:extLst>
          </p:cNvPr>
          <p:cNvSpPr txBox="1"/>
          <p:nvPr/>
        </p:nvSpPr>
        <p:spPr>
          <a:xfrm>
            <a:off x="5245100" y="2971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39DB4B-EBB3-ED65-A07F-7E84DA9455E8}"/>
              </a:ext>
            </a:extLst>
          </p:cNvPr>
          <p:cNvSpPr txBox="1"/>
          <p:nvPr/>
        </p:nvSpPr>
        <p:spPr>
          <a:xfrm>
            <a:off x="609600" y="35306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Requeue and repeated check-in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AA91BE-739C-651A-89A9-0F600CBF2DA7}"/>
              </a:ext>
            </a:extLst>
          </p:cNvPr>
          <p:cNvSpPr/>
          <p:nvPr/>
        </p:nvSpPr>
        <p:spPr>
          <a:xfrm>
            <a:off x="4368800" y="3505200"/>
            <a:ext cx="508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BF6E1D-0E55-F142-FC38-AF3167B648C1}"/>
              </a:ext>
            </a:extLst>
          </p:cNvPr>
          <p:cNvSpPr txBox="1"/>
          <p:nvPr/>
        </p:nvSpPr>
        <p:spPr>
          <a:xfrm>
            <a:off x="4953000" y="3530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B2FDD9-9D15-5589-6E01-DA936CAA2260}"/>
              </a:ext>
            </a:extLst>
          </p:cNvPr>
          <p:cNvSpPr txBox="1"/>
          <p:nvPr/>
        </p:nvSpPr>
        <p:spPr>
          <a:xfrm>
            <a:off x="609600" y="40894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One court failing does not stop others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CCEB761-E518-2854-A4A5-8AB6DF8C9724}"/>
              </a:ext>
            </a:extLst>
          </p:cNvPr>
          <p:cNvSpPr/>
          <p:nvPr/>
        </p:nvSpPr>
        <p:spPr>
          <a:xfrm>
            <a:off x="4368800" y="40640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1D088C-B128-6815-4D52-258FB51FEC91}"/>
              </a:ext>
            </a:extLst>
          </p:cNvPr>
          <p:cNvSpPr txBox="1"/>
          <p:nvPr/>
        </p:nvSpPr>
        <p:spPr>
          <a:xfrm>
            <a:off x="4902200" y="4089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A4DCE1-CCF5-E0C2-7A3E-A0330C403362}"/>
              </a:ext>
            </a:extLst>
          </p:cNvPr>
          <p:cNvSpPr txBox="1"/>
          <p:nvPr/>
        </p:nvSpPr>
        <p:spPr>
          <a:xfrm>
            <a:off x="609600" y="4648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Challenger returns when the winner leaves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FA75901-E8E9-135A-ACCF-FA8E326B3D41}"/>
              </a:ext>
            </a:extLst>
          </p:cNvPr>
          <p:cNvSpPr/>
          <p:nvPr/>
        </p:nvSpPr>
        <p:spPr>
          <a:xfrm>
            <a:off x="4368800" y="46228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667CE8-77F8-0009-5B35-99DB32FEA03B}"/>
              </a:ext>
            </a:extLst>
          </p:cNvPr>
          <p:cNvSpPr txBox="1"/>
          <p:nvPr/>
        </p:nvSpPr>
        <p:spPr>
          <a:xfrm>
            <a:off x="4902200" y="4648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AD22D8-437B-8C9D-56A9-AAE8C72B42FA}"/>
              </a:ext>
            </a:extLst>
          </p:cNvPr>
          <p:cNvSpPr txBox="1"/>
          <p:nvPr/>
        </p:nvSpPr>
        <p:spPr>
          <a:xfrm>
            <a:off x="609600" y="5207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Full flows: game, queue, teams, maintenance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450B393-7E91-5E6F-B6D5-0FAE6784B0CE}"/>
              </a:ext>
            </a:extLst>
          </p:cNvPr>
          <p:cNvSpPr/>
          <p:nvPr/>
        </p:nvSpPr>
        <p:spPr>
          <a:xfrm>
            <a:off x="4368800" y="5181600"/>
            <a:ext cx="3429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07C833-E2D4-5704-98B1-80A0A9B61EF1}"/>
              </a:ext>
            </a:extLst>
          </p:cNvPr>
          <p:cNvSpPr txBox="1"/>
          <p:nvPr/>
        </p:nvSpPr>
        <p:spPr>
          <a:xfrm>
            <a:off x="4787900" y="5207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3A2A60-FF21-9D42-C81D-53BC351A2746}"/>
              </a:ext>
            </a:extLst>
          </p:cNvPr>
          <p:cNvSpPr txBox="1"/>
          <p:nvPr/>
        </p:nvSpPr>
        <p:spPr>
          <a:xfrm>
            <a:off x="609600" y="5765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LINE outbox: claim, retry, expiry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C35DE21-CCEA-C736-DF18-C82636610A53}"/>
              </a:ext>
            </a:extLst>
          </p:cNvPr>
          <p:cNvSpPr/>
          <p:nvPr/>
        </p:nvSpPr>
        <p:spPr>
          <a:xfrm>
            <a:off x="4368800" y="5740400"/>
            <a:ext cx="165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0A3BC1-372A-8259-8A6A-7C9B5739C20B}"/>
              </a:ext>
            </a:extLst>
          </p:cNvPr>
          <p:cNvSpPr txBox="1"/>
          <p:nvPr/>
        </p:nvSpPr>
        <p:spPr>
          <a:xfrm>
            <a:off x="4610100" y="5765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3A1356B-3041-808B-1B36-631C0A9EEBBA}"/>
              </a:ext>
            </a:extLst>
          </p:cNvPr>
          <p:cNvSpPr/>
          <p:nvPr/>
        </p:nvSpPr>
        <p:spPr>
          <a:xfrm>
            <a:off x="7924800" y="1371600"/>
            <a:ext cx="3657600" cy="2794000"/>
          </a:xfrm>
          <a:prstGeom prst="roundRect">
            <a:avLst>
              <a:gd name="adj" fmla="val 6364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052A10-BA92-32BB-39FD-868C17468B2E}"/>
              </a:ext>
            </a:extLst>
          </p:cNvPr>
          <p:cNvSpPr txBox="1"/>
          <p:nvPr/>
        </p:nvSpPr>
        <p:spPr>
          <a:xfrm>
            <a:off x="8178800" y="1574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32 unit tests (TypeScript)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816138-CBFB-E23E-B46D-942592359A38}"/>
              </a:ext>
            </a:extLst>
          </p:cNvPr>
          <p:cNvSpPr txBox="1"/>
          <p:nvPr/>
        </p:nvSpPr>
        <p:spPr>
          <a:xfrm>
            <a:off x="8178800" y="2006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Removed browser-side queue code stays removed; security headers (10)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LINE message text and recipients (5)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Administrator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Live refresh of court pages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Team location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Maintenance statistics (3)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Game lifecycle states (2)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FDC87F-7884-3CC7-ADB5-7523D7E5B1F3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All 147 run on every change in GitHub Actions; a change that fails any test cannot be merged.</a:t>
            </a:r>
          </a:p>
        </p:txBody>
      </p:sp>
    </p:spTree>
    <p:extLst>
      <p:ext uri="{BB962C8B-B14F-4D97-AF65-F5344CB8AC3E}">
        <p14:creationId xmlns:p14="http://schemas.microsoft.com/office/powerpoint/2010/main" val="3837301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308CB0-16C5-F9D9-08F9-654C067828E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108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53A659-C613-711B-C9A0-A2111B3330D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9117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5265DB-EFCF-572D-0891-E3ACD631EEE3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36EEC-C257-4128-0B02-FB3714A4F90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EF65E9-468C-4C50-9529-34EFBC44E286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20E31A-BDC5-FAAB-8BDF-FDC3A74CD77A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272AC-58C9-9201-FF1A-F886F2379326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D82FE4-A628-FD33-63DC-E42181D9591B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816462D-9954-FE54-926B-13F8144CE7C7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082086E-0131-2000-97F4-F455ACC7AD6A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E5518C-B31F-4041-1B80-95F37B96CFE7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ECC39C-9AA1-DA4A-0103-275B035D8F89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AE162EB-AF76-2B92-A203-4373990E3EA1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F511950-3AF3-5998-67E2-AEAE2B279CF0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254417-CBB4-D900-C6EE-DB70F1A4C38A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19447-72B7-9317-9BF4-28E2B24EA4FD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FDE2675-3491-872F-678D-B15ECFF7D173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3564639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F3C02B-2D0F-B243-9E43-B09B8CEF954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DATA PROTECTION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83F94-78A7-F72D-2148-EDF88EABFA0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Personal data protection (PDPA B.E. 2562)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24E701-575A-1C66-0E56-3FBD6933C2DF}"/>
              </a:ext>
            </a:extLst>
          </p:cNvPr>
          <p:cNvSpPr/>
          <p:nvPr/>
        </p:nvSpPr>
        <p:spPr>
          <a:xfrm>
            <a:off x="9042400" y="685800"/>
            <a:ext cx="2540000" cy="431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3 met · 5 partial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E86FE52-3749-4797-6D65-604644CEA6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8576475"/>
              </p:ext>
            </p:extLst>
          </p:nvPr>
        </p:nvGraphicFramePr>
        <p:xfrm>
          <a:off x="609600" y="1371600"/>
          <a:ext cx="109728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43406392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548632034"/>
                    </a:ext>
                  </a:extLst>
                </a:gridCol>
                <a:gridCol w="6908800">
                  <a:extLst>
                    <a:ext uri="{9D8B030D-6E8A-4147-A177-3AD203B41FA5}">
                      <a16:colId xmlns:a16="http://schemas.microsoft.com/office/drawing/2014/main" val="1112419449"/>
                    </a:ext>
                  </a:extLst>
                </a:gridCol>
              </a:tblGrid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Duty</a:t>
                      </a:r>
                    </a:p>
                  </a:txBody>
                  <a:tcPr marL="101600" marT="50800" marB="508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101600" marT="50800" marB="508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What MeQ does, and what is missing</a:t>
                      </a:r>
                    </a:p>
                  </a:txBody>
                  <a:tcPr marL="101600" marT="50800" marB="50800">
                    <a:solidFill>
                      <a:srgbClr val="1E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9020090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  Notice and purpose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06300"/>
                          </a:solidFill>
                          <a:latin typeface="Arial" panose="020B0604020202020204" pitchFamily="34" charset="0"/>
                        </a:rPr>
                        <a:t>✓ Met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 privacy page states what is collected, why, and who can see it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413028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2  Lawful basis, consent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8A4B00"/>
                          </a:solidFill>
                          <a:latin typeface="Arial" panose="020B0604020202020204" pitchFamily="34" charset="0"/>
                        </a:rPr>
                        <a:t>◐ Partial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Data serve the service; LINE only after adding the account; no consent step at sign-in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921942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3  Data minimization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06300"/>
                          </a:solidFill>
                          <a:latin typeface="Arial" panose="020B0604020202020204" pitchFamily="34" charset="0"/>
                        </a:rPr>
                        <a:t>✓ Met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No e-mail, phone number, or coordinates; only the distance to the court is stored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338682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4  Retention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8A4B00"/>
                          </a:solidFill>
                          <a:latin typeface="Arial" panose="020B0604020202020204" pitchFamily="34" charset="0"/>
                        </a:rPr>
                        <a:t>◐ Partial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Location checks expire in 30 minutes; old logs and photos are not deleted automatically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1470744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  Security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06300"/>
                          </a:solidFill>
                          <a:latin typeface="Arial" panose="020B0604020202020204" pitchFamily="34" charset="0"/>
                        </a:rPr>
                        <a:t>✓ Met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Row-level security, a private photo bucket, HTTPS and security headers (KPI-7)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94585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6  Processors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8A4B00"/>
                          </a:solidFill>
                          <a:latin typeface="Arial" panose="020B0604020202020204" pitchFamily="34" charset="0"/>
                        </a:rPr>
                        <a:t>◐ Partial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Supabase, Vercel, and LINE are named; only their standard terms apply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551530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7  Rights of the data subject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8A4B00"/>
                          </a:solidFill>
                          <a:latin typeface="Arial" panose="020B0604020202020204" pitchFamily="34" charset="0"/>
                        </a:rPr>
                        <a:t>◐ Partial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Access or deletion on request through LINE; no self-service deletion</a:t>
                      </a:r>
                    </a:p>
                  </a:txBody>
                  <a:tcPr marL="101600" marT="50800" marB="508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615960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8  Breach notification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8A4B00"/>
                          </a:solidFill>
                          <a:latin typeface="Arial" panose="020B0604020202020204" pitchFamily="34" charset="0"/>
                        </a:rPr>
                        <a:t>◐ Partial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Audit logs exist; no written procedure for reporting a breach</a:t>
                      </a:r>
                    </a:p>
                  </a:txBody>
                  <a:tcPr marL="1016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16690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08CAAC0-20E6-85FB-BB06-49A274C11731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Self-assessment against the main duties of a data controller (thesis Table 3.7); not a legal review.</a:t>
            </a:r>
          </a:p>
        </p:txBody>
      </p:sp>
    </p:spTree>
    <p:extLst>
      <p:ext uri="{BB962C8B-B14F-4D97-AF65-F5344CB8AC3E}">
        <p14:creationId xmlns:p14="http://schemas.microsoft.com/office/powerpoint/2010/main" val="653258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8200AD-C89B-54F3-C699-C723B45CEA0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D84BB5-9176-6D36-2C89-524BF41993B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7BABF70-A0D7-7B99-4258-A8D048B3CA32}"/>
              </a:ext>
            </a:extLst>
          </p:cNvPr>
          <p:cNvSpPr/>
          <p:nvPr/>
        </p:nvSpPr>
        <p:spPr>
          <a:xfrm>
            <a:off x="609600" y="1498600"/>
            <a:ext cx="3479800" cy="4445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125FE-BDCF-5FC9-87A8-1C844F966F10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76D7F0-B097-DF1B-61E2-254BDF8494BA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5FD87A1-1F18-A67B-5164-70BE7D578191}"/>
              </a:ext>
            </a:extLst>
          </p:cNvPr>
          <p:cNvSpPr/>
          <p:nvPr/>
        </p:nvSpPr>
        <p:spPr>
          <a:xfrm>
            <a:off x="4356100" y="1498600"/>
            <a:ext cx="3479800" cy="4445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DDEB4-C3B0-0ECC-C1CA-DA855C43BE08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DF9D4D-727E-6D89-4772-20BE6D7130CA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702AA87-E064-81A7-3796-CB4D353FEDD0}"/>
              </a:ext>
            </a:extLst>
          </p:cNvPr>
          <p:cNvSpPr/>
          <p:nvPr/>
        </p:nvSpPr>
        <p:spPr>
          <a:xfrm>
            <a:off x="8102600" y="1498600"/>
            <a:ext cx="3479800" cy="4445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10D94C-C44A-6A99-1522-DE6F44FA0A71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3B2D01-43BD-2288-3291-6A8A96F94E1C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29384136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24334D-13F4-5AB2-591D-29F058568891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05CD6E-B8B8-2D86-BEA5-9AFF3E22D861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DE86EF-62E2-8554-59B9-3602A91C81FB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C35729-E517-67BB-1806-B25F6FA9E28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475912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2738</Words>
  <Application>Microsoft Office PowerPoint</Application>
  <PresentationFormat>Custom</PresentationFormat>
  <Paragraphs>292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NUTTHAWUT WANMA</dc:creator>
  <cp:lastModifiedBy>NUTTHAWUT WANMA</cp:lastModifiedBy>
  <cp:revision>1</cp:revision>
  <dcterms:created xsi:type="dcterms:W3CDTF">2026-10-19T07:29:31Z</dcterms:created>
  <dcterms:modified xsi:type="dcterms:W3CDTF">2026-10-19T07:29:31Z</dcterms:modified>
</cp:coreProperties>
</file>