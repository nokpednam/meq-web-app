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BAD2B9-6AC0-4C39-AB16-FD54E5D1003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A122F2-03A1-4C7C-8C12-EFAAD79510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7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ผมณัฐวุฒิ วันมา วันนี้จะนำเสนอวิทยานิพนธ์เรื่อง การพัฒนาเว็บแอปพลิเคชันสำหรับการจัดคิวสิ่งอำนวยความสะดวกด้านกีฬาและการรายงานการบำรุงรักษา ระบบที่พัฒนาชื่อว่า </a:t>
            </a:r>
            <a:r>
              <a:rPr lang="en-US"/>
              <a:t>MeQ (20 </a:t>
            </a:r>
            <a:r>
              <a:rPr lang="th-TH"/>
              <a:t>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788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225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30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451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464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85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8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012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1253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364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4175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KPI </a:t>
            </a:r>
            <a:r>
              <a:rPr lang="th-TH"/>
              <a:t>แต่ละตัววัดคนละเรื่องและใช้เครื่องมือต่างกัน </a:t>
            </a:r>
            <a:r>
              <a:rPr lang="en-US"/>
              <a:t>KPI-1 </a:t>
            </a:r>
            <a:r>
              <a:rPr lang="th-TH"/>
              <a:t>จำลองผู้ใช้ 50 คนกดเข้าออกคิวพร้อมกัน แล้วใช้ </a:t>
            </a:r>
            <a:r>
              <a:rPr lang="en-US"/>
              <a:t>SQL 9 </a:t>
            </a:r>
            <a:r>
              <a:rPr lang="th-TH"/>
              <a:t>ข้อตรวจว่ามีอะไรผิดกติกาไหม </a:t>
            </a:r>
            <a:r>
              <a:rPr lang="en-US"/>
              <a:t>KPI-2 </a:t>
            </a:r>
            <a:r>
              <a:rPr lang="th-TH"/>
              <a:t>คือเทสอัตโนมัติ </a:t>
            </a:r>
            <a:r>
              <a:rPr lang="en-US"/>
              <a:t>KPI-3 </a:t>
            </a:r>
            <a:r>
              <a:rPr lang="th-TH"/>
              <a:t>วัดเวลาส่ง </a:t>
            </a:r>
            <a:r>
              <a:rPr lang="en-US"/>
              <a:t>LINE </a:t>
            </a:r>
            <a:r>
              <a:rPr lang="th-TH"/>
              <a:t>จากข้อมูลจริงวันทดสอบ </a:t>
            </a:r>
            <a:r>
              <a:rPr lang="en-US"/>
              <a:t>KPI-4 </a:t>
            </a:r>
            <a:r>
              <a:rPr lang="th-TH"/>
              <a:t>ทำตามสถานการณ์แจ้งซ่อม 7 ขั้นบนระบบจริง </a:t>
            </a:r>
            <a:r>
              <a:rPr lang="en-US"/>
              <a:t>KPI-5 </a:t>
            </a:r>
            <a:r>
              <a:rPr lang="th-TH"/>
              <a:t>วัดความเร็วด้วย </a:t>
            </a:r>
            <a:r>
              <a:rPr lang="en-US"/>
              <a:t>k6 </a:t>
            </a:r>
            <a:r>
              <a:rPr lang="th-TH"/>
              <a:t>และ </a:t>
            </a:r>
            <a:r>
              <a:rPr lang="en-US"/>
              <a:t>Lighthouse KPI-6 </a:t>
            </a:r>
            <a:r>
              <a:rPr lang="th-TH"/>
              <a:t>คือแบบสอบถาม </a:t>
            </a:r>
            <a:r>
              <a:rPr lang="en-US"/>
              <a:t>SUS </a:t>
            </a:r>
            <a:r>
              <a:rPr lang="th-TH"/>
              <a:t>และ </a:t>
            </a:r>
            <a:r>
              <a:rPr lang="en-US"/>
              <a:t>KPI-7 </a:t>
            </a:r>
            <a:r>
              <a:rPr lang="th-TH"/>
              <a:t>ตรวจความปลอดภัยด้วยหลายเครื่องมือ ทุกเกณฑ์ตั้งไว้ก่อนวัดผล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897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เทส 147 ข้อแบ่งเป็นสองส่วน ส่วนแรกคือเทสฐานข้อมูล 115 ข้อ เกือบครึ่งเป็นเรื่องสิทธิ์ ว่าใครอ่านหรือแก้อะไรได้บ้าง รองลงมาคือการเช็กอินด้วยตำแหน่ง กติกาชนะสองเกมแล้วพัก และการต่อคิวใหม่ อีกส่วนคือ </a:t>
            </a:r>
            <a:r>
              <a:rPr lang="en-US"/>
              <a:t>unit test 32 </a:t>
            </a:r>
            <a:r>
              <a:rPr lang="th-TH"/>
              <a:t>ข้อ ตรวจฝั่งโค้ด </a:t>
            </a:r>
            <a:r>
              <a:rPr lang="en-US"/>
              <a:t>TypeScript </a:t>
            </a:r>
            <a:r>
              <a:rPr lang="th-TH"/>
              <a:t>เช่น ข้อความ </a:t>
            </a:r>
            <a:r>
              <a:rPr lang="en-US"/>
              <a:t>LINE </a:t>
            </a:r>
            <a:r>
              <a:rPr lang="th-TH"/>
              <a:t>และ </a:t>
            </a:r>
            <a:r>
              <a:rPr lang="en-US"/>
              <a:t>security headers </a:t>
            </a:r>
            <a:r>
              <a:rPr lang="th-TH"/>
              <a:t>ทุกครั้งที่แก้โค้ด </a:t>
            </a:r>
            <a:r>
              <a:rPr lang="en-US"/>
              <a:t>GitHub </a:t>
            </a:r>
            <a:r>
              <a:rPr lang="th-TH"/>
              <a:t>จะรันทั้ง 147 ข้อ ถ้าไม่ผ่านจะ </a:t>
            </a:r>
            <a:r>
              <a:rPr lang="en-US"/>
              <a:t>merge </a:t>
            </a:r>
            <a:r>
              <a:rPr lang="th-TH"/>
              <a:t>ไม่ได้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19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2886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137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366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A122F2-03A1-4C7C-8C12-EFAAD79510C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81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B69F9-7C35-606D-2E81-C551F2D44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78ADD2-59FA-7C8D-5EAD-9CD8C8C313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D9981-F203-99DA-E738-C58FA3511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85035-04D7-A370-15A5-09AE538A2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342379-F59E-423A-6E99-93F81DA7D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821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DB6FE-67B2-7393-28C0-908F8D8A4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AAA50-8E42-46A3-329D-56EC756A4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BF82D-32EC-1EF8-9E56-9F80E897C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1C2D2-011D-7126-0CE8-52F53D1C8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2B2E2-75FC-46C2-7600-FCA9261F7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252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8279D-E3F5-8031-2AA1-AEC3A0E64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D63BF-DB3A-D16E-19DF-944D7430E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3075A2-01E3-18ED-850B-D6CADB0E8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4F4E6-C906-AFE8-562C-CB57EC92D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59A0-5986-F558-7DAB-BDFA2CF1F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672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8CC54-4BDF-27D6-17E8-FAB80BE89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55B7F-0913-2BB2-60FA-76F759DB9E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1C5CF-99F3-6A82-D175-332B9B1D53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B2DE5-9A39-FE9F-A997-D533E6D1A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18CD8D-94BE-663B-AD86-E8AA1EFF9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70181-7F78-4E4E-2A64-914E09595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3D74-5F43-E183-9413-6A69990F8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9075C-F456-4B35-7DEE-5E2F63CD2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8DA0B8-31DB-69FA-2864-8FDC586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FE0E90-4F82-2656-7DB9-1BE9DD182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6D582D-4117-D5C3-9B57-6A4CC7A477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DB4293-C924-AC27-EAA0-C5C0D64B2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B5E2C9-9B7F-1B10-53B1-F95BC6ED9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0FBA5-46BF-3040-8A6D-1074F7A1A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08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ACD67-26F2-6FC5-F987-C4040757C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3D4CD5-9008-7E01-C42D-8B5AE9E8E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BA9A6-C9CC-BDBF-004E-EE0700201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FFC975-4945-0661-F192-808C0650C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388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08212D-3746-3D9A-8C5E-EB816B7EF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42E96C-0812-E235-E187-3D340978A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9808A-2EDD-3F3B-4DAD-ADA212BE0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2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17B22-A309-29B8-10DE-9D9D0144B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92DE4-F9CE-8E5B-4B5C-391C9BE8AC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5816E8-0287-C9F0-2327-9A4EBAFCF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A0147C-7AF7-3349-8B06-2D3F95302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22704-FCDE-D0B7-DB1E-FDDA07E02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953DC2-14DB-9A72-365F-1D0B19A39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22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9C241-DFB3-A1A4-C3F4-736494B38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C66023-B998-DDFB-B669-C87FFB71F82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3550C-E35A-A437-604D-255D2A7A0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7117FE-B841-1D80-9CC8-6A8BA2BBA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1B09ED-D11F-B126-A85C-CD9AB971E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AE009-617B-9471-F12C-C8260CE1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32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0720B-8BED-2403-EC41-18CDD5D3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73677-4A36-BF28-8F59-6FE5DEE449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A7453-872B-8E7B-0BD2-48C205280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2B5FB-7C00-1079-F250-F6115B18C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F3467-B54F-EA6C-B24B-EA9A262FD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62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2C6D85-AAF5-6D70-51CF-1231783FAB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ECF03E-461C-03EA-ED03-9ECC8F6B30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8AFA4-FEA0-4D52-DC3D-4EF98AEE5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7689E-71CF-B9D6-B7C3-67535383C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ADF27-6346-093B-C09A-A7EB0829E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99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BB0181-DE14-D931-705F-3038D77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837153-943E-73E8-FCA9-4E3F8CF047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0F80D-A521-0055-559E-7FED36966E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33C7C7-1B17-4686-9750-035CC70786C9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101C-2B60-8520-927F-1A57722C85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795E9-AE37-7D45-1D73-E8B7D4CC9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34439-8949-4FE2-BEA2-170B05B185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339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BF8F24-3A32-BE08-6C58-BB69462C3F0A}"/>
              </a:ext>
            </a:extLst>
          </p:cNvPr>
          <p:cNvSpPr txBox="1"/>
          <p:nvPr/>
        </p:nvSpPr>
        <p:spPr>
          <a:xfrm>
            <a:off x="609600" y="1016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UNDERGRADUATE THESIS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2AA53D-B267-025D-052C-EBA6FDF36272}"/>
              </a:ext>
            </a:extLst>
          </p:cNvPr>
          <p:cNvSpPr txBox="1"/>
          <p:nvPr/>
        </p:nvSpPr>
        <p:spPr>
          <a:xfrm>
            <a:off x="609600" y="1346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</a:rPr>
              <a:t>Development of a Web Application for Sports Facility Queuing and Maintenance Reporting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343E8B-E6B9-23EE-E3DA-4A060AAC8CE6}"/>
              </a:ext>
            </a:extLst>
          </p:cNvPr>
          <p:cNvSpPr txBox="1"/>
          <p:nvPr/>
        </p:nvSpPr>
        <p:spPr>
          <a:xfrm>
            <a:off x="609600" y="35306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E8682C"/>
                </a:solidFill>
                <a:latin typeface="Arial" panose="020B0604020202020204" pitchFamily="34" charset="0"/>
              </a:rPr>
              <a:t>MeQ: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61A38F-8B76-FA10-64F9-6FA448103142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Nutthawut Wanma · 66311834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Asst. Prof. Dr. Wansuree Massagram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55C50C-19B5-FC86-CDAD-9B34023252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5C22BD-BAE2-115C-A8D1-1F6D2EB7933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590162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B381B3-9FDC-0114-5B12-662956C34D3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87A624-C96E-82CB-4E2D-6D31567F9BE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C4DF1-E23D-3943-B392-CC3A4FDD72F3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B042E4-7701-60CD-D11B-984737F6833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FE1001-9457-E03B-8A71-04A4A1170D9F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619798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95129D-AC94-D0B2-FEC8-CDF4E9D04FB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6EDE4C-BE36-CA93-8A45-783C0BCD211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785E3-B771-8D80-4E7E-DB2E444B642B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7E54BD-D949-D4BF-B5FC-0E6BBD42CFD4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2B2D35D-15BA-EA31-4B2D-5855018801FC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BBF49C-1A7B-C8D5-FE3F-677731707DF4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D8A1BB-6121-DD17-629B-0D32B77F1FD1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9294818-E7AF-7666-63E1-06680DAB0E66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D1E3FB7-B40B-C677-39C5-D5E8FA395A56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599F06-972A-6942-EBC5-4BD7D70C235B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3D5A62-77BF-6474-5E75-F2227EBA1DDC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A79C2CD-43CF-9193-9CA8-79EECF30D051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C25FE85-F47E-9915-DE04-1CAF7E225DA2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C8289F-0E22-A1CB-B0BF-F2C74FF0E5EA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FFE2DA-AC99-15E0-669C-0570E34FD67D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B20ECC8-F8C5-A094-F616-6D2805262B05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FBB9BE3-5D30-3DBB-67E5-F738F10827E0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B1B6C-FCEB-08AD-587A-7A817FEC3314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1D913D-11A4-CA30-E7B3-76B401FC99D6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1391846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A0FB8F-FA5C-1863-F273-F03E457BCE9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B99DF5-A34F-E7BF-2827-1FD9AF4D178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AE2AE-03DD-F35C-1E79-3C71B38C3D6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58674EB8-BF01-BF8E-52C9-8D32497D8962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C94FB-39E0-ACA5-55B4-B788914A2A05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DC4397-BD5A-0568-C2E4-6CEE26BD652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70EE63A-4350-4159-2A49-A5D3918A0117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420DA-5C55-486F-9755-54302A4AF74B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79B906-00FB-64E8-3829-EC752D6245D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6A6148BA-6565-5318-E7C5-78E52F263BB5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6AC614-9061-6DF4-45FF-AEBC08B83534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5952B3-267B-3C72-1B52-3190A537EE9B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B622756-0CB8-8410-76AB-19C1DD775A0D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A51A57-A6DA-1A4E-F008-0E68B81F633C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AC23DA3-B52F-FDAB-3AD2-F49FBB4D698B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79E903C4-DC35-B1A6-AB47-65657B72E57E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AEBBD9-87D2-B43B-4F5C-968005409A54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278125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604EE2-5E85-36F6-0A8B-A71BD2934C4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AB2DCD-3FE1-6538-5FF3-AC60F22D6A3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6F45DD-E1C4-B3F2-6B7E-70DC7E8903DA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B4647-F0E5-4028-A6ED-5CC1555C6A3C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5F52F4A-74C6-656F-54E5-94F629D50834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71F295-9F17-80D7-3455-9F30944175A2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B8B5927-8BB8-9947-7434-025FE7E6F6AB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CC8655-2BA5-5164-86CA-BC305291871A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952A2A8-31FB-5974-EBF6-5AEDE66441B2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70DD37-6FAD-03B5-D5F5-64EE38A1B27B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968C389-F7D2-496D-2699-822CE8F34675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FFABAD-C5FC-EAC3-62AD-D54F89A80BD1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96CB020-5E24-C19A-9528-7B3338B3FDD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010619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97BBE-4C3B-D7E7-1D03-83AB1A5D1BC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A2B725-73F0-8305-57B1-815698EED18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0FADD2-6AF8-835B-35EA-832C8107416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B3561C-B6AA-DABD-1445-B57CBA3DA15E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A7C7D9-783A-66F7-3FFF-F7608E5DCF7C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48DF4E-B4A7-5FFE-A669-38C8F50FA44C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6AC6504-9D5A-188A-ECEF-8FCB33D6F406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6DF564-F2A1-F3F3-1F74-FA4363750801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5091AB-1E7B-7A1E-9BA1-CE322A77F860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9C5ED9-444F-AEC9-A75D-E375213E7C6D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ED7C135-33B7-4E04-A492-9E8C02B1E1B2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B37E8A-BC3C-A381-1FC0-1BFAEDD3F466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E0F2F0-4225-DEDE-C0B6-7C6FFD40B31A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2227513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F95782-60D7-7687-1C04-2549C995617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2EDFE5-002F-AA9E-6F33-3F40031350B9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231926-C0E7-A89C-F146-48562596C77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533D07-D2AC-A777-D908-0A28218B49F2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4800D-C813-DBBE-415F-A45BD45C5C04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340188-1604-5C56-D1F7-147B1835C5D6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E5626-A717-0A3A-B2D6-E7602C2B6331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9E3EBED-BC4F-1715-D625-B655AEB50898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C78277-4162-B872-0B43-7457494CAC37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3FCD79-D87D-D6DE-53BB-90AC7B9B45B6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9A34F4-E500-6E29-26B1-56F2D28C1D1B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1503246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A32962-87B4-4D51-C00E-462AFE30C6F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93F97-A991-12CB-02C4-8A07F3D5EC4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4EA1C2-051A-AE84-7C69-085CAD203F81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BDD076-5178-7CD1-E8EA-C667B03541E6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1C15EC6-D761-15EC-0E29-7F917528E30F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243452-2755-D45A-34DC-572E035D2C5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5226ECF-60A0-6F04-C8E3-1601BA8C2DC8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3891032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16F6C8-0FE9-6D79-E7B2-D043D3B8F74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C0C271-59BD-782F-A18C-432BC831BA6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6110712-17BE-3CEF-AB4D-97C5D2E9F360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753D74-06BB-7147-BAC0-78CBB2CD2C3D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31BC54-EE09-0341-31CF-0758D54030DE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02B9AE-1ACD-8691-A3CA-C7BDB33E953D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7DA18C-8017-5FF6-6CD1-AAD1F646321D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32164B-A325-3710-1CBD-A56CFAEA0D00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D661774-B7FB-CA6C-C755-3D90C4894828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368AC0-F550-383C-8CA0-B2F396E00006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BE982A-CC10-D93B-72E9-4D3449CF5ABE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FA6F40B-8122-CB51-5A4E-31EB63060BE8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6C5277-9BD6-1369-2494-44A7C1D61D8A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D6F766-A9DD-1BD5-AE2C-921F03CAA4D7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41DEF02-9193-FBFB-1A72-D261FEE749D1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9119EC-72DF-44DA-B76E-AC4E06D6765E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4158BE8-0A80-6D4C-FCAD-DF9F1AACE585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4005F-7E9E-E4E9-B374-92C662105A79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693D826-6157-64F3-9F37-3FB16B96AF0B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DC6B5-16B7-F4D3-68DD-0D2F9F0605E8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D3B3F56-29F8-3A79-8E18-47F029D4BCBF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593C74-D123-5360-6C8B-C92D7E2F1151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EF57938-1813-1B00-8154-795C15A34B14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DC44B5-DE96-A1A3-5198-DF5B492234A7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2376545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B4C600-44CF-8AE9-DA29-CACD1DDACEF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08D18-498D-EE6E-C3A7-9C26698F299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D2218-BB01-5FBA-59F0-F8A695A0529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DF5BA3-3C19-F6BF-E6FC-C6A8C1822407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D9B21E-53F6-FBE7-846C-CC24E23923B4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62DB9C-2D8D-2160-6751-1DA144597D84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A06C5A5-C546-5AE4-1789-7DE718DEF04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127391-8F85-BFDC-1A08-04344DD63480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7568A1-6378-9E00-9BC2-A59ED1F541AA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48100B-03A1-12CC-34F7-98226D71EC71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3516252-F1D9-DB48-9981-5A9558A9D8F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67F62BB-1C0B-3F5F-1048-2B1AD3399960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6D2AA95-EF34-5893-7EDE-A9086DFFA925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900526-AD93-7E66-12FC-DE057B0F5616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D4F1CA6-CEDE-8257-5577-3B4A703CC909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E1E2EA1-5F13-04B4-9149-464DA990E8D1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8331324-B8BF-5736-C447-4A8735CEB622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A40F0A-A2A0-3728-816C-EFA6EADC5D56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7A97C79-465F-50CD-1F48-ED753FD5E948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4E320E5F-98B5-C216-EB2D-28161F0C4637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A40314-5697-11E6-C3A3-EA73C278FEE6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694781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732E00-392A-8D7E-E3C6-7B5E58DC79C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C1F7B2-F04C-032C-03CF-B06BAE28992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6FE091-042D-A82E-971E-FB886219014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EB5FFD-C3A9-D02B-B2C8-7610B1300B70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70030B-FD41-71DF-C287-5B8A7C1E821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A45E7C-D23E-AD22-4991-FD01F3F5FF6D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72FE73-BCF9-F7F4-29D9-A728C506ED53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18792-CDDF-1330-1E03-579789AE6F0F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5F85B3-8512-924C-188C-3FBE884C82EA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991453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776EAB-496E-AFC0-7DA1-F130EAC1161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F50905-3081-7C3E-8FCC-4E81AF99555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How each KPI was tested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9EFE7E9-9F00-5CB6-9375-3BAE19AC9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397908"/>
              </p:ext>
            </p:extLst>
          </p:nvPr>
        </p:nvGraphicFramePr>
        <p:xfrm>
          <a:off x="609600" y="14224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600228913"/>
                    </a:ext>
                  </a:extLst>
                </a:gridCol>
                <a:gridCol w="6654800">
                  <a:extLst>
                    <a:ext uri="{9D8B030D-6E8A-4147-A177-3AD203B41FA5}">
                      <a16:colId xmlns:a16="http://schemas.microsoft.com/office/drawing/2014/main" val="303774751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01398027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KPI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 it was tested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Tools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464974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Queue integrity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50 simulated users join and leave queues at the same time; then 9 SQL checks look for any rule violation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SQL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594611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Rule tests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Automated tests call every database function as different users, including users who must be refused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Node.js, CI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95391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LINE timeliness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Time from each event to LINE delivery, read from the notification outbox during the field evaluation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Outbox records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01530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Maintenance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Seven scripted steps on the live system: report, duplicate, each status, reject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Scenario, history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52582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Responsiveness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95th-percentile response time: 50 users on a laptop, 3 users on the live site, and a simulated phone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Lighthouse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152024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Usability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13 players answered the 10-item SUS questionnaire after using MeQ at the court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Google Forms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28639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Security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Permission tests, an OWASP Top 10:2025 check, a dependency audit, and a scan of the live site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npm audit, ZAP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79938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2467EC-F8DA-FF2A-C4B1-4BF350EC2908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Every threshold was fixed before measuring.</a:t>
            </a:r>
          </a:p>
        </p:txBody>
      </p:sp>
    </p:spTree>
    <p:extLst>
      <p:ext uri="{BB962C8B-B14F-4D97-AF65-F5344CB8AC3E}">
        <p14:creationId xmlns:p14="http://schemas.microsoft.com/office/powerpoint/2010/main" val="3116088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3592A-B2B7-F50D-8134-8A1CB8E1F29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63946E-EE5F-4817-605D-E5A53164860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What the 147 automated tests check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D6BE4-BD79-A340-7089-2187D0344951}"/>
              </a:ext>
            </a:extLst>
          </p:cNvPr>
          <p:cNvSpPr txBox="1"/>
          <p:nvPr/>
        </p:nvSpPr>
        <p:spPr>
          <a:xfrm>
            <a:off x="609600" y="1371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115 database tests (pgTAP)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A429BE-2B6A-27AB-0BBC-1ED6F513B042}"/>
              </a:ext>
            </a:extLst>
          </p:cNvPr>
          <p:cNvSpPr txBox="1"/>
          <p:nvPr/>
        </p:nvSpPr>
        <p:spPr>
          <a:xfrm>
            <a:off x="609600" y="1854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Permissions and row-level security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63E53F-B8C9-0380-511A-D7DEC6E70F50}"/>
              </a:ext>
            </a:extLst>
          </p:cNvPr>
          <p:cNvSpPr/>
          <p:nvPr/>
        </p:nvSpPr>
        <p:spPr>
          <a:xfrm>
            <a:off x="4368800" y="1828800"/>
            <a:ext cx="2794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F0CD73-3832-0461-266D-4748BB6B97B6}"/>
              </a:ext>
            </a:extLst>
          </p:cNvPr>
          <p:cNvSpPr txBox="1"/>
          <p:nvPr/>
        </p:nvSpPr>
        <p:spPr>
          <a:xfrm>
            <a:off x="7239000" y="1854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89956A-8182-58DD-40C7-7DF579DC92D9}"/>
              </a:ext>
            </a:extLst>
          </p:cNvPr>
          <p:cNvSpPr txBox="1"/>
          <p:nvPr/>
        </p:nvSpPr>
        <p:spPr>
          <a:xfrm>
            <a:off x="609600" y="2413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Location check-in and team readiness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8652FE-647A-34E5-1EE9-559B625F4A95}"/>
              </a:ext>
            </a:extLst>
          </p:cNvPr>
          <p:cNvSpPr/>
          <p:nvPr/>
        </p:nvSpPr>
        <p:spPr>
          <a:xfrm>
            <a:off x="4368800" y="2387600"/>
            <a:ext cx="10287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AC7863-C522-D54F-052E-456354A7A6C2}"/>
              </a:ext>
            </a:extLst>
          </p:cNvPr>
          <p:cNvSpPr txBox="1"/>
          <p:nvPr/>
        </p:nvSpPr>
        <p:spPr>
          <a:xfrm>
            <a:off x="5473700" y="2413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107965-204A-ABE8-FE9B-40D70B811F14}"/>
              </a:ext>
            </a:extLst>
          </p:cNvPr>
          <p:cNvSpPr txBox="1"/>
          <p:nvPr/>
        </p:nvSpPr>
        <p:spPr>
          <a:xfrm>
            <a:off x="609600" y="2971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Winner rotation: two wins, then rest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47A041-7C35-8FAF-A27B-6AEA45BCD73F}"/>
              </a:ext>
            </a:extLst>
          </p:cNvPr>
          <p:cNvSpPr/>
          <p:nvPr/>
        </p:nvSpPr>
        <p:spPr>
          <a:xfrm>
            <a:off x="4368800" y="2946400"/>
            <a:ext cx="800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60473-E6F5-54B9-C7C8-FB5B805B2779}"/>
              </a:ext>
            </a:extLst>
          </p:cNvPr>
          <p:cNvSpPr txBox="1"/>
          <p:nvPr/>
        </p:nvSpPr>
        <p:spPr>
          <a:xfrm>
            <a:off x="5245100" y="2971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541AA6-6BFC-1671-1BC6-20B869F8EEDC}"/>
              </a:ext>
            </a:extLst>
          </p:cNvPr>
          <p:cNvSpPr txBox="1"/>
          <p:nvPr/>
        </p:nvSpPr>
        <p:spPr>
          <a:xfrm>
            <a:off x="609600" y="35306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Requeue and repeated check-in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685EACF-D0A4-BFF0-9C0C-D3CEA8D5B6B3}"/>
              </a:ext>
            </a:extLst>
          </p:cNvPr>
          <p:cNvSpPr/>
          <p:nvPr/>
        </p:nvSpPr>
        <p:spPr>
          <a:xfrm>
            <a:off x="4368800" y="3505200"/>
            <a:ext cx="508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FA7B78-2407-9AFB-7F73-1E5DF1E1B03C}"/>
              </a:ext>
            </a:extLst>
          </p:cNvPr>
          <p:cNvSpPr txBox="1"/>
          <p:nvPr/>
        </p:nvSpPr>
        <p:spPr>
          <a:xfrm>
            <a:off x="4953000" y="3530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8E035-A9E9-067E-7626-B04A7ECD91C7}"/>
              </a:ext>
            </a:extLst>
          </p:cNvPr>
          <p:cNvSpPr txBox="1"/>
          <p:nvPr/>
        </p:nvSpPr>
        <p:spPr>
          <a:xfrm>
            <a:off x="609600" y="40894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One court failing does not stop others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8ACE6E2-CFC2-97D1-CB80-2949C9E4AC92}"/>
              </a:ext>
            </a:extLst>
          </p:cNvPr>
          <p:cNvSpPr/>
          <p:nvPr/>
        </p:nvSpPr>
        <p:spPr>
          <a:xfrm>
            <a:off x="4368800" y="40640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146A63-D804-70B3-4C9B-A4513237E018}"/>
              </a:ext>
            </a:extLst>
          </p:cNvPr>
          <p:cNvSpPr txBox="1"/>
          <p:nvPr/>
        </p:nvSpPr>
        <p:spPr>
          <a:xfrm>
            <a:off x="4902200" y="4089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42A697-A2E6-D672-6916-1658B60AD55F}"/>
              </a:ext>
            </a:extLst>
          </p:cNvPr>
          <p:cNvSpPr txBox="1"/>
          <p:nvPr/>
        </p:nvSpPr>
        <p:spPr>
          <a:xfrm>
            <a:off x="609600" y="4648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Challenger returns when the winner leaves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81853B-9711-D06F-5386-F70779797F06}"/>
              </a:ext>
            </a:extLst>
          </p:cNvPr>
          <p:cNvSpPr/>
          <p:nvPr/>
        </p:nvSpPr>
        <p:spPr>
          <a:xfrm>
            <a:off x="4368800" y="46228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34F803-A69F-E1CF-F623-3A4AD8A7F085}"/>
              </a:ext>
            </a:extLst>
          </p:cNvPr>
          <p:cNvSpPr txBox="1"/>
          <p:nvPr/>
        </p:nvSpPr>
        <p:spPr>
          <a:xfrm>
            <a:off x="4902200" y="4648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0A841-80EC-F8A6-FDDB-A0227EEC0A54}"/>
              </a:ext>
            </a:extLst>
          </p:cNvPr>
          <p:cNvSpPr txBox="1"/>
          <p:nvPr/>
        </p:nvSpPr>
        <p:spPr>
          <a:xfrm>
            <a:off x="609600" y="5207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Full flows: game, queue, teams, maintenance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B12D020-36B2-83D3-2D0B-1C9E66765BB7}"/>
              </a:ext>
            </a:extLst>
          </p:cNvPr>
          <p:cNvSpPr/>
          <p:nvPr/>
        </p:nvSpPr>
        <p:spPr>
          <a:xfrm>
            <a:off x="4368800" y="5181600"/>
            <a:ext cx="3429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710097-0275-EA31-5ACD-3687908BA5F6}"/>
              </a:ext>
            </a:extLst>
          </p:cNvPr>
          <p:cNvSpPr txBox="1"/>
          <p:nvPr/>
        </p:nvSpPr>
        <p:spPr>
          <a:xfrm>
            <a:off x="4787900" y="5207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D0B824-7DED-16AF-E352-3901E43B9749}"/>
              </a:ext>
            </a:extLst>
          </p:cNvPr>
          <p:cNvSpPr txBox="1"/>
          <p:nvPr/>
        </p:nvSpPr>
        <p:spPr>
          <a:xfrm>
            <a:off x="609600" y="5765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LINE outbox: claim, retry, expiry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0272E5A-4897-4427-EAAC-DBD2986B0133}"/>
              </a:ext>
            </a:extLst>
          </p:cNvPr>
          <p:cNvSpPr/>
          <p:nvPr/>
        </p:nvSpPr>
        <p:spPr>
          <a:xfrm>
            <a:off x="4368800" y="5740400"/>
            <a:ext cx="165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0DBD9D-D5B3-4520-2824-5D38BB495788}"/>
              </a:ext>
            </a:extLst>
          </p:cNvPr>
          <p:cNvSpPr txBox="1"/>
          <p:nvPr/>
        </p:nvSpPr>
        <p:spPr>
          <a:xfrm>
            <a:off x="4610100" y="5765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C8101D2-4F99-5A8E-1FAC-AC5A21B60BC0}"/>
              </a:ext>
            </a:extLst>
          </p:cNvPr>
          <p:cNvSpPr/>
          <p:nvPr/>
        </p:nvSpPr>
        <p:spPr>
          <a:xfrm>
            <a:off x="7924800" y="1371600"/>
            <a:ext cx="3657600" cy="2794000"/>
          </a:xfrm>
          <a:prstGeom prst="roundRect">
            <a:avLst>
              <a:gd name="adj" fmla="val 6364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37C736-1AE7-035E-28DD-02B01DAFDE78}"/>
              </a:ext>
            </a:extLst>
          </p:cNvPr>
          <p:cNvSpPr txBox="1"/>
          <p:nvPr/>
        </p:nvSpPr>
        <p:spPr>
          <a:xfrm>
            <a:off x="8178800" y="1574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32 unit tests (TypeScript)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EC5DB4-9D25-EBC1-7BE3-F8FCFC18B664}"/>
              </a:ext>
            </a:extLst>
          </p:cNvPr>
          <p:cNvSpPr txBox="1"/>
          <p:nvPr/>
        </p:nvSpPr>
        <p:spPr>
          <a:xfrm>
            <a:off x="8178800" y="2006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Removed browser-side queue code stays removed; security headers (10)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LINE message text and recipients (5)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Administrator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Live refresh of court pages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Team location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Maintenance statistics (3)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Game lifecycle states (2)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933556-B84B-DE7D-6D25-E4185CFE6A6B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All 147 run on every change in GitHub Actions; a change that fails any test cannot be merged.</a:t>
            </a:r>
          </a:p>
        </p:txBody>
      </p:sp>
    </p:spTree>
    <p:extLst>
      <p:ext uri="{BB962C8B-B14F-4D97-AF65-F5344CB8AC3E}">
        <p14:creationId xmlns:p14="http://schemas.microsoft.com/office/powerpoint/2010/main" val="1238467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153B09-49F3-6396-FBCC-86FBCCBF44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4163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06CE72-A97B-6384-B4FE-382A09006EB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865CE-23E0-C92C-9F0D-F001444B6869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55B554-86C7-8224-0FA9-D671172DFDEC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C84142-B639-885C-6EA9-BF8665F0681C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6B6C1E-9E10-5DF7-96E8-A6A6A11D5398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4C469-B40B-1FD5-694E-2216009F41BF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2A28438-F771-68A6-0458-F7C7001E18AE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2752944-1E44-3F5A-F5C2-2D878D5EF5AF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40CCB5-2CDD-5333-58E0-12C40AA204ED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ED2C2-F0D8-CB56-B225-2931DA043A9E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94B6278-8AEC-BF97-859F-1E82B06BDE71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4A282A2-E2D6-631C-183B-4E15E1EF0FC2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8AD70A-93B3-8E31-EBA8-F156E8CE3A49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BD7F8A-1824-0B0D-0C1B-9489D2C5F3EB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A3640F5-8741-F90C-872A-3A91A92BC405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3519178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3E576B-8FD2-AA83-6FD3-6B162EC97E3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ECA07B-CA27-A3D8-CF85-372F13BCDD9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58BA7F9-D694-D424-CC8E-9B37F073A745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4FF0B-617A-BDE1-A9A8-6ADE120E3743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FFA9DC-BD18-8959-2E8B-FCA367AC5AF8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49FF19F-9FA6-EC7E-0384-30C8CB756CC5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C2AA72-E86B-AE08-9DC8-5EADE5786719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18CAF-E2A2-36DE-B643-67C4352F112A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3BBDD6C-19CF-B18B-6794-EDE15CE4B16B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65231-3EE4-1D22-96EE-A322209BAB9C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24D23C-8290-53D0-EC15-F843D9964665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837124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E6310E-2AF0-3432-0C60-E8BE20F7F7B3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C2ED9-A7D8-9F72-54BB-4D70D6A11693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069259-EBE0-553C-E695-54A3E49C45E9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415CD0-6528-CFB6-7F46-CAC3AF46116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211864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2367</Words>
  <Application>Microsoft Office PowerPoint</Application>
  <PresentationFormat>Custom</PresentationFormat>
  <Paragraphs>257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2026-10-18T18:21:51Z</dcterms:created>
  <dcterms:modified xsi:type="dcterms:W3CDTF">2026-10-18T18:21:51Z</dcterms:modified>
</cp:coreProperties>
</file>