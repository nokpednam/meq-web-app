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3C3E7F-E506-49E5-927C-D6B894B94F7B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3309EF-F97F-4E18-B6E2-66E4B90BA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867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สวัสดีครับ ผม ... วันนี้จะนำเสนอโปรเจกต์ </a:t>
            </a:r>
            <a:r>
              <a:rPr lang="en-US"/>
              <a:t>MeQ </a:t>
            </a:r>
            <a:r>
              <a:rPr lang="th-TH"/>
              <a:t>ระบบคิวสนามบาสและแจ้งซ่อมของมหาวิทยาลัยนเรศวร (20 วินาที)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3309EF-F97F-4E18-B6E2-66E4B90BA3C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4774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ตอนเย็นทีมที่มารอมีมากกว่าจำนวนสนาม คิวมีอยู่แค่ในความจำของผู้เล่น ทีมที่มาใหม่ต้องถามว่าใครต่อคิวท้ายสุด ทุกคนมองไม่เห็นลำดับ และไม่มีอะไรบังคับให้เป็นไปตามลำดับ เลยทะเลาะกันบ่อย งานวิจัยเรื่องคิวบอกว่าความยุติธรรมที่ผู้คนมองเห็นสำคัญพอ ๆ กับเวลาที่ต้องรอ อีกปัญหาหนึ่งคืออุปกรณ์เสียแล้วไม่มีช่องทางแจ้ง ระบบจองของมหาวิทยาลัยมีอยู่แล้ว แต่ใช้สำหรับจองล่วงหน้า ไม่ได้รองรับคนที่เดินมาเล่น (1 นาที)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3309EF-F97F-4E18-B6E2-66E4B90BA3C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481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คำถามหลักคือ คิวที่ฐานข้อมูลเป็นคนบังคับกติกา บวกกับการแจ้งเตือนผ่าน </a:t>
            </a:r>
            <a:r>
              <a:rPr lang="en-US"/>
              <a:t>LINE </a:t>
            </a:r>
            <a:r>
              <a:rPr lang="th-TH"/>
              <a:t>จะใช้แทนการต่อคิวแบบปากต่อปากได้ไหม ผมแบ่งเป็นวัตถุประสงค์ 4 ข้อ และตั้งเกณฑ์วัดผล 7 ตัวไว้ก่อนเริ่มวัดผล (1 นาที)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3309EF-F97F-4E18-B6E2-66E4B90BA3C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0847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MeQ </a:t>
            </a:r>
            <a:r>
              <a:rPr lang="th-TH"/>
              <a:t>เป็นเว็บแอปที่เปิดบนมือถือ ไม่ต้องติดตั้ง ผู้ใช้ล็อกอินด้วย </a:t>
            </a:r>
            <a:r>
              <a:rPr lang="en-US"/>
              <a:t>LINE </a:t>
            </a:r>
            <a:r>
              <a:rPr lang="th-TH"/>
              <a:t>สร้างทีม เชิญเพื่อน แล้วเข้าคิวสนามที่ต้องการ เมื่อถึงคิว ระบบเรียกทีมและแจ้งเตือนผ่าน </a:t>
            </a:r>
            <a:r>
              <a:rPr lang="en-US"/>
              <a:t>LINE </a:t>
            </a:r>
            <a:r>
              <a:rPr lang="th-TH"/>
              <a:t>ทุกคนในทีมต้องเช็กอินที่สนาม พอเล่นจบ ทั้งสองทีมส่งคะแนน ระบบตรวจว่าคะแนนตรงกันแล้วบันทึกลงสถิติ (1 นาที)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3309EF-F97F-4E18-B6E2-66E4B90BA3C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4422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กติกาเหล่านี้เป็นกติกาที่ผู้เล่นใช้กันอยู่แล้วที่สนาม ผมแค่เอามาให้ระบบบังคับใช้แทนคน ที่ผู้เล่นสนใจที่สุดคือข้อทีมชนะอยู่ต่อได้ 2 เกมแล้วต้องพัก เพื่อไม่ให้ทีมเก่งทีมเดียวครองสนามทั้งคืน (1 นาที)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3309EF-F97F-4E18-B6E2-66E4B90BA3C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3535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ผู้เล่นถ่ายรูปจุดที่เสียแล้วส่งรายงาน แอดมินได้รับแจ้งเตือนผ่าน </a:t>
            </a:r>
            <a:r>
              <a:rPr lang="en-US"/>
              <a:t>LINE </a:t>
            </a:r>
            <a:r>
              <a:rPr lang="th-TH"/>
              <a:t>ทันที ทุกครั้งที่สถานะเปลี่ยน ผู้แจ้งได้รับแจ้งเตือน และระบบเก็บประวัติไว้ทุกขั้น (40 วินาที)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3309EF-F97F-4E18-B6E2-66E4B90BA3C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8445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หน้าเว็บทำด้วย </a:t>
            </a:r>
            <a:r>
              <a:rPr lang="en-US"/>
              <a:t>Next.js </a:t>
            </a:r>
            <a:r>
              <a:rPr lang="th-TH"/>
              <a:t>และ </a:t>
            </a:r>
            <a:r>
              <a:rPr lang="en-US"/>
              <a:t>deploy </a:t>
            </a:r>
            <a:r>
              <a:rPr lang="th-TH"/>
              <a:t>บน </a:t>
            </a:r>
            <a:r>
              <a:rPr lang="en-US"/>
              <a:t>Vercel </a:t>
            </a:r>
            <a:r>
              <a:rPr lang="th-TH"/>
              <a:t>ฝั่งหลังบ้านใช้ </a:t>
            </a:r>
            <a:r>
              <a:rPr lang="en-US"/>
              <a:t>Supabase </a:t>
            </a:r>
            <a:r>
              <a:rPr lang="th-TH"/>
              <a:t>ซึ่งมีฐานข้อมูล </a:t>
            </a:r>
            <a:r>
              <a:rPr lang="en-US"/>
              <a:t>PostgreSQL </a:t>
            </a:r>
            <a:r>
              <a:rPr lang="th-TH"/>
              <a:t>ระบบล็อกอิน และที่เก็บรูป การแจ้งเตือนส่งผ่าน </a:t>
            </a:r>
            <a:r>
              <a:rPr lang="en-US"/>
              <a:t>LINE Messaging API </a:t>
            </a:r>
            <a:r>
              <a:rPr lang="th-TH"/>
              <a:t>ทั้งหมดใช้บริการแบบฟรี (1 นาที 10 วินาที)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3309EF-F97F-4E18-B6E2-66E4B90BA3C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6703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นี่คือหัวใจของงาน ถ้าให้หน้าเว็บเป็นคนตัดสินกติกา คนที่รู้วิธีก็โกงได้ หรือถ้าสองทีมกดเข้าคิวพร้อมกันก็อาจได้คิวซ้อนกัน ผมจึงให้ฐานข้อมูลเป็นกรรมการ ทุกการเปลี่ยนแปลงต้องผ่านฟังก์ชันที่ตรวจสิทธิ์และกติกาภายใน </a:t>
            </a:r>
            <a:r>
              <a:rPr lang="en-US"/>
              <a:t>transaction </a:t>
            </a:r>
            <a:r>
              <a:rPr lang="th-TH"/>
              <a:t>ตำแหน่ง </a:t>
            </a:r>
            <a:r>
              <a:rPr lang="en-US"/>
              <a:t>GPS </a:t>
            </a:r>
            <a:r>
              <a:rPr lang="th-TH"/>
              <a:t>ก็คำนวณระยะทางที่เซิร์ฟเวอร์ ไม่เชื่อค่าที่หน้าเว็บส่งมาว่าอยู่ในระยะ (1 นาที 10 วินาที)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3309EF-F97F-4E18-B6E2-66E4B90BA3C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9007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ผมพัฒนาแบบสร้าง ทดสอบ แล้วปรับปรุง ทุกครั้งที่แก้โค้ด </a:t>
            </a:r>
            <a:r>
              <a:rPr lang="en-US"/>
              <a:t>GitHub </a:t>
            </a:r>
            <a:r>
              <a:rPr lang="th-TH"/>
              <a:t>จะรันเทสอัตโนมัติ 147 ข้อ ถ้าข้อไหนไม่ผ่านจะ </a:t>
            </a:r>
            <a:r>
              <a:rPr lang="en-US"/>
              <a:t>merge </a:t>
            </a:r>
            <a:r>
              <a:rPr lang="th-TH"/>
              <a:t>ไม่ได้ และบั๊กที่เจอจากการทดสอบที่สนามจริง แก้แล้วจะเขียนเทสเพิ่มเพื่อไม่ให้บั๊กนั้นกลับมาอีก (50 วินาที)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3309EF-F97F-4E18-B6E2-66E4B90BA3C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0257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(พูดตามวิดีโอ) อัดหน้าจอระหว่างเทสที่สนามวันที่ 17 ต.ค. ตัดให้เหลือไม่เกิน 90 วินาที แล้ววางแทนกล่องวิดีโอ (1 นาที 30 วินาที)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3309EF-F97F-4E18-B6E2-66E4B90BA3C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620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วันที่ 17 ต.ค. ผมพาผู้เล่น 13 คน 4 ทีม มาใช้ระบบจริงที่สนาม ตั้งแต่ 5 โมงครึ่งถึง 6 โมงครึ่ง ตามแผนจะเทสที่สนามในร่ม แต่วันนั้นกำลังซ่อมไฟสนาม ไม่มีไฟ คนเลยไม่มาเล่น ผมจึงย้ายไปเทสที่สนามคณะวิทยาศาสตร์ซึ่งมีสนามเดียว เล่นแบบ 3</a:t>
            </a:r>
            <a:r>
              <a:rPr lang="en-US"/>
              <a:t>x3 </a:t>
            </a:r>
            <a:r>
              <a:rPr lang="th-TH"/>
              <a:t>ตอนแรกเช็กอินไม่ผ่านเพราะพิกัดในระบบยังชี้ไปที่สนามในร่ม ผมตั้งพิกัดใหม่ที่สนามนั้นทันที (40 วินาที)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3309EF-F97F-4E18-B6E2-66E4B90BA3C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3813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ทุกเกณฑ์ตั้งไว้ก่อนวัดผล ผลออกมาผ่าน 6 จาก 7 ตัว ตัวที่ไม่ผ่านคือ </a:t>
            </a:r>
            <a:r>
              <a:rPr lang="en-US"/>
              <a:t>SUS </a:t>
            </a:r>
            <a:r>
              <a:rPr lang="th-TH"/>
              <a:t>ได้ 67.5 จากผู้เล่น 13 คน ต่ำกว่าเกณฑ์ 68 อยู่ 0.5 คะแนน ถือว่าก้ำกึ่ง ข้อที่ได้คะแนนน้อยคือต้องมีคนช่วยตอนใช้ครั้งแรก โดยเฉพาะ </a:t>
            </a:r>
            <a:r>
              <a:rPr lang="en-US"/>
              <a:t>KPI-1 </a:t>
            </a:r>
            <a:r>
              <a:rPr lang="th-TH"/>
              <a:t>ที่จำลองผู้ใช้ 50 คนกดเข้าออกคิวพร้อมกัน ไม่มีครั้งไหนที่คิวผิดกติกาเลย และมีการกดเข้าคิวซ้ำพร้อมกัน 533 ครั้ง ระบบไม่ยอมรับแม้แต่ครั้งเดียว (1 นาที 30 วินาที)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3309EF-F97F-4E18-B6E2-66E4B90BA3C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4783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สิ่งที่ได้เรียนรู้มากที่สุดคือ เทสอัตโนมัติผ่านหมดก็ยังไม่พอ ต้องให้คนจริงใช้จริง บั๊กที่ร้ายแรงที่สุดเจอจากการทดสอบที่สนาม รวมทั้งหมดเจอ 12 จุด แก้ครบและเพิ่มเทสทุกครั้ง (1 นาที)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3309EF-F97F-4E18-B6E2-66E4B90BA3C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4705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ข้อจำกัดที่ตอบตรง ๆ ได้คือ ถ้ามีคนปลอม </a:t>
            </a:r>
            <a:r>
              <a:rPr lang="en-US"/>
              <a:t>GPS </a:t>
            </a:r>
            <a:r>
              <a:rPr lang="th-TH"/>
              <a:t>ระบบตรวจไม่ได้ และคะแนนเป็นค่าที่ผู้เล่นกรอกเอง ระบบตรวจได้แค่ว่าสองทีมกรอกตรงกัน งานต่อยอดคือขยายไปสนามกีฬาอื่น และใช้ </a:t>
            </a:r>
            <a:r>
              <a:rPr lang="en-US"/>
              <a:t>QR code </a:t>
            </a:r>
            <a:r>
              <a:rPr lang="th-TH"/>
              <a:t>ที่สนามเพื่อยืนยันว่ามาจริง (1 นาที)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3309EF-F97F-4E18-B6E2-66E4B90BA3C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9768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ขอบคุณครับ ยินดีตอบคำถามครับ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3309EF-F97F-4E18-B6E2-66E4B90BA3C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533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C9C18-E1B0-BDAF-3908-B88A117246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6E1011-9D56-5057-D0C3-E93F3BC4A9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82EF53-FAA6-42D5-AB1B-EB3C338D2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A5CFE-9050-4437-825A-E82BC1F4612B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9F5A8-E5F4-B66A-6AFE-E436A8400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49ADDD-A663-E106-67F3-6FA4DD8B6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20A64-9CCF-414F-88B5-1741B06F6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04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315B1-A814-F5CA-28DB-14615CDDF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C8892-4CA2-D16D-7E0D-4141BE6A9F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B59E4C-2819-06CA-93FB-7F28B4D6C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A5CFE-9050-4437-825A-E82BC1F4612B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F41FFA-4153-F6B3-9508-411EF581B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553FD1-FE20-304C-FAE4-5A326151F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20A64-9CCF-414F-88B5-1741B06F6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548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5DF84-568F-0D85-429F-CD091391B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24FF99-D9A7-817E-E5ED-98676C6C68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17AD34-A96C-6FB4-E678-F4B6B7E7A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A5CFE-9050-4437-825A-E82BC1F4612B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F68A2-DE0E-3E97-5DCD-59D98119B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E04AE1-20A3-DA3C-0CD5-5890686E5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20A64-9CCF-414F-88B5-1741B06F6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676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31A2A-FB48-2021-903D-98D83475B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53C7B9-FE24-B674-7279-2825F833E6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B5FC6D-02FB-ECC7-0B2A-2DABB4B308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D90788-5C6B-56B2-F4FC-CA243F7BE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A5CFE-9050-4437-825A-E82BC1F4612B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2CB741-604E-A24A-9C1C-2E8BD8A00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23F966-7288-D2BA-B585-7D6FFE68C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20A64-9CCF-414F-88B5-1741B06F6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263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5D384-EF71-A5F0-9343-653127894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15707E-5A4C-BA1C-1EAF-15163D6859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93DF71-8C05-801B-3A9E-32C60C5903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8854FB-8250-94AA-14C6-3110C91AD8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7A5C0D-6070-71F7-BF14-B0525299DF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204D10-AC8C-CA68-929E-E58FB6DED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A5CFE-9050-4437-825A-E82BC1F4612B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71B014-14E7-0969-0EC0-ABA6EFA3A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BE7DDB-9496-9F82-6555-B54DF3B7D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20A64-9CCF-414F-88B5-1741B06F6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270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6BB4C-A709-BB8F-8630-FB1B45929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028BF4-2539-E5C5-462C-A918BF475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A5CFE-9050-4437-825A-E82BC1F4612B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EE4889-9774-30E9-D2C9-A96E37849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FB5F5A-AC99-2358-DA1F-E19334DEF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20A64-9CCF-414F-88B5-1741B06F6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238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5CFF83-92C3-B15E-C794-2E54577ED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A5CFE-9050-4437-825A-E82BC1F4612B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B9A379-12AC-F6D1-BDD2-FA211BD7B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B93942-A744-9260-038E-A60F72565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20A64-9CCF-414F-88B5-1741B06F6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438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0AC67-7E06-B2DC-1208-7739FED3C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DC3C7-B24F-D21D-AC89-C886E886D0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4CB638-4F2D-D2C0-5403-A20D95E7D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60BC01-4198-CB2F-C5B8-9D7CF5F59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A5CFE-9050-4437-825A-E82BC1F4612B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6DC27C-60E5-4590-FD47-F51D7E9D0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65FA34-EB96-764A-DF83-041973E13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20A64-9CCF-414F-88B5-1741B06F6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752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D7B11-6BB2-D6BF-8431-6515177AA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4ECD21-B0B4-A5DD-28B4-58060C58D7F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067D94-C561-3565-4AB9-9D3F7EEF5A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68B9D2-A820-8D5E-66E6-7FDB28334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A5CFE-9050-4437-825A-E82BC1F4612B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50FFDE-2F3B-2426-6CFC-F2F4674A4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FE1510-B41F-0906-26D2-3677B8482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20A64-9CCF-414F-88B5-1741B06F6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904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B6163-77ED-4A6A-A3DA-362B5C42F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64D14D-60C1-3364-2705-388CC2A127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30365-3286-E499-4033-C597CF799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A5CFE-9050-4437-825A-E82BC1F4612B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17813-D735-5E7C-C881-E9591891A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539B34-6A63-C3C9-8DFF-2EC92D476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20A64-9CCF-414F-88B5-1741B06F6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468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C1F354-6F9F-014C-AE69-9CA0AA9680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33BF24-55BA-EE69-EFF2-475622EE1B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A21BD-0431-811A-A794-84F0DD2D7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A5CFE-9050-4437-825A-E82BC1F4612B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51019C-CA22-9493-C7A7-3756CB05B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38B074-E703-4D58-F56F-CF3D14DC3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20A64-9CCF-414F-88B5-1741B06F6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072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A53298-D525-A84A-39F4-46AA74AAF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47999A-29EE-50B2-8665-F31E9F994A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E31FA-75E9-362E-57AB-ECC9EEDE66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CA5CFE-9050-4437-825A-E82BC1F4612B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B63FA0-187B-40BC-6FEB-FBBE241E06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FF4041-4D32-FF04-EA37-EDC96568CB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E20A64-9CCF-414F-88B5-1741B06F6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423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327FBE6-2CB6-82F2-413F-BA67ACFCB509}"/>
              </a:ext>
            </a:extLst>
          </p:cNvPr>
          <p:cNvSpPr txBox="1"/>
          <p:nvPr/>
        </p:nvSpPr>
        <p:spPr>
          <a:xfrm>
            <a:off x="609600" y="1524000"/>
            <a:ext cx="609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>
                <a:solidFill>
                  <a:srgbClr val="E8682C"/>
                </a:solidFill>
                <a:latin typeface="Arial" panose="020B0604020202020204" pitchFamily="34" charset="0"/>
              </a:rPr>
              <a:t>FINAL-YEAR PROJECT · COMPUTER SCIENCE · NARESUAN UNIVERSITY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E11741-2D5A-F3D0-1660-ED6D180F232E}"/>
              </a:ext>
            </a:extLst>
          </p:cNvPr>
          <p:cNvSpPr txBox="1"/>
          <p:nvPr/>
        </p:nvSpPr>
        <p:spPr>
          <a:xfrm>
            <a:off x="609600" y="1854200"/>
            <a:ext cx="609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7200" b="1">
                <a:solidFill>
                  <a:srgbClr val="FFFFFF"/>
                </a:solidFill>
                <a:latin typeface="Arial" panose="020B0604020202020204" pitchFamily="34" charset="0"/>
              </a:rPr>
              <a:t>MeQ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ED398C-1ABD-930A-EC6A-918E1E280DEF}"/>
              </a:ext>
            </a:extLst>
          </p:cNvPr>
          <p:cNvSpPr txBox="1"/>
          <p:nvPr/>
        </p:nvSpPr>
        <p:spPr>
          <a:xfrm>
            <a:off x="609600" y="3048000"/>
            <a:ext cx="596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400">
                <a:solidFill>
                  <a:srgbClr val="FFFFFF"/>
                </a:solidFill>
                <a:latin typeface="Arial" panose="020B0604020202020204" pitchFamily="34" charset="0"/>
              </a:rPr>
              <a:t>A mobile web application for basketball court queues and maintenance reports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BF3A64-ACEB-C8A0-CDC7-15D422B1E9F6}"/>
              </a:ext>
            </a:extLst>
          </p:cNvPr>
          <p:cNvSpPr txBox="1"/>
          <p:nvPr/>
        </p:nvSpPr>
        <p:spPr>
          <a:xfrm>
            <a:off x="609600" y="4724400"/>
            <a:ext cx="596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>
                <a:solidFill>
                  <a:srgbClr val="C9CED8"/>
                </a:solidFill>
                <a:latin typeface="Arial" panose="020B0604020202020204" pitchFamily="34" charset="0"/>
              </a:rPr>
              <a:t>[Your name] · [Student ID]</a:t>
            </a:r>
          </a:p>
          <a:p>
            <a:r>
              <a:rPr lang="en-US" sz="1600">
                <a:solidFill>
                  <a:srgbClr val="C9CED8"/>
                </a:solidFill>
                <a:latin typeface="Arial" panose="020B0604020202020204" pitchFamily="34" charset="0"/>
              </a:rPr>
              <a:t>Advisor: [Advisor name]</a:t>
            </a:r>
          </a:p>
          <a:p>
            <a:r>
              <a:rPr lang="en-US" sz="1600">
                <a:solidFill>
                  <a:srgbClr val="C9CED8"/>
                </a:solidFill>
                <a:latin typeface="Arial" panose="020B0604020202020204" pitchFamily="34" charset="0"/>
              </a:rPr>
              <a:t>2026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A9E796-DAFF-BF29-49AD-33256412991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889000"/>
            <a:ext cx="2286000" cy="5080000"/>
          </a:xfrm>
          <a:prstGeom prst="rect">
            <a:avLst/>
          </a:prstGeom>
          <a:ln w="12700">
            <a:solidFill>
              <a:srgbClr val="D0D4DC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01054A6-193F-3DCD-FECE-59855B44A5F1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8000" y="889000"/>
            <a:ext cx="2286000" cy="5080000"/>
          </a:xfrm>
          <a:prstGeom prst="rect">
            <a:avLst/>
          </a:prstGeom>
          <a:ln w="12700">
            <a:solidFill>
              <a:srgbClr val="D0D4DC"/>
            </a:solidFill>
          </a:ln>
        </p:spPr>
      </p:pic>
    </p:spTree>
    <p:extLst>
      <p:ext uri="{BB962C8B-B14F-4D97-AF65-F5344CB8AC3E}">
        <p14:creationId xmlns:p14="http://schemas.microsoft.com/office/powerpoint/2010/main" val="1907503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98766F-EA43-A9D7-7410-5B84F630101C}"/>
              </a:ext>
            </a:extLst>
          </p:cNvPr>
          <p:cNvSpPr txBox="1"/>
          <p:nvPr/>
        </p:nvSpPr>
        <p:spPr>
          <a:xfrm>
            <a:off x="609600" y="3810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>
                <a:solidFill>
                  <a:srgbClr val="E8682C"/>
                </a:solidFill>
                <a:latin typeface="Arial" panose="020B0604020202020204" pitchFamily="34" charset="0"/>
              </a:rPr>
              <a:t>WHY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E8F7C8-BAC7-85DE-ABA7-D0B359F85E18}"/>
              </a:ext>
            </a:extLst>
          </p:cNvPr>
          <p:cNvSpPr txBox="1"/>
          <p:nvPr/>
        </p:nvSpPr>
        <p:spPr>
          <a:xfrm>
            <a:off x="609600" y="6350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000" b="1">
                <a:solidFill>
                  <a:srgbClr val="1E2430"/>
                </a:solidFill>
                <a:latin typeface="Arial" panose="020B0604020202020204" pitchFamily="34" charset="0"/>
              </a:rPr>
              <a:t>No one can see the queue, and no one can enforce it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656145-8751-432E-0FFB-E760AA6C8BC7}"/>
              </a:ext>
            </a:extLst>
          </p:cNvPr>
          <p:cNvSpPr txBox="1"/>
          <p:nvPr/>
        </p:nvSpPr>
        <p:spPr>
          <a:xfrm>
            <a:off x="609600" y="1587500"/>
            <a:ext cx="533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54000" indent="-254000">
              <a:spcAft>
                <a:spcPts val="1100"/>
              </a:spcAft>
              <a:buClr>
                <a:srgbClr val="E8682C"/>
              </a:buClr>
              <a:buFont typeface="+mj-lt"/>
              <a:buChar char="•"/>
            </a:pPr>
            <a:r>
              <a:rPr lang="en-US">
                <a:solidFill>
                  <a:srgbClr val="1E2430"/>
                </a:solidFill>
                <a:latin typeface="Arial" panose="020B0604020202020204" pitchFamily="34" charset="0"/>
              </a:rPr>
              <a:t>3 courts (3x3 A, 3x3 B, 5x5), free walk-in play, crowded every evening</a:t>
            </a:r>
          </a:p>
          <a:p>
            <a:pPr marL="254000" indent="-254000">
              <a:spcAft>
                <a:spcPts val="1100"/>
              </a:spcAft>
              <a:buClr>
                <a:srgbClr val="E8682C"/>
              </a:buClr>
              <a:buFont typeface="+mj-lt"/>
              <a:buChar char="•"/>
            </a:pPr>
            <a:r>
              <a:rPr lang="en-US">
                <a:solidFill>
                  <a:srgbClr val="1E2430"/>
                </a:solidFill>
                <a:latin typeface="Arial" panose="020B0604020202020204" pitchFamily="34" charset="0"/>
              </a:rPr>
              <a:t>The queue lives only in players' memory: "Who is last?"</a:t>
            </a:r>
          </a:p>
          <a:p>
            <a:pPr marL="254000" indent="-254000">
              <a:spcAft>
                <a:spcPts val="1100"/>
              </a:spcAft>
              <a:buClr>
                <a:srgbClr val="E8682C"/>
              </a:buClr>
              <a:buFont typeface="+mj-lt"/>
              <a:buChar char="•"/>
            </a:pPr>
            <a:r>
              <a:rPr lang="en-US">
                <a:solidFill>
                  <a:srgbClr val="1E2430"/>
                </a:solidFill>
                <a:latin typeface="Arial" panose="020B0604020202020204" pitchFamily="34" charset="0"/>
              </a:rPr>
              <a:t>No one can see the order or enforce it, so disputes follow</a:t>
            </a:r>
          </a:p>
          <a:p>
            <a:pPr marL="254000" indent="-254000">
              <a:spcAft>
                <a:spcPts val="1100"/>
              </a:spcAft>
              <a:buClr>
                <a:srgbClr val="E8682C"/>
              </a:buClr>
              <a:buFont typeface="+mj-lt"/>
              <a:buChar char="•"/>
            </a:pPr>
            <a:r>
              <a:rPr lang="en-US">
                <a:solidFill>
                  <a:srgbClr val="1E2430"/>
                </a:solidFill>
                <a:latin typeface="Arial" panose="020B0604020202020204" pitchFamily="34" charset="0"/>
              </a:rPr>
              <a:t>Broken hoops and lights go unreported</a:t>
            </a:r>
          </a:p>
          <a:p>
            <a:pPr marL="254000" indent="-254000">
              <a:spcAft>
                <a:spcPts val="1100"/>
              </a:spcAft>
              <a:buClr>
                <a:srgbClr val="E8682C"/>
              </a:buClr>
              <a:buFont typeface="+mj-lt"/>
              <a:buChar char="•"/>
            </a:pPr>
            <a:r>
              <a:rPr lang="en-US">
                <a:solidFill>
                  <a:srgbClr val="1E2430"/>
                </a:solidFill>
                <a:latin typeface="Arial" panose="020B0604020202020204" pitchFamily="34" charset="0"/>
              </a:rPr>
              <a:t>The NU sports booking system handles reservations, not walk-in queues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9576E2-363D-DBA6-C716-0853DEFAB5B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0" y="1778000"/>
            <a:ext cx="5232400" cy="2819400"/>
          </a:xfrm>
          <a:prstGeom prst="rect">
            <a:avLst/>
          </a:prstGeom>
          <a:ln w="12700">
            <a:solidFill>
              <a:srgbClr val="D0D4DC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406E050-9C85-42E7-6190-AE764BF972DA}"/>
              </a:ext>
            </a:extLst>
          </p:cNvPr>
          <p:cNvSpPr txBox="1"/>
          <p:nvPr/>
        </p:nvSpPr>
        <p:spPr>
          <a:xfrm>
            <a:off x="6350000" y="4724400"/>
            <a:ext cx="5232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>
                <a:solidFill>
                  <a:srgbClr val="5B6270"/>
                </a:solidFill>
                <a:latin typeface="Arial" panose="020B0604020202020204" pitchFamily="34" charset="0"/>
              </a:rPr>
              <a:t>The official NU sports page handles reservations, not walk-in play</a:t>
            </a:r>
          </a:p>
        </p:txBody>
      </p:sp>
    </p:spTree>
    <p:extLst>
      <p:ext uri="{BB962C8B-B14F-4D97-AF65-F5344CB8AC3E}">
        <p14:creationId xmlns:p14="http://schemas.microsoft.com/office/powerpoint/2010/main" val="657308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97CA3C-9FB0-8B10-4A18-917FABABE046}"/>
              </a:ext>
            </a:extLst>
          </p:cNvPr>
          <p:cNvSpPr txBox="1"/>
          <p:nvPr/>
        </p:nvSpPr>
        <p:spPr>
          <a:xfrm>
            <a:off x="609600" y="3810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>
                <a:solidFill>
                  <a:srgbClr val="E8682C"/>
                </a:solidFill>
                <a:latin typeface="Arial" panose="020B0604020202020204" pitchFamily="34" charset="0"/>
              </a:rPr>
              <a:t>WHY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4750BC-0866-F05F-A621-1782057251EB}"/>
              </a:ext>
            </a:extLst>
          </p:cNvPr>
          <p:cNvSpPr txBox="1"/>
          <p:nvPr/>
        </p:nvSpPr>
        <p:spPr>
          <a:xfrm>
            <a:off x="609600" y="6350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000" b="1">
                <a:solidFill>
                  <a:srgbClr val="1E2430"/>
                </a:solidFill>
                <a:latin typeface="Arial" panose="020B0604020202020204" pitchFamily="34" charset="0"/>
              </a:rPr>
              <a:t>Research question and objectives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5971669-5713-0691-531B-42A69982C869}"/>
              </a:ext>
            </a:extLst>
          </p:cNvPr>
          <p:cNvSpPr/>
          <p:nvPr/>
        </p:nvSpPr>
        <p:spPr>
          <a:xfrm>
            <a:off x="609600" y="1422400"/>
            <a:ext cx="10972800" cy="1066800"/>
          </a:xfrm>
          <a:prstGeom prst="roundRect">
            <a:avLst>
              <a:gd name="adj" fmla="val 12000"/>
            </a:avLst>
          </a:prstGeom>
          <a:solidFill>
            <a:srgbClr val="FDEEE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04800" rIns="304800" rtlCol="0" anchor="ctr"/>
          <a:lstStyle/>
          <a:p>
            <a:r>
              <a:rPr lang="en-US" sz="2000" i="1">
                <a:solidFill>
                  <a:srgbClr val="1E2430"/>
                </a:solidFill>
                <a:latin typeface="Arial" panose="020B0604020202020204" pitchFamily="34" charset="0"/>
              </a:rPr>
              <a:t>Can a queue whose rules are enforced by the database, together with push notifications, replace word-of-mouth queuing?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AE51135-6FB8-9D75-470C-76F3D9BA68CC}"/>
              </a:ext>
            </a:extLst>
          </p:cNvPr>
          <p:cNvSpPr/>
          <p:nvPr/>
        </p:nvSpPr>
        <p:spPr>
          <a:xfrm>
            <a:off x="609600" y="2819400"/>
            <a:ext cx="2590800" cy="3175000"/>
          </a:xfrm>
          <a:prstGeom prst="roundRect">
            <a:avLst>
              <a:gd name="adj" fmla="val 6863"/>
            </a:avLst>
          </a:prstGeom>
          <a:solidFill>
            <a:srgbClr val="F3F4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8C2FB84-FDE4-012D-8039-1D130C8A12DA}"/>
              </a:ext>
            </a:extLst>
          </p:cNvPr>
          <p:cNvSpPr/>
          <p:nvPr/>
        </p:nvSpPr>
        <p:spPr>
          <a:xfrm>
            <a:off x="863600" y="3073400"/>
            <a:ext cx="508000" cy="508000"/>
          </a:xfrm>
          <a:prstGeom prst="ellipse">
            <a:avLst/>
          </a:prstGeom>
          <a:solidFill>
            <a:srgbClr val="E8682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b="1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D491D3-8E31-EED7-496D-0FCEEAAFF3F5}"/>
              </a:ext>
            </a:extLst>
          </p:cNvPr>
          <p:cNvSpPr txBox="1"/>
          <p:nvPr/>
        </p:nvSpPr>
        <p:spPr>
          <a:xfrm>
            <a:off x="863600" y="3810000"/>
            <a:ext cx="208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1E2430"/>
                </a:solidFill>
                <a:latin typeface="Arial" panose="020B0604020202020204" pitchFamily="34" charset="0"/>
              </a:rPr>
              <a:t>Queues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E049D5-1097-5D43-BBBF-738EFEEF0810}"/>
              </a:ext>
            </a:extLst>
          </p:cNvPr>
          <p:cNvSpPr txBox="1"/>
          <p:nvPr/>
        </p:nvSpPr>
        <p:spPr>
          <a:xfrm>
            <a:off x="863600" y="4241800"/>
            <a:ext cx="208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>
                <a:solidFill>
                  <a:srgbClr val="5B6270"/>
                </a:solidFill>
                <a:latin typeface="Arial" panose="020B0604020202020204" pitchFamily="34" charset="0"/>
              </a:rPr>
              <a:t>Show every court's queue and enforce the court rules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E922075-625E-20BD-5A8E-7BE30DF69127}"/>
              </a:ext>
            </a:extLst>
          </p:cNvPr>
          <p:cNvSpPr/>
          <p:nvPr/>
        </p:nvSpPr>
        <p:spPr>
          <a:xfrm>
            <a:off x="3403600" y="2819400"/>
            <a:ext cx="2590800" cy="3175000"/>
          </a:xfrm>
          <a:prstGeom prst="roundRect">
            <a:avLst>
              <a:gd name="adj" fmla="val 6863"/>
            </a:avLst>
          </a:prstGeom>
          <a:solidFill>
            <a:srgbClr val="F3F4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75BDA4A-7FE0-88BD-CCDB-67170DB6202F}"/>
              </a:ext>
            </a:extLst>
          </p:cNvPr>
          <p:cNvSpPr/>
          <p:nvPr/>
        </p:nvSpPr>
        <p:spPr>
          <a:xfrm>
            <a:off x="3657600" y="3073400"/>
            <a:ext cx="508000" cy="508000"/>
          </a:xfrm>
          <a:prstGeom prst="ellipse">
            <a:avLst/>
          </a:prstGeom>
          <a:solidFill>
            <a:srgbClr val="E8682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b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9481CE-A47C-31C4-7F2B-0364B19BEBC8}"/>
              </a:ext>
            </a:extLst>
          </p:cNvPr>
          <p:cNvSpPr txBox="1"/>
          <p:nvPr/>
        </p:nvSpPr>
        <p:spPr>
          <a:xfrm>
            <a:off x="3657600" y="3810000"/>
            <a:ext cx="208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1E2430"/>
                </a:solidFill>
                <a:latin typeface="Arial" panose="020B0604020202020204" pitchFamily="34" charset="0"/>
              </a:rPr>
              <a:t>Presence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DF2AE5-6D82-A58A-0B5C-DA83926CD576}"/>
              </a:ext>
            </a:extLst>
          </p:cNvPr>
          <p:cNvSpPr txBox="1"/>
          <p:nvPr/>
        </p:nvSpPr>
        <p:spPr>
          <a:xfrm>
            <a:off x="3657600" y="4241800"/>
            <a:ext cx="208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>
                <a:solidFill>
                  <a:srgbClr val="5B6270"/>
                </a:solidFill>
                <a:latin typeface="Arial" panose="020B0604020202020204" pitchFamily="34" charset="0"/>
              </a:rPr>
              <a:t>Verify that teams are at the court, with GPS checked on the server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AD2C977-E023-F79D-491E-DE4CE08A6494}"/>
              </a:ext>
            </a:extLst>
          </p:cNvPr>
          <p:cNvSpPr/>
          <p:nvPr/>
        </p:nvSpPr>
        <p:spPr>
          <a:xfrm>
            <a:off x="6197600" y="2819400"/>
            <a:ext cx="2590800" cy="3175000"/>
          </a:xfrm>
          <a:prstGeom prst="roundRect">
            <a:avLst>
              <a:gd name="adj" fmla="val 6863"/>
            </a:avLst>
          </a:prstGeom>
          <a:solidFill>
            <a:srgbClr val="F3F4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7781883-18B1-7F26-2021-F1C9FAC20594}"/>
              </a:ext>
            </a:extLst>
          </p:cNvPr>
          <p:cNvSpPr/>
          <p:nvPr/>
        </p:nvSpPr>
        <p:spPr>
          <a:xfrm>
            <a:off x="6451600" y="3073400"/>
            <a:ext cx="508000" cy="508000"/>
          </a:xfrm>
          <a:prstGeom prst="ellipse">
            <a:avLst/>
          </a:prstGeom>
          <a:solidFill>
            <a:srgbClr val="E8682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b="1">
                <a:solidFill>
                  <a:srgbClr val="FFFFFF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212A1D-AFEF-3398-EE4F-0767658A9A9C}"/>
              </a:ext>
            </a:extLst>
          </p:cNvPr>
          <p:cNvSpPr txBox="1"/>
          <p:nvPr/>
        </p:nvSpPr>
        <p:spPr>
          <a:xfrm>
            <a:off x="6451600" y="3810000"/>
            <a:ext cx="208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1E2430"/>
                </a:solidFill>
                <a:latin typeface="Arial" panose="020B0604020202020204" pitchFamily="34" charset="0"/>
              </a:rPr>
              <a:t>Maintenance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6A3688-7E54-5A02-E02F-297E16D92308}"/>
              </a:ext>
            </a:extLst>
          </p:cNvPr>
          <p:cNvSpPr txBox="1"/>
          <p:nvPr/>
        </p:nvSpPr>
        <p:spPr>
          <a:xfrm>
            <a:off x="6451600" y="4241800"/>
            <a:ext cx="208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>
                <a:solidFill>
                  <a:srgbClr val="5B6270"/>
                </a:solidFill>
                <a:latin typeface="Arial" panose="020B0604020202020204" pitchFamily="34" charset="0"/>
              </a:rPr>
              <a:t>Reports with photos, tracked to resolution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2271B42-26B7-E414-EECE-1B1D5817FC91}"/>
              </a:ext>
            </a:extLst>
          </p:cNvPr>
          <p:cNvSpPr/>
          <p:nvPr/>
        </p:nvSpPr>
        <p:spPr>
          <a:xfrm>
            <a:off x="8991600" y="2819400"/>
            <a:ext cx="2590800" cy="3175000"/>
          </a:xfrm>
          <a:prstGeom prst="roundRect">
            <a:avLst>
              <a:gd name="adj" fmla="val 6863"/>
            </a:avLst>
          </a:prstGeom>
          <a:solidFill>
            <a:srgbClr val="F3F4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7EC5080-DA2F-F95B-8BB7-E1A45A527792}"/>
              </a:ext>
            </a:extLst>
          </p:cNvPr>
          <p:cNvSpPr/>
          <p:nvPr/>
        </p:nvSpPr>
        <p:spPr>
          <a:xfrm>
            <a:off x="9245600" y="3073400"/>
            <a:ext cx="508000" cy="508000"/>
          </a:xfrm>
          <a:prstGeom prst="ellipse">
            <a:avLst/>
          </a:prstGeom>
          <a:solidFill>
            <a:srgbClr val="E8682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b="1">
                <a:solidFill>
                  <a:srgbClr val="FFFFFF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B8D705-D43D-0E1B-E6D9-5649A086BBB0}"/>
              </a:ext>
            </a:extLst>
          </p:cNvPr>
          <p:cNvSpPr txBox="1"/>
          <p:nvPr/>
        </p:nvSpPr>
        <p:spPr>
          <a:xfrm>
            <a:off x="9245600" y="3810000"/>
            <a:ext cx="208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1E2430"/>
                </a:solidFill>
                <a:latin typeface="Arial" panose="020B0604020202020204" pitchFamily="34" charset="0"/>
              </a:rPr>
              <a:t>Notify, evaluate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EAA009-A3D8-931A-E6DB-3EF519D337B2}"/>
              </a:ext>
            </a:extLst>
          </p:cNvPr>
          <p:cNvSpPr txBox="1"/>
          <p:nvPr/>
        </p:nvSpPr>
        <p:spPr>
          <a:xfrm>
            <a:off x="9245600" y="4241800"/>
            <a:ext cx="208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>
                <a:solidFill>
                  <a:srgbClr val="5B6270"/>
                </a:solidFill>
                <a:latin typeface="Arial" panose="020B0604020202020204" pitchFamily="34" charset="0"/>
              </a:rPr>
              <a:t>LINE notifications and 7 KPIs fixed before measuring</a:t>
            </a:r>
          </a:p>
        </p:txBody>
      </p:sp>
    </p:spTree>
    <p:extLst>
      <p:ext uri="{BB962C8B-B14F-4D97-AF65-F5344CB8AC3E}">
        <p14:creationId xmlns:p14="http://schemas.microsoft.com/office/powerpoint/2010/main" val="244684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E7CDA8-392F-58AA-157D-5935578B48FD}"/>
              </a:ext>
            </a:extLst>
          </p:cNvPr>
          <p:cNvSpPr txBox="1"/>
          <p:nvPr/>
        </p:nvSpPr>
        <p:spPr>
          <a:xfrm>
            <a:off x="609600" y="3810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>
                <a:solidFill>
                  <a:srgbClr val="E8682C"/>
                </a:solidFill>
                <a:latin typeface="Arial" panose="020B0604020202020204" pitchFamily="34" charset="0"/>
              </a:rPr>
              <a:t>WHAT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85B404-F714-1BDE-AF9C-9C95BE06BF20}"/>
              </a:ext>
            </a:extLst>
          </p:cNvPr>
          <p:cNvSpPr txBox="1"/>
          <p:nvPr/>
        </p:nvSpPr>
        <p:spPr>
          <a:xfrm>
            <a:off x="609600" y="6350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000" b="1">
                <a:solidFill>
                  <a:srgbClr val="1E2430"/>
                </a:solidFill>
                <a:latin typeface="Arial" panose="020B0604020202020204" pitchFamily="34" charset="0"/>
              </a:rPr>
              <a:t>MeQ in one picture: from sign-in to statistics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51C474-4ACB-7BAD-6A08-2142DFCF4BC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" y="1397000"/>
            <a:ext cx="1885950" cy="4191000"/>
          </a:xfrm>
          <a:prstGeom prst="rect">
            <a:avLst/>
          </a:prstGeom>
          <a:ln w="12700">
            <a:solidFill>
              <a:srgbClr val="D0D4DC"/>
            </a:solidFill>
          </a:ln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2F811541-F401-8BF8-1397-1B5FF1486BE7}"/>
              </a:ext>
            </a:extLst>
          </p:cNvPr>
          <p:cNvSpPr/>
          <p:nvPr/>
        </p:nvSpPr>
        <p:spPr>
          <a:xfrm>
            <a:off x="609600" y="5740400"/>
            <a:ext cx="355600" cy="355600"/>
          </a:xfrm>
          <a:prstGeom prst="ellipse">
            <a:avLst/>
          </a:prstGeom>
          <a:solidFill>
            <a:srgbClr val="E8682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5445F8-075A-7B13-69FD-2B1D31D1C947}"/>
              </a:ext>
            </a:extLst>
          </p:cNvPr>
          <p:cNvSpPr txBox="1"/>
          <p:nvPr/>
        </p:nvSpPr>
        <p:spPr>
          <a:xfrm>
            <a:off x="1066800" y="5791200"/>
            <a:ext cx="165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>
                <a:solidFill>
                  <a:srgbClr val="1E2430"/>
                </a:solidFill>
                <a:latin typeface="Arial" panose="020B0604020202020204" pitchFamily="34" charset="0"/>
              </a:rPr>
              <a:t>Sign in with LINE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2D30F1-A4B1-A0D8-F2D2-FB05D0D5893A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8300" y="1397000"/>
            <a:ext cx="1885950" cy="4191000"/>
          </a:xfrm>
          <a:prstGeom prst="rect">
            <a:avLst/>
          </a:prstGeom>
          <a:ln w="12700">
            <a:solidFill>
              <a:srgbClr val="D0D4DC"/>
            </a:solidFill>
          </a:ln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DFE84E25-BB89-7699-7263-F1179DE2175A}"/>
              </a:ext>
            </a:extLst>
          </p:cNvPr>
          <p:cNvSpPr/>
          <p:nvPr/>
        </p:nvSpPr>
        <p:spPr>
          <a:xfrm>
            <a:off x="2882900" y="5740400"/>
            <a:ext cx="355600" cy="355600"/>
          </a:xfrm>
          <a:prstGeom prst="ellipse">
            <a:avLst/>
          </a:prstGeom>
          <a:solidFill>
            <a:srgbClr val="E8682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3F2AA5-CEEA-6DBA-1A4A-DE86CB0112BE}"/>
              </a:ext>
            </a:extLst>
          </p:cNvPr>
          <p:cNvSpPr txBox="1"/>
          <p:nvPr/>
        </p:nvSpPr>
        <p:spPr>
          <a:xfrm>
            <a:off x="3340100" y="5791200"/>
            <a:ext cx="165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>
                <a:solidFill>
                  <a:srgbClr val="1E2430"/>
                </a:solidFill>
                <a:latin typeface="Arial" panose="020B0604020202020204" pitchFamily="34" charset="0"/>
              </a:rPr>
              <a:t>Create a team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1BD42EC-B316-F3BE-7B24-93551D3F1862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1397000"/>
            <a:ext cx="1885950" cy="4191000"/>
          </a:xfrm>
          <a:prstGeom prst="rect">
            <a:avLst/>
          </a:prstGeom>
          <a:ln w="12700">
            <a:solidFill>
              <a:srgbClr val="D0D4DC"/>
            </a:solidFill>
          </a:ln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FEDC32A9-4087-3941-ADAE-040818373648}"/>
              </a:ext>
            </a:extLst>
          </p:cNvPr>
          <p:cNvSpPr/>
          <p:nvPr/>
        </p:nvSpPr>
        <p:spPr>
          <a:xfrm>
            <a:off x="5156200" y="5740400"/>
            <a:ext cx="355600" cy="355600"/>
          </a:xfrm>
          <a:prstGeom prst="ellipse">
            <a:avLst/>
          </a:prstGeom>
          <a:solidFill>
            <a:srgbClr val="E8682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363E4B-9C5E-A85C-5436-5FCB96ACCD0C}"/>
              </a:ext>
            </a:extLst>
          </p:cNvPr>
          <p:cNvSpPr txBox="1"/>
          <p:nvPr/>
        </p:nvSpPr>
        <p:spPr>
          <a:xfrm>
            <a:off x="5613400" y="5791200"/>
            <a:ext cx="165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>
                <a:solidFill>
                  <a:srgbClr val="1E2430"/>
                </a:solidFill>
                <a:latin typeface="Arial" panose="020B0604020202020204" pitchFamily="34" charset="0"/>
              </a:rPr>
              <a:t>Join a court queue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7BFFC1F-3766-C3E0-8978-8063AE9038F9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4900" y="1397000"/>
            <a:ext cx="1885950" cy="4191000"/>
          </a:xfrm>
          <a:prstGeom prst="rect">
            <a:avLst/>
          </a:prstGeom>
          <a:ln w="12700">
            <a:solidFill>
              <a:srgbClr val="D0D4DC"/>
            </a:solidFill>
          </a:ln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DD8C1014-7D86-EC16-D938-D26504A93515}"/>
              </a:ext>
            </a:extLst>
          </p:cNvPr>
          <p:cNvSpPr/>
          <p:nvPr/>
        </p:nvSpPr>
        <p:spPr>
          <a:xfrm>
            <a:off x="7429500" y="5740400"/>
            <a:ext cx="355600" cy="355600"/>
          </a:xfrm>
          <a:prstGeom prst="ellipse">
            <a:avLst/>
          </a:prstGeom>
          <a:solidFill>
            <a:srgbClr val="E8682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2F9E0F-2A24-6634-8876-718FAA97AC14}"/>
              </a:ext>
            </a:extLst>
          </p:cNvPr>
          <p:cNvSpPr txBox="1"/>
          <p:nvPr/>
        </p:nvSpPr>
        <p:spPr>
          <a:xfrm>
            <a:off x="7886700" y="5791200"/>
            <a:ext cx="165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>
                <a:solidFill>
                  <a:srgbClr val="1E2430"/>
                </a:solidFill>
                <a:latin typeface="Arial" panose="020B0604020202020204" pitchFamily="34" charset="0"/>
              </a:rPr>
              <a:t>Check in at the court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F1DBFB4-07C6-8DF5-B334-ED520034949F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200" y="1397000"/>
            <a:ext cx="1885950" cy="4191000"/>
          </a:xfrm>
          <a:prstGeom prst="rect">
            <a:avLst/>
          </a:prstGeom>
          <a:ln w="12700">
            <a:solidFill>
              <a:srgbClr val="D0D4DC"/>
            </a:solidFill>
          </a:ln>
        </p:spPr>
      </p:pic>
      <p:sp>
        <p:nvSpPr>
          <p:cNvPr id="22" name="Oval 21">
            <a:extLst>
              <a:ext uri="{FF2B5EF4-FFF2-40B4-BE49-F238E27FC236}">
                <a16:creationId xmlns:a16="http://schemas.microsoft.com/office/drawing/2014/main" id="{67CAAD06-3482-F452-6CF6-5D91251B489A}"/>
              </a:ext>
            </a:extLst>
          </p:cNvPr>
          <p:cNvSpPr/>
          <p:nvPr/>
        </p:nvSpPr>
        <p:spPr>
          <a:xfrm>
            <a:off x="9702800" y="5740400"/>
            <a:ext cx="355600" cy="355600"/>
          </a:xfrm>
          <a:prstGeom prst="ellipse">
            <a:avLst/>
          </a:prstGeom>
          <a:solidFill>
            <a:srgbClr val="E8682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9A3BFA2-ABAE-CED0-1667-D5BB2B6045AF}"/>
              </a:ext>
            </a:extLst>
          </p:cNvPr>
          <p:cNvSpPr txBox="1"/>
          <p:nvPr/>
        </p:nvSpPr>
        <p:spPr>
          <a:xfrm>
            <a:off x="10160000" y="5791200"/>
            <a:ext cx="165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>
                <a:solidFill>
                  <a:srgbClr val="1E2430"/>
                </a:solidFill>
                <a:latin typeface="Arial" panose="020B0604020202020204" pitchFamily="34" charset="0"/>
              </a:rPr>
              <a:t>Result and statistics</a:t>
            </a:r>
          </a:p>
        </p:txBody>
      </p:sp>
    </p:spTree>
    <p:extLst>
      <p:ext uri="{BB962C8B-B14F-4D97-AF65-F5344CB8AC3E}">
        <p14:creationId xmlns:p14="http://schemas.microsoft.com/office/powerpoint/2010/main" val="1750387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5DD59D-BE7B-CE13-25B6-4A2E852489A0}"/>
              </a:ext>
            </a:extLst>
          </p:cNvPr>
          <p:cNvSpPr txBox="1"/>
          <p:nvPr/>
        </p:nvSpPr>
        <p:spPr>
          <a:xfrm>
            <a:off x="609600" y="3810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>
                <a:solidFill>
                  <a:srgbClr val="E8682C"/>
                </a:solidFill>
                <a:latin typeface="Arial" panose="020B0604020202020204" pitchFamily="34" charset="0"/>
              </a:rPr>
              <a:t>WHAT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C978DB-A94C-6BCC-1B01-21FC479D80C2}"/>
              </a:ext>
            </a:extLst>
          </p:cNvPr>
          <p:cNvSpPr txBox="1"/>
          <p:nvPr/>
        </p:nvSpPr>
        <p:spPr>
          <a:xfrm>
            <a:off x="609600" y="6350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000" b="1">
                <a:solidFill>
                  <a:srgbClr val="1E2430"/>
                </a:solidFill>
                <a:latin typeface="Arial" panose="020B0604020202020204" pitchFamily="34" charset="0"/>
              </a:rPr>
              <a:t>The court rules, enforced by the system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9EE596E-D1E4-F51B-3633-7BBDCBEB7F28}"/>
              </a:ext>
            </a:extLst>
          </p:cNvPr>
          <p:cNvSpPr/>
          <p:nvPr/>
        </p:nvSpPr>
        <p:spPr>
          <a:xfrm>
            <a:off x="609600" y="1498600"/>
            <a:ext cx="457200" cy="457200"/>
          </a:xfrm>
          <a:prstGeom prst="ellipse">
            <a:avLst/>
          </a:prstGeom>
          <a:solidFill>
            <a:srgbClr val="E8682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987E48-607E-A6D1-160D-229FE85D10A4}"/>
              </a:ext>
            </a:extLst>
          </p:cNvPr>
          <p:cNvSpPr txBox="1"/>
          <p:nvPr/>
        </p:nvSpPr>
        <p:spPr>
          <a:xfrm>
            <a:off x="1270000" y="1473200"/>
            <a:ext cx="584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1E2430"/>
                </a:solidFill>
                <a:latin typeface="Arial" panose="020B0604020202020204" pitchFamily="34" charset="0"/>
              </a:rPr>
              <a:t>Full roster only</a:t>
            </a:r>
          </a:p>
          <a:p>
            <a:r>
              <a:rPr lang="en-US" sz="1500">
                <a:solidFill>
                  <a:srgbClr val="5B6270"/>
                </a:solidFill>
                <a:latin typeface="Arial" panose="020B0604020202020204" pitchFamily="34" charset="0"/>
              </a:rPr>
              <a:t>3x3 needs 3 players; 5x5 needs 5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75853B4-DE56-A3A8-78DA-06ED4DD6E752}"/>
              </a:ext>
            </a:extLst>
          </p:cNvPr>
          <p:cNvSpPr/>
          <p:nvPr/>
        </p:nvSpPr>
        <p:spPr>
          <a:xfrm>
            <a:off x="609600" y="2463800"/>
            <a:ext cx="457200" cy="457200"/>
          </a:xfrm>
          <a:prstGeom prst="ellipse">
            <a:avLst/>
          </a:prstGeom>
          <a:solidFill>
            <a:srgbClr val="E8682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B9C886-F61A-1351-817F-CF8E76BDB483}"/>
              </a:ext>
            </a:extLst>
          </p:cNvPr>
          <p:cNvSpPr txBox="1"/>
          <p:nvPr/>
        </p:nvSpPr>
        <p:spPr>
          <a:xfrm>
            <a:off x="1270000" y="2438400"/>
            <a:ext cx="584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1E2430"/>
                </a:solidFill>
                <a:latin typeface="Arial" panose="020B0604020202020204" pitchFamily="34" charset="0"/>
              </a:rPr>
              <a:t>One team, one queue</a:t>
            </a:r>
          </a:p>
          <a:p>
            <a:r>
              <a:rPr lang="en-US" sz="1500">
                <a:solidFill>
                  <a:srgbClr val="5B6270"/>
                </a:solidFill>
                <a:latin typeface="Arial" panose="020B0604020202020204" pitchFamily="34" charset="0"/>
              </a:rPr>
              <a:t>A player belongs to one team; a team waits in one queue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7149D9A-3789-1604-5BA7-BC78F7B3DFB9}"/>
              </a:ext>
            </a:extLst>
          </p:cNvPr>
          <p:cNvSpPr/>
          <p:nvPr/>
        </p:nvSpPr>
        <p:spPr>
          <a:xfrm>
            <a:off x="609600" y="3429000"/>
            <a:ext cx="457200" cy="457200"/>
          </a:xfrm>
          <a:prstGeom prst="ellipse">
            <a:avLst/>
          </a:prstGeom>
          <a:solidFill>
            <a:srgbClr val="E8682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50E6EE-0F12-7616-8766-398A62FB0B3A}"/>
              </a:ext>
            </a:extLst>
          </p:cNvPr>
          <p:cNvSpPr txBox="1"/>
          <p:nvPr/>
        </p:nvSpPr>
        <p:spPr>
          <a:xfrm>
            <a:off x="1270000" y="3403600"/>
            <a:ext cx="584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1E2430"/>
                </a:solidFill>
                <a:latin typeface="Arial" panose="020B0604020202020204" pitchFamily="34" charset="0"/>
              </a:rPr>
              <a:t>Check-in deadline</a:t>
            </a:r>
          </a:p>
          <a:p>
            <a:r>
              <a:rPr lang="en-US" sz="1500">
                <a:solidFill>
                  <a:srgbClr val="5B6270"/>
                </a:solidFill>
                <a:latin typeface="Arial" panose="020B0604020202020204" pitchFamily="34" charset="0"/>
              </a:rPr>
              <a:t>A called team must check in at the court in time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08C48E0-1F43-C509-DA39-8904380215C6}"/>
              </a:ext>
            </a:extLst>
          </p:cNvPr>
          <p:cNvSpPr/>
          <p:nvPr/>
        </p:nvSpPr>
        <p:spPr>
          <a:xfrm>
            <a:off x="609600" y="4394200"/>
            <a:ext cx="457200" cy="457200"/>
          </a:xfrm>
          <a:prstGeom prst="ellipse">
            <a:avLst/>
          </a:prstGeom>
          <a:solidFill>
            <a:srgbClr val="E8682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2FD5B8-2CCF-D04E-22B0-C8755BB2D19F}"/>
              </a:ext>
            </a:extLst>
          </p:cNvPr>
          <p:cNvSpPr txBox="1"/>
          <p:nvPr/>
        </p:nvSpPr>
        <p:spPr>
          <a:xfrm>
            <a:off x="1270000" y="4368800"/>
            <a:ext cx="584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1E2430"/>
                </a:solidFill>
                <a:latin typeface="Arial" panose="020B0604020202020204" pitchFamily="34" charset="0"/>
              </a:rPr>
              <a:t>Winners stay for 2 games</a:t>
            </a:r>
          </a:p>
          <a:p>
            <a:r>
              <a:rPr lang="en-US" sz="1500">
                <a:solidFill>
                  <a:srgbClr val="5B6270"/>
                </a:solidFill>
                <a:latin typeface="Arial" panose="020B0604020202020204" pitchFamily="34" charset="0"/>
              </a:rPr>
              <a:t>Then rest 1 game; losers have 3 minutes to requeue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7FCEB6F-563C-4B92-BCA3-154DDC5A9F14}"/>
              </a:ext>
            </a:extLst>
          </p:cNvPr>
          <p:cNvSpPr/>
          <p:nvPr/>
        </p:nvSpPr>
        <p:spPr>
          <a:xfrm>
            <a:off x="609600" y="5359400"/>
            <a:ext cx="457200" cy="457200"/>
          </a:xfrm>
          <a:prstGeom prst="ellipse">
            <a:avLst/>
          </a:prstGeom>
          <a:solidFill>
            <a:srgbClr val="E8682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201F8F-124A-519D-E936-8F34EB2A9893}"/>
              </a:ext>
            </a:extLst>
          </p:cNvPr>
          <p:cNvSpPr txBox="1"/>
          <p:nvPr/>
        </p:nvSpPr>
        <p:spPr>
          <a:xfrm>
            <a:off x="1270000" y="5334000"/>
            <a:ext cx="584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1E2430"/>
                </a:solidFill>
                <a:latin typeface="Arial" panose="020B0604020202020204" pitchFamily="34" charset="0"/>
              </a:rPr>
              <a:t>Both teams agree on the score</a:t>
            </a:r>
          </a:p>
          <a:p>
            <a:r>
              <a:rPr lang="en-US" sz="1500">
                <a:solidFill>
                  <a:srgbClr val="5B6270"/>
                </a:solidFill>
                <a:latin typeface="Arial" panose="020B0604020202020204" pitchFamily="34" charset="0"/>
              </a:rPr>
              <a:t>Otherwise they resubmit, or an admin decides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B85B3CD-09A0-9A11-CD59-AC05C2F3B1D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1600" y="1422400"/>
            <a:ext cx="3873500" cy="5080000"/>
          </a:xfrm>
          <a:prstGeom prst="rect">
            <a:avLst/>
          </a:prstGeom>
          <a:ln w="12700">
            <a:solidFill>
              <a:srgbClr val="D0D4DC"/>
            </a:solidFill>
          </a:ln>
        </p:spPr>
      </p:pic>
    </p:spTree>
    <p:extLst>
      <p:ext uri="{BB962C8B-B14F-4D97-AF65-F5344CB8AC3E}">
        <p14:creationId xmlns:p14="http://schemas.microsoft.com/office/powerpoint/2010/main" val="818940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9D4E3E-51CE-2623-65A1-F70710B93E9C}"/>
              </a:ext>
            </a:extLst>
          </p:cNvPr>
          <p:cNvSpPr txBox="1"/>
          <p:nvPr/>
        </p:nvSpPr>
        <p:spPr>
          <a:xfrm>
            <a:off x="609600" y="3810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>
                <a:solidFill>
                  <a:srgbClr val="E8682C"/>
                </a:solidFill>
                <a:latin typeface="Arial" panose="020B0604020202020204" pitchFamily="34" charset="0"/>
              </a:rPr>
              <a:t>WHAT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98C5A5-55E6-270E-6BF5-5BD80A160AB4}"/>
              </a:ext>
            </a:extLst>
          </p:cNvPr>
          <p:cNvSpPr txBox="1"/>
          <p:nvPr/>
        </p:nvSpPr>
        <p:spPr>
          <a:xfrm>
            <a:off x="609600" y="6350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000" b="1">
                <a:solidFill>
                  <a:srgbClr val="1E2430"/>
                </a:solidFill>
                <a:latin typeface="Arial" panose="020B0604020202020204" pitchFamily="34" charset="0"/>
              </a:rPr>
              <a:t>Maintenance reports, tracked to resolution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6E0C6E-D85E-59D0-28C0-55EE712D0E5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422400"/>
            <a:ext cx="2194560" cy="4876800"/>
          </a:xfrm>
          <a:prstGeom prst="rect">
            <a:avLst/>
          </a:prstGeom>
          <a:ln w="12700">
            <a:solidFill>
              <a:srgbClr val="D0D4DC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AD868C-BBAF-A43F-4CB4-5930B1B3F03F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7200" y="1422400"/>
            <a:ext cx="2194560" cy="4876800"/>
          </a:xfrm>
          <a:prstGeom prst="rect">
            <a:avLst/>
          </a:prstGeom>
          <a:ln w="12700">
            <a:solidFill>
              <a:srgbClr val="D0D4DC"/>
            </a:solidFill>
          </a:ln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425417B-BAC0-6BA1-CA41-3A3AEB8DB08F}"/>
              </a:ext>
            </a:extLst>
          </p:cNvPr>
          <p:cNvSpPr/>
          <p:nvPr/>
        </p:nvSpPr>
        <p:spPr>
          <a:xfrm>
            <a:off x="5740400" y="1549400"/>
            <a:ext cx="1270000" cy="66040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rIns="50800" rtlCol="0" anchor="ctr"/>
          <a:lstStyle/>
          <a:p>
            <a:pPr algn="ctr"/>
            <a:r>
              <a:rPr lang="en-US" sz="1300" b="1">
                <a:solidFill>
                  <a:srgbClr val="1E2430"/>
                </a:solidFill>
                <a:latin typeface="Arial" panose="020B0604020202020204" pitchFamily="34" charset="0"/>
              </a:rPr>
              <a:t>New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3ECE46-1AFD-D881-9F9D-892755C18744}"/>
              </a:ext>
            </a:extLst>
          </p:cNvPr>
          <p:cNvSpPr txBox="1"/>
          <p:nvPr/>
        </p:nvSpPr>
        <p:spPr>
          <a:xfrm>
            <a:off x="7035800" y="1727200"/>
            <a:ext cx="203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600" b="1">
                <a:solidFill>
                  <a:srgbClr val="5B6270"/>
                </a:solidFill>
                <a:latin typeface="Arial" panose="020B0604020202020204" pitchFamily="34" charset="0"/>
              </a:rPr>
              <a:t>→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AEEEE76-5DA1-1897-DD41-9452630E7603}"/>
              </a:ext>
            </a:extLst>
          </p:cNvPr>
          <p:cNvSpPr/>
          <p:nvPr/>
        </p:nvSpPr>
        <p:spPr>
          <a:xfrm>
            <a:off x="7239000" y="1549400"/>
            <a:ext cx="1270000" cy="66040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rIns="50800" rtlCol="0" anchor="ctr"/>
          <a:lstStyle/>
          <a:p>
            <a:pPr algn="ctr"/>
            <a:r>
              <a:rPr lang="en-US" sz="1300" b="1">
                <a:solidFill>
                  <a:srgbClr val="1E2430"/>
                </a:solidFill>
                <a:latin typeface="Arial" panose="020B0604020202020204" pitchFamily="34" charset="0"/>
              </a:rPr>
              <a:t>Accepted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2C76BC-4766-94A0-8BC9-F0A493385842}"/>
              </a:ext>
            </a:extLst>
          </p:cNvPr>
          <p:cNvSpPr txBox="1"/>
          <p:nvPr/>
        </p:nvSpPr>
        <p:spPr>
          <a:xfrm>
            <a:off x="8534400" y="1727200"/>
            <a:ext cx="203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600" b="1">
                <a:solidFill>
                  <a:srgbClr val="5B6270"/>
                </a:solidFill>
                <a:latin typeface="Arial" panose="020B0604020202020204" pitchFamily="34" charset="0"/>
              </a:rPr>
              <a:t>→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E05ABC7-B450-30CF-2EE6-C22E102608C4}"/>
              </a:ext>
            </a:extLst>
          </p:cNvPr>
          <p:cNvSpPr/>
          <p:nvPr/>
        </p:nvSpPr>
        <p:spPr>
          <a:xfrm>
            <a:off x="8737600" y="1549400"/>
            <a:ext cx="1270000" cy="66040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rIns="50800" rtlCol="0" anchor="ctr"/>
          <a:lstStyle/>
          <a:p>
            <a:pPr algn="ctr"/>
            <a:r>
              <a:rPr lang="en-US" sz="1300" b="1">
                <a:solidFill>
                  <a:srgbClr val="1E2430"/>
                </a:solidFill>
                <a:latin typeface="Arial" panose="020B0604020202020204" pitchFamily="34" charset="0"/>
              </a:rPr>
              <a:t>Waiting for caretaker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49FD99-C923-3E34-4FD8-AB5506C62685}"/>
              </a:ext>
            </a:extLst>
          </p:cNvPr>
          <p:cNvSpPr txBox="1"/>
          <p:nvPr/>
        </p:nvSpPr>
        <p:spPr>
          <a:xfrm>
            <a:off x="10033000" y="1727200"/>
            <a:ext cx="203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600" b="1">
                <a:solidFill>
                  <a:srgbClr val="5B6270"/>
                </a:solidFill>
                <a:latin typeface="Arial" panose="020B0604020202020204" pitchFamily="34" charset="0"/>
              </a:rPr>
              <a:t>→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332D437-65F9-41AD-BDAC-17931481871C}"/>
              </a:ext>
            </a:extLst>
          </p:cNvPr>
          <p:cNvSpPr/>
          <p:nvPr/>
        </p:nvSpPr>
        <p:spPr>
          <a:xfrm>
            <a:off x="10236200" y="1549400"/>
            <a:ext cx="1270000" cy="660400"/>
          </a:xfrm>
          <a:prstGeom prst="roundRect">
            <a:avLst>
              <a:gd name="adj" fmla="val 12000"/>
            </a:avLst>
          </a:prstGeom>
          <a:solidFill>
            <a:srgbClr val="E8682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rIns="5080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rial" panose="020B0604020202020204" pitchFamily="34" charset="0"/>
              </a:rPr>
              <a:t>Resolved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087E7D-6B0A-8FB0-E591-5A28A84CFEBD}"/>
              </a:ext>
            </a:extLst>
          </p:cNvPr>
          <p:cNvSpPr txBox="1"/>
          <p:nvPr/>
        </p:nvSpPr>
        <p:spPr>
          <a:xfrm>
            <a:off x="5740400" y="2311400"/>
            <a:ext cx="584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>
                <a:solidFill>
                  <a:srgbClr val="5B6270"/>
                </a:solidFill>
                <a:latin typeface="Arial" panose="020B0604020202020204" pitchFamily="34" charset="0"/>
              </a:rPr>
              <a:t>or Rejected, if the report is not valid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814675-65B2-FE17-D18E-CE77F674F445}"/>
              </a:ext>
            </a:extLst>
          </p:cNvPr>
          <p:cNvSpPr txBox="1"/>
          <p:nvPr/>
        </p:nvSpPr>
        <p:spPr>
          <a:xfrm>
            <a:off x="5740400" y="2870200"/>
            <a:ext cx="584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41300" indent="-241300">
              <a:spcAft>
                <a:spcPts val="1000"/>
              </a:spcAft>
              <a:buClr>
                <a:srgbClr val="E8682C"/>
              </a:buClr>
              <a:buFont typeface="+mj-lt"/>
              <a:buChar char="•"/>
            </a:pPr>
            <a:r>
              <a:rPr lang="en-US" sz="1700">
                <a:solidFill>
                  <a:srgbClr val="1E2430"/>
                </a:solidFill>
                <a:latin typeface="Arial" panose="020B0604020202020204" pitchFamily="34" charset="0"/>
              </a:rPr>
              <a:t>Players report damage with a photo; the admin is notified on LINE</a:t>
            </a:r>
          </a:p>
          <a:p>
            <a:pPr marL="241300" indent="-241300">
              <a:spcAft>
                <a:spcPts val="1000"/>
              </a:spcAft>
              <a:buClr>
                <a:srgbClr val="E8682C"/>
              </a:buClr>
              <a:buFont typeface="+mj-lt"/>
              <a:buChar char="•"/>
            </a:pPr>
            <a:r>
              <a:rPr lang="en-US" sz="1700">
                <a:solidFill>
                  <a:srgbClr val="1E2430"/>
                </a:solidFill>
                <a:latin typeface="Arial" panose="020B0604020202020204" pitchFamily="34" charset="0"/>
              </a:rPr>
              <a:t>The reporter is notified of every status change</a:t>
            </a:r>
          </a:p>
          <a:p>
            <a:pPr marL="241300" indent="-241300">
              <a:spcAft>
                <a:spcPts val="1000"/>
              </a:spcAft>
              <a:buClr>
                <a:srgbClr val="E8682C"/>
              </a:buClr>
              <a:buFont typeface="+mj-lt"/>
              <a:buChar char="•"/>
            </a:pPr>
            <a:r>
              <a:rPr lang="en-US" sz="1700">
                <a:solidFill>
                  <a:srgbClr val="1E2430"/>
                </a:solidFill>
                <a:latin typeface="Arial" panose="020B0604020202020204" pitchFamily="34" charset="0"/>
              </a:rPr>
              <a:t>Every change is recorded in the history</a:t>
            </a:r>
          </a:p>
          <a:p>
            <a:pPr marL="241300" indent="-241300">
              <a:spcAft>
                <a:spcPts val="1000"/>
              </a:spcAft>
              <a:buClr>
                <a:srgbClr val="E8682C"/>
              </a:buClr>
              <a:buFont typeface="+mj-lt"/>
              <a:buChar char="•"/>
            </a:pPr>
            <a:r>
              <a:rPr lang="en-US" sz="1700">
                <a:solidFill>
                  <a:srgbClr val="1E2430"/>
                </a:solidFill>
                <a:latin typeface="Arial" panose="020B0604020202020204" pitchFamily="34" charset="0"/>
              </a:rPr>
              <a:t>A second report of an open problem is refused</a:t>
            </a:r>
          </a:p>
        </p:txBody>
      </p:sp>
    </p:spTree>
    <p:extLst>
      <p:ext uri="{BB962C8B-B14F-4D97-AF65-F5344CB8AC3E}">
        <p14:creationId xmlns:p14="http://schemas.microsoft.com/office/powerpoint/2010/main" val="3582552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9C7168-C3CA-4B14-1C72-55B52B3A1A86}"/>
              </a:ext>
            </a:extLst>
          </p:cNvPr>
          <p:cNvSpPr txBox="1"/>
          <p:nvPr/>
        </p:nvSpPr>
        <p:spPr>
          <a:xfrm>
            <a:off x="609600" y="3810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>
                <a:solidFill>
                  <a:srgbClr val="E8682C"/>
                </a:solidFill>
                <a:latin typeface="Arial" panose="020B0604020202020204" pitchFamily="34" charset="0"/>
              </a:rPr>
              <a:t>HOW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8F00E7-3D42-A601-2D9C-85C5B2799FFE}"/>
              </a:ext>
            </a:extLst>
          </p:cNvPr>
          <p:cNvSpPr txBox="1"/>
          <p:nvPr/>
        </p:nvSpPr>
        <p:spPr>
          <a:xfrm>
            <a:off x="609600" y="6350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000" b="1">
                <a:solidFill>
                  <a:srgbClr val="1E2430"/>
                </a:solidFill>
                <a:latin typeface="Arial" panose="020B0604020202020204" pitchFamily="34" charset="0"/>
              </a:rPr>
              <a:t>Architecture: free-tier services, one source of truth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E4B7DA-0757-DF50-A95F-9D0C4BB0850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473200"/>
            <a:ext cx="7239000" cy="4826000"/>
          </a:xfrm>
          <a:prstGeom prst="rect">
            <a:avLst/>
          </a:prstGeom>
          <a:ln w="12700">
            <a:solidFill>
              <a:srgbClr val="D0D4DC"/>
            </a:solidFill>
          </a:ln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8980AFD-13B2-7A89-96F7-32D0FAAF95FA}"/>
              </a:ext>
            </a:extLst>
          </p:cNvPr>
          <p:cNvSpPr/>
          <p:nvPr/>
        </p:nvSpPr>
        <p:spPr>
          <a:xfrm>
            <a:off x="8178800" y="1524000"/>
            <a:ext cx="3403600" cy="104140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5E1887-E324-D166-9108-0B0E6B5262FC}"/>
              </a:ext>
            </a:extLst>
          </p:cNvPr>
          <p:cNvSpPr txBox="1"/>
          <p:nvPr/>
        </p:nvSpPr>
        <p:spPr>
          <a:xfrm>
            <a:off x="8382000" y="17018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b="1">
                <a:solidFill>
                  <a:srgbClr val="1E2430"/>
                </a:solidFill>
                <a:latin typeface="Arial" panose="020B0604020202020204" pitchFamily="34" charset="0"/>
              </a:rPr>
              <a:t>Next.js 16 on Vercel</a:t>
            </a:r>
          </a:p>
          <a:p>
            <a:r>
              <a:rPr lang="en-US" sz="1300">
                <a:solidFill>
                  <a:srgbClr val="5B6270"/>
                </a:solidFill>
                <a:latin typeface="Arial" panose="020B0604020202020204" pitchFamily="34" charset="0"/>
              </a:rPr>
              <a:t>Pages and Server Actions, in TypeScript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6CB6558-06CA-E048-21A5-2AB5A9A0E03B}"/>
              </a:ext>
            </a:extLst>
          </p:cNvPr>
          <p:cNvSpPr/>
          <p:nvPr/>
        </p:nvSpPr>
        <p:spPr>
          <a:xfrm>
            <a:off x="8178800" y="2717800"/>
            <a:ext cx="3403600" cy="104140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033409-BB92-FB56-CCE6-79A517BFB954}"/>
              </a:ext>
            </a:extLst>
          </p:cNvPr>
          <p:cNvSpPr txBox="1"/>
          <p:nvPr/>
        </p:nvSpPr>
        <p:spPr>
          <a:xfrm>
            <a:off x="8382000" y="28956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it-IT" sz="1600" b="1">
                <a:solidFill>
                  <a:srgbClr val="1E2430"/>
                </a:solidFill>
                <a:latin typeface="Arial" panose="020B0604020202020204" pitchFamily="34" charset="0"/>
              </a:rPr>
              <a:t>Supabase</a:t>
            </a:r>
          </a:p>
          <a:p>
            <a:r>
              <a:rPr lang="it-IT" sz="1300">
                <a:solidFill>
                  <a:srgbClr val="5B6270"/>
                </a:solidFill>
                <a:latin typeface="Arial" panose="020B0604020202020204" pitchFamily="34" charset="0"/>
              </a:rPr>
              <a:t>PostgreSQL, LINE sign-in, private photo storage</a:t>
            </a:r>
            <a:endParaRPr lang="en-US" sz="1300">
              <a:solidFill>
                <a:srgbClr val="5B6270"/>
              </a:solidFill>
              <a:latin typeface="Arial" panose="020B06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6C4B1FA-CACE-FAEA-314D-3097E1E03E21}"/>
              </a:ext>
            </a:extLst>
          </p:cNvPr>
          <p:cNvSpPr/>
          <p:nvPr/>
        </p:nvSpPr>
        <p:spPr>
          <a:xfrm>
            <a:off x="8178800" y="3911600"/>
            <a:ext cx="3403600" cy="104140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865529-8506-4E4E-BCC9-42AA56195971}"/>
              </a:ext>
            </a:extLst>
          </p:cNvPr>
          <p:cNvSpPr txBox="1"/>
          <p:nvPr/>
        </p:nvSpPr>
        <p:spPr>
          <a:xfrm>
            <a:off x="8382000" y="40894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b="1">
                <a:solidFill>
                  <a:srgbClr val="1E2430"/>
                </a:solidFill>
                <a:latin typeface="Arial" panose="020B0604020202020204" pitchFamily="34" charset="0"/>
              </a:rPr>
              <a:t>LINE Messaging API</a:t>
            </a:r>
          </a:p>
          <a:p>
            <a:r>
              <a:rPr lang="en-US" sz="1300">
                <a:solidFill>
                  <a:srgbClr val="5B6270"/>
                </a:solidFill>
                <a:latin typeface="Arial" panose="020B0604020202020204" pitchFamily="34" charset="0"/>
              </a:rPr>
              <a:t>Push notifications to players and admins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194BB11-A3DC-E365-8272-99B6B3FE522E}"/>
              </a:ext>
            </a:extLst>
          </p:cNvPr>
          <p:cNvSpPr/>
          <p:nvPr/>
        </p:nvSpPr>
        <p:spPr>
          <a:xfrm>
            <a:off x="8178800" y="5105400"/>
            <a:ext cx="3403600" cy="104140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85B0E0-DEA1-313B-0BB5-9AE12A979134}"/>
              </a:ext>
            </a:extLst>
          </p:cNvPr>
          <p:cNvSpPr txBox="1"/>
          <p:nvPr/>
        </p:nvSpPr>
        <p:spPr>
          <a:xfrm>
            <a:off x="8382000" y="52832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b="1">
                <a:solidFill>
                  <a:srgbClr val="1E2430"/>
                </a:solidFill>
                <a:latin typeface="Arial" panose="020B0604020202020204" pitchFamily="34" charset="0"/>
              </a:rPr>
              <a:t>pg_cron</a:t>
            </a:r>
          </a:p>
          <a:p>
            <a:r>
              <a:rPr lang="en-US" sz="1300">
                <a:solidFill>
                  <a:srgbClr val="5B6270"/>
                </a:solidFill>
                <a:latin typeface="Arial" panose="020B0604020202020204" pitchFamily="34" charset="0"/>
              </a:rPr>
              <a:t>Advances every queue each 30 seconds</a:t>
            </a:r>
          </a:p>
        </p:txBody>
      </p:sp>
    </p:spTree>
    <p:extLst>
      <p:ext uri="{BB962C8B-B14F-4D97-AF65-F5344CB8AC3E}">
        <p14:creationId xmlns:p14="http://schemas.microsoft.com/office/powerpoint/2010/main" val="730632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2D0C3E-25B9-3E19-502E-2C7E42366172}"/>
              </a:ext>
            </a:extLst>
          </p:cNvPr>
          <p:cNvSpPr txBox="1"/>
          <p:nvPr/>
        </p:nvSpPr>
        <p:spPr>
          <a:xfrm>
            <a:off x="609600" y="3810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>
                <a:solidFill>
                  <a:srgbClr val="E8682C"/>
                </a:solidFill>
                <a:latin typeface="Arial" panose="020B0604020202020204" pitchFamily="34" charset="0"/>
              </a:rPr>
              <a:t>HOW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E51133-E5B1-1EAA-59D4-5CABCD2E88BA}"/>
              </a:ext>
            </a:extLst>
          </p:cNvPr>
          <p:cNvSpPr txBox="1"/>
          <p:nvPr/>
        </p:nvSpPr>
        <p:spPr>
          <a:xfrm>
            <a:off x="609600" y="6350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000" b="1">
                <a:solidFill>
                  <a:srgbClr val="1E2430"/>
                </a:solidFill>
                <a:latin typeface="Arial" panose="020B0604020202020204" pitchFamily="34" charset="0"/>
              </a:rPr>
              <a:t>The database is the referee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D64AFC-B4B6-7E80-E46E-3CA6D2B51FC6}"/>
              </a:ext>
            </a:extLst>
          </p:cNvPr>
          <p:cNvSpPr txBox="1"/>
          <p:nvPr/>
        </p:nvSpPr>
        <p:spPr>
          <a:xfrm>
            <a:off x="609600" y="1473200"/>
            <a:ext cx="546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>
                <a:solidFill>
                  <a:srgbClr val="E8682C"/>
                </a:solidFill>
                <a:latin typeface="Arial" panose="020B0604020202020204" pitchFamily="34" charset="0"/>
              </a:rPr>
              <a:t>The browser only asks.</a:t>
            </a:r>
          </a:p>
          <a:p>
            <a:r>
              <a:rPr lang="en-US" sz="2800" b="1">
                <a:solidFill>
                  <a:srgbClr val="E8682C"/>
                </a:solidFill>
                <a:latin typeface="Arial" panose="020B0604020202020204" pitchFamily="34" charset="0"/>
              </a:rPr>
              <a:t>The database decides.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8FF8FB-5C6D-A534-20BB-F76CA7845254}"/>
              </a:ext>
            </a:extLst>
          </p:cNvPr>
          <p:cNvSpPr txBox="1"/>
          <p:nvPr/>
        </p:nvSpPr>
        <p:spPr>
          <a:xfrm>
            <a:off x="609600" y="2921000"/>
            <a:ext cx="546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28600" indent="-228600">
              <a:spcAft>
                <a:spcPts val="1000"/>
              </a:spcAft>
              <a:buClr>
                <a:srgbClr val="E8682C"/>
              </a:buClr>
              <a:buFont typeface="+mj-lt"/>
              <a:buChar char="•"/>
            </a:pPr>
            <a:r>
              <a:rPr lang="en-US" sz="1600">
                <a:solidFill>
                  <a:srgbClr val="1E2430"/>
                </a:solidFill>
                <a:latin typeface="Arial" panose="020B0604020202020204" pitchFamily="34" charset="0"/>
              </a:rPr>
              <a:t>Every change runs in one transaction that checks the user and the rules</a:t>
            </a:r>
          </a:p>
          <a:p>
            <a:pPr marL="228600" indent="-228600">
              <a:spcAft>
                <a:spcPts val="1000"/>
              </a:spcAft>
              <a:buClr>
                <a:srgbClr val="E8682C"/>
              </a:buClr>
              <a:buFont typeface="+mj-lt"/>
              <a:buChar char="•"/>
            </a:pPr>
            <a:r>
              <a:rPr lang="en-US" sz="1600">
                <a:solidFill>
                  <a:srgbClr val="1E2430"/>
                </a:solidFill>
                <a:latin typeface="Arial" panose="020B0604020202020204" pitchFamily="34" charset="0"/>
              </a:rPr>
              <a:t>Row-level security blocks direct writes to queue and score tables</a:t>
            </a:r>
          </a:p>
          <a:p>
            <a:pPr marL="228600" indent="-228600">
              <a:spcAft>
                <a:spcPts val="1000"/>
              </a:spcAft>
              <a:buClr>
                <a:srgbClr val="E8682C"/>
              </a:buClr>
              <a:buFont typeface="+mj-lt"/>
              <a:buChar char="•"/>
            </a:pPr>
            <a:r>
              <a:rPr lang="en-US" sz="1600">
                <a:solidFill>
                  <a:srgbClr val="1E2430"/>
                </a:solidFill>
                <a:latin typeface="Arial" panose="020B0604020202020204" pitchFamily="34" charset="0"/>
              </a:rPr>
              <a:t>GPS: the server computes the distance; a phone's "in range" is never trusted</a:t>
            </a:r>
          </a:p>
          <a:p>
            <a:pPr marL="228600" indent="-228600">
              <a:spcAft>
                <a:spcPts val="1000"/>
              </a:spcAft>
              <a:buClr>
                <a:srgbClr val="E8682C"/>
              </a:buClr>
              <a:buFont typeface="+mj-lt"/>
              <a:buChar char="•"/>
            </a:pPr>
            <a:r>
              <a:rPr lang="en-US" sz="1600">
                <a:solidFill>
                  <a:srgbClr val="1E2430"/>
                </a:solidFill>
                <a:latin typeface="Arial" panose="020B0604020202020204" pitchFamily="34" charset="0"/>
              </a:rPr>
              <a:t>Notifications are saved with the change, so none is lost or sent twice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61CA0F3-BEE2-74F3-7624-79D38AB6B4AE}"/>
              </a:ext>
            </a:extLst>
          </p:cNvPr>
          <p:cNvSpPr/>
          <p:nvPr/>
        </p:nvSpPr>
        <p:spPr>
          <a:xfrm>
            <a:off x="6451600" y="1473200"/>
            <a:ext cx="5130800" cy="3683000"/>
          </a:xfrm>
          <a:prstGeom prst="roundRect">
            <a:avLst>
              <a:gd name="adj" fmla="val 4828"/>
            </a:avLst>
          </a:prstGeom>
          <a:solidFill>
            <a:srgbClr val="F3F4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E85865-7E2A-702B-E86F-D8431B2B79A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4800" y="2413000"/>
            <a:ext cx="4724400" cy="17907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2A74239-E26D-3DA7-B9C4-999D06C6A57C}"/>
              </a:ext>
            </a:extLst>
          </p:cNvPr>
          <p:cNvSpPr txBox="1"/>
          <p:nvPr/>
        </p:nvSpPr>
        <p:spPr>
          <a:xfrm>
            <a:off x="6654800" y="4445000"/>
            <a:ext cx="472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5B6270"/>
                </a:solidFill>
                <a:latin typeface="Arial" panose="020B0604020202020204" pitchFamily="34" charset="0"/>
              </a:rPr>
              <a:t>Notification outbox: saved in the same transaction as the change, then sent once</a:t>
            </a:r>
          </a:p>
        </p:txBody>
      </p:sp>
    </p:spTree>
    <p:extLst>
      <p:ext uri="{BB962C8B-B14F-4D97-AF65-F5344CB8AC3E}">
        <p14:creationId xmlns:p14="http://schemas.microsoft.com/office/powerpoint/2010/main" val="35614927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877B02-FA0F-3A65-7A3E-AE2C9A98F726}"/>
              </a:ext>
            </a:extLst>
          </p:cNvPr>
          <p:cNvSpPr txBox="1"/>
          <p:nvPr/>
        </p:nvSpPr>
        <p:spPr>
          <a:xfrm>
            <a:off x="609600" y="3810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>
                <a:solidFill>
                  <a:srgbClr val="E8682C"/>
                </a:solidFill>
                <a:latin typeface="Arial" panose="020B0604020202020204" pitchFamily="34" charset="0"/>
              </a:rPr>
              <a:t>HOW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782848-4B26-28B5-D8E5-CC4AE185448A}"/>
              </a:ext>
            </a:extLst>
          </p:cNvPr>
          <p:cNvSpPr txBox="1"/>
          <p:nvPr/>
        </p:nvSpPr>
        <p:spPr>
          <a:xfrm>
            <a:off x="609600" y="6350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000" b="1">
                <a:solidFill>
                  <a:srgbClr val="1E2430"/>
                </a:solidFill>
                <a:latin typeface="Arial" panose="020B0604020202020204" pitchFamily="34" charset="0"/>
              </a:rPr>
              <a:t>Built and tested in small, verified steps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9F2B1B6-1C33-8947-BF7E-470906A533E3}"/>
              </a:ext>
            </a:extLst>
          </p:cNvPr>
          <p:cNvSpPr/>
          <p:nvPr/>
        </p:nvSpPr>
        <p:spPr>
          <a:xfrm>
            <a:off x="609600" y="1498600"/>
            <a:ext cx="2590800" cy="2667000"/>
          </a:xfrm>
          <a:prstGeom prst="roundRect">
            <a:avLst>
              <a:gd name="adj" fmla="val 6863"/>
            </a:avLst>
          </a:prstGeom>
          <a:solidFill>
            <a:srgbClr val="F3F4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F7AC43-DFF1-DC4D-0229-2244047E450C}"/>
              </a:ext>
            </a:extLst>
          </p:cNvPr>
          <p:cNvSpPr txBox="1"/>
          <p:nvPr/>
        </p:nvSpPr>
        <p:spPr>
          <a:xfrm>
            <a:off x="863600" y="1701800"/>
            <a:ext cx="208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5200" b="1">
                <a:solidFill>
                  <a:srgbClr val="E8682C"/>
                </a:solidFill>
                <a:latin typeface="Arial" panose="020B0604020202020204" pitchFamily="34" charset="0"/>
              </a:rPr>
              <a:t>39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91FCEA-EC8C-EF0B-115E-B9551602E956}"/>
              </a:ext>
            </a:extLst>
          </p:cNvPr>
          <p:cNvSpPr txBox="1"/>
          <p:nvPr/>
        </p:nvSpPr>
        <p:spPr>
          <a:xfrm>
            <a:off x="863600" y="2717800"/>
            <a:ext cx="208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>
                <a:solidFill>
                  <a:srgbClr val="1E2430"/>
                </a:solidFill>
                <a:latin typeface="Arial" panose="020B0604020202020204" pitchFamily="34" charset="0"/>
              </a:rPr>
              <a:t>database migrations, each versioned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30AFF93-9136-4783-FA62-4C235EF5085E}"/>
              </a:ext>
            </a:extLst>
          </p:cNvPr>
          <p:cNvSpPr/>
          <p:nvPr/>
        </p:nvSpPr>
        <p:spPr>
          <a:xfrm>
            <a:off x="3403600" y="1498600"/>
            <a:ext cx="2590800" cy="2667000"/>
          </a:xfrm>
          <a:prstGeom prst="roundRect">
            <a:avLst>
              <a:gd name="adj" fmla="val 6863"/>
            </a:avLst>
          </a:prstGeom>
          <a:solidFill>
            <a:srgbClr val="F3F4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D2B908-5D0D-9381-D8E1-313151E63AA3}"/>
              </a:ext>
            </a:extLst>
          </p:cNvPr>
          <p:cNvSpPr txBox="1"/>
          <p:nvPr/>
        </p:nvSpPr>
        <p:spPr>
          <a:xfrm>
            <a:off x="3657600" y="1701800"/>
            <a:ext cx="208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5200" b="1">
                <a:solidFill>
                  <a:srgbClr val="E8682C"/>
                </a:solidFill>
                <a:latin typeface="Arial" panose="020B0604020202020204" pitchFamily="34" charset="0"/>
              </a:rPr>
              <a:t>147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34B9D4-0A1F-71F7-6060-798F22BBD9E5}"/>
              </a:ext>
            </a:extLst>
          </p:cNvPr>
          <p:cNvSpPr txBox="1"/>
          <p:nvPr/>
        </p:nvSpPr>
        <p:spPr>
          <a:xfrm>
            <a:off x="3657600" y="2717800"/>
            <a:ext cx="208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>
                <a:solidFill>
                  <a:srgbClr val="1E2430"/>
                </a:solidFill>
                <a:latin typeface="Arial" panose="020B0604020202020204" pitchFamily="34" charset="0"/>
              </a:rPr>
              <a:t>automated tests on every change: 115 database + 32 unit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50F21D0-2C08-A9CE-1CA6-CC7AC535192B}"/>
              </a:ext>
            </a:extLst>
          </p:cNvPr>
          <p:cNvSpPr/>
          <p:nvPr/>
        </p:nvSpPr>
        <p:spPr>
          <a:xfrm>
            <a:off x="6197600" y="1498600"/>
            <a:ext cx="2590800" cy="2667000"/>
          </a:xfrm>
          <a:prstGeom prst="roundRect">
            <a:avLst>
              <a:gd name="adj" fmla="val 6863"/>
            </a:avLst>
          </a:prstGeom>
          <a:solidFill>
            <a:srgbClr val="F3F4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FCF1F8-1FB1-B0CA-538B-889DE9C00DC3}"/>
              </a:ext>
            </a:extLst>
          </p:cNvPr>
          <p:cNvSpPr txBox="1"/>
          <p:nvPr/>
        </p:nvSpPr>
        <p:spPr>
          <a:xfrm>
            <a:off x="6451600" y="1701800"/>
            <a:ext cx="208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5200" b="1">
                <a:solidFill>
                  <a:srgbClr val="E8682C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4DD451-CE97-8F81-08F3-D6E50671F1AD}"/>
              </a:ext>
            </a:extLst>
          </p:cNvPr>
          <p:cNvSpPr txBox="1"/>
          <p:nvPr/>
        </p:nvSpPr>
        <p:spPr>
          <a:xfrm>
            <a:off x="6451600" y="2717800"/>
            <a:ext cx="208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>
                <a:solidFill>
                  <a:srgbClr val="1E2430"/>
                </a:solidFill>
                <a:latin typeface="Arial" panose="020B0604020202020204" pitchFamily="34" charset="0"/>
              </a:rPr>
              <a:t>field sessions with real players on their own phones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0D80BDC-CEB6-6332-76DA-7C4407F6FE5D}"/>
              </a:ext>
            </a:extLst>
          </p:cNvPr>
          <p:cNvSpPr/>
          <p:nvPr/>
        </p:nvSpPr>
        <p:spPr>
          <a:xfrm>
            <a:off x="8991600" y="1498600"/>
            <a:ext cx="2590800" cy="2667000"/>
          </a:xfrm>
          <a:prstGeom prst="roundRect">
            <a:avLst>
              <a:gd name="adj" fmla="val 6863"/>
            </a:avLst>
          </a:prstGeom>
          <a:solidFill>
            <a:srgbClr val="F3F4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F569F1-70C7-CDDC-F04A-3F91300AB69B}"/>
              </a:ext>
            </a:extLst>
          </p:cNvPr>
          <p:cNvSpPr txBox="1"/>
          <p:nvPr/>
        </p:nvSpPr>
        <p:spPr>
          <a:xfrm>
            <a:off x="9245600" y="1701800"/>
            <a:ext cx="208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5200" b="1">
                <a:solidFill>
                  <a:srgbClr val="E8682C"/>
                </a:solidFill>
                <a:latin typeface="Arial" panose="020B0604020202020204" pitchFamily="34" charset="0"/>
              </a:rPr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F5980F-CC0F-C50F-7267-493EE18B35D4}"/>
              </a:ext>
            </a:extLst>
          </p:cNvPr>
          <p:cNvSpPr txBox="1"/>
          <p:nvPr/>
        </p:nvSpPr>
        <p:spPr>
          <a:xfrm>
            <a:off x="9245600" y="2717800"/>
            <a:ext cx="208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>
                <a:solidFill>
                  <a:srgbClr val="1E2430"/>
                </a:solidFill>
                <a:latin typeface="Arial" panose="020B0604020202020204" pitchFamily="34" charset="0"/>
              </a:rPr>
              <a:t>defects found and fixed; code defects covered by new tests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E56566F-4037-1961-3D5C-D46CFD809D1F}"/>
              </a:ext>
            </a:extLst>
          </p:cNvPr>
          <p:cNvSpPr/>
          <p:nvPr/>
        </p:nvSpPr>
        <p:spPr>
          <a:xfrm>
            <a:off x="609600" y="4851400"/>
            <a:ext cx="1930400" cy="711200"/>
          </a:xfrm>
          <a:prstGeom prst="roundRect">
            <a:avLst>
              <a:gd name="adj" fmla="val 12000"/>
            </a:avLst>
          </a:prstGeom>
          <a:solidFill>
            <a:srgbClr val="FDEEE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>
                <a:solidFill>
                  <a:srgbClr val="1E2430"/>
                </a:solidFill>
                <a:latin typeface="Arial" panose="020B0604020202020204" pitchFamily="34" charset="0"/>
              </a:rPr>
              <a:t>Design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00472A-C43C-FEA8-1F0B-425D31F7D15F}"/>
              </a:ext>
            </a:extLst>
          </p:cNvPr>
          <p:cNvSpPr txBox="1"/>
          <p:nvPr/>
        </p:nvSpPr>
        <p:spPr>
          <a:xfrm>
            <a:off x="2565400" y="5054600"/>
            <a:ext cx="279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5B6270"/>
                </a:solidFill>
                <a:latin typeface="Arial" panose="020B0604020202020204" pitchFamily="34" charset="0"/>
              </a:rPr>
              <a:t>→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431C744-EADD-222E-FDD0-2318556A8C0B}"/>
              </a:ext>
            </a:extLst>
          </p:cNvPr>
          <p:cNvSpPr/>
          <p:nvPr/>
        </p:nvSpPr>
        <p:spPr>
          <a:xfrm>
            <a:off x="2870200" y="4851400"/>
            <a:ext cx="1930400" cy="711200"/>
          </a:xfrm>
          <a:prstGeom prst="roundRect">
            <a:avLst>
              <a:gd name="adj" fmla="val 12000"/>
            </a:avLst>
          </a:prstGeom>
          <a:solidFill>
            <a:srgbClr val="FDEEE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>
                <a:solidFill>
                  <a:srgbClr val="1E2430"/>
                </a:solidFill>
                <a:latin typeface="Arial" panose="020B0604020202020204" pitchFamily="34" charset="0"/>
              </a:rPr>
              <a:t>Build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3B0A8D-CFED-98AA-6D60-D70669842D51}"/>
              </a:ext>
            </a:extLst>
          </p:cNvPr>
          <p:cNvSpPr txBox="1"/>
          <p:nvPr/>
        </p:nvSpPr>
        <p:spPr>
          <a:xfrm>
            <a:off x="4826000" y="5054600"/>
            <a:ext cx="279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5B6270"/>
                </a:solidFill>
                <a:latin typeface="Arial" panose="020B0604020202020204" pitchFamily="34" charset="0"/>
              </a:rPr>
              <a:t>→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B181F24-F792-51DA-385D-86CCAA824230}"/>
              </a:ext>
            </a:extLst>
          </p:cNvPr>
          <p:cNvSpPr/>
          <p:nvPr/>
        </p:nvSpPr>
        <p:spPr>
          <a:xfrm>
            <a:off x="5130800" y="4851400"/>
            <a:ext cx="1930400" cy="711200"/>
          </a:xfrm>
          <a:prstGeom prst="roundRect">
            <a:avLst>
              <a:gd name="adj" fmla="val 12000"/>
            </a:avLst>
          </a:prstGeom>
          <a:solidFill>
            <a:srgbClr val="FDEEE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>
                <a:solidFill>
                  <a:srgbClr val="1E2430"/>
                </a:solidFill>
                <a:latin typeface="Arial" panose="020B0604020202020204" pitchFamily="34" charset="0"/>
              </a:rPr>
              <a:t>Test in CI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ADD1280-358E-C858-159F-111AFFD624E7}"/>
              </a:ext>
            </a:extLst>
          </p:cNvPr>
          <p:cNvSpPr txBox="1"/>
          <p:nvPr/>
        </p:nvSpPr>
        <p:spPr>
          <a:xfrm>
            <a:off x="7086600" y="5054600"/>
            <a:ext cx="279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5B6270"/>
                </a:solidFill>
                <a:latin typeface="Arial" panose="020B0604020202020204" pitchFamily="34" charset="0"/>
              </a:rPr>
              <a:t>→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0A94138-C496-56D0-F99B-A147613E6D80}"/>
              </a:ext>
            </a:extLst>
          </p:cNvPr>
          <p:cNvSpPr/>
          <p:nvPr/>
        </p:nvSpPr>
        <p:spPr>
          <a:xfrm>
            <a:off x="7391400" y="4851400"/>
            <a:ext cx="1930400" cy="711200"/>
          </a:xfrm>
          <a:prstGeom prst="roundRect">
            <a:avLst>
              <a:gd name="adj" fmla="val 12000"/>
            </a:avLst>
          </a:prstGeom>
          <a:solidFill>
            <a:srgbClr val="E8682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rial" panose="020B0604020202020204" pitchFamily="34" charset="0"/>
              </a:rPr>
              <a:t>Field test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80BB9C4-6798-D072-0908-3F57E713EE4E}"/>
              </a:ext>
            </a:extLst>
          </p:cNvPr>
          <p:cNvSpPr txBox="1"/>
          <p:nvPr/>
        </p:nvSpPr>
        <p:spPr>
          <a:xfrm>
            <a:off x="9347200" y="5054600"/>
            <a:ext cx="279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5B6270"/>
                </a:solidFill>
                <a:latin typeface="Arial" panose="020B0604020202020204" pitchFamily="34" charset="0"/>
              </a:rPr>
              <a:t>→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1E088A6-2189-3F61-004D-AD1BF214726F}"/>
              </a:ext>
            </a:extLst>
          </p:cNvPr>
          <p:cNvSpPr/>
          <p:nvPr/>
        </p:nvSpPr>
        <p:spPr>
          <a:xfrm>
            <a:off x="9652000" y="4851400"/>
            <a:ext cx="1930400" cy="711200"/>
          </a:xfrm>
          <a:prstGeom prst="roundRect">
            <a:avLst>
              <a:gd name="adj" fmla="val 12000"/>
            </a:avLst>
          </a:prstGeom>
          <a:solidFill>
            <a:srgbClr val="FDEEE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>
                <a:solidFill>
                  <a:srgbClr val="1E2430"/>
                </a:solidFill>
                <a:latin typeface="Arial" panose="020B0604020202020204" pitchFamily="34" charset="0"/>
              </a:rPr>
              <a:t>Fix + new test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0054623-CA50-C397-6702-5CF22D3162AC}"/>
              </a:ext>
            </a:extLst>
          </p:cNvPr>
          <p:cNvSpPr txBox="1"/>
          <p:nvPr/>
        </p:nvSpPr>
        <p:spPr>
          <a:xfrm>
            <a:off x="609600" y="58166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5B6270"/>
                </a:solidFill>
                <a:latin typeface="Arial" panose="020B0604020202020204" pitchFamily="34" charset="0"/>
              </a:rPr>
              <a:t>Design science research: build, evaluate, improve</a:t>
            </a:r>
          </a:p>
        </p:txBody>
      </p:sp>
    </p:spTree>
    <p:extLst>
      <p:ext uri="{BB962C8B-B14F-4D97-AF65-F5344CB8AC3E}">
        <p14:creationId xmlns:p14="http://schemas.microsoft.com/office/powerpoint/2010/main" val="2904453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9FACF8-D943-48F6-1065-9C40703D4291}"/>
              </a:ext>
            </a:extLst>
          </p:cNvPr>
          <p:cNvSpPr txBox="1"/>
          <p:nvPr/>
        </p:nvSpPr>
        <p:spPr>
          <a:xfrm>
            <a:off x="609600" y="3810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>
                <a:solidFill>
                  <a:srgbClr val="E8682C"/>
                </a:solidFill>
                <a:latin typeface="Arial" panose="020B0604020202020204" pitchFamily="34" charset="0"/>
              </a:rPr>
              <a:t>DEMO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4EC06B-F2A2-E297-19DF-2F46B1BDDE5D}"/>
              </a:ext>
            </a:extLst>
          </p:cNvPr>
          <p:cNvSpPr txBox="1"/>
          <p:nvPr/>
        </p:nvSpPr>
        <p:spPr>
          <a:xfrm>
            <a:off x="609600" y="6350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000" b="1">
                <a:solidFill>
                  <a:srgbClr val="FFFFFF"/>
                </a:solidFill>
                <a:latin typeface="Arial" panose="020B0604020202020204" pitchFamily="34" charset="0"/>
              </a:rPr>
              <a:t>One round on the court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BACE551-CE0C-F051-69EC-899E0C6D1CA1}"/>
              </a:ext>
            </a:extLst>
          </p:cNvPr>
          <p:cNvSpPr/>
          <p:nvPr/>
        </p:nvSpPr>
        <p:spPr>
          <a:xfrm>
            <a:off x="609600" y="1473200"/>
            <a:ext cx="6350000" cy="4826000"/>
          </a:xfrm>
          <a:prstGeom prst="roundRect">
            <a:avLst>
              <a:gd name="adj" fmla="val 3684"/>
            </a:avLst>
          </a:prstGeom>
          <a:solidFill>
            <a:srgbClr val="2A314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Arial" panose="020B0604020202020204" pitchFamily="34" charset="0"/>
              </a:rPr>
              <a:t>[ Demo video, 60–90 s ]</a:t>
            </a:r>
          </a:p>
          <a:p>
            <a:pPr algn="ctr"/>
            <a:r>
              <a:rPr lang="en-US">
                <a:solidFill>
                  <a:srgbClr val="C9CED8"/>
                </a:solidFill>
                <a:latin typeface="Arial" panose="020B0604020202020204" pitchFamily="34" charset="0"/>
              </a:rPr>
              <a:t>Join queue → LINE message → check in → scores → result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B84DFF-2E86-DCA5-FE5B-6972B3415BC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1473200"/>
            <a:ext cx="2171700" cy="4826000"/>
          </a:xfrm>
          <a:prstGeom prst="rect">
            <a:avLst/>
          </a:prstGeom>
          <a:ln w="12700">
            <a:solidFill>
              <a:srgbClr val="D0D4DC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0E1CA63-850E-D0B5-1553-1A37F5190C83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0700" y="1473200"/>
            <a:ext cx="2171700" cy="4826000"/>
          </a:xfrm>
          <a:prstGeom prst="rect">
            <a:avLst/>
          </a:prstGeom>
          <a:ln w="12700">
            <a:solidFill>
              <a:srgbClr val="D0D4DC"/>
            </a:solidFill>
          </a:ln>
        </p:spPr>
      </p:pic>
    </p:spTree>
    <p:extLst>
      <p:ext uri="{BB962C8B-B14F-4D97-AF65-F5344CB8AC3E}">
        <p14:creationId xmlns:p14="http://schemas.microsoft.com/office/powerpoint/2010/main" val="36557768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91B338-8546-9EED-D6AF-4184135A3F65}"/>
              </a:ext>
            </a:extLst>
          </p:cNvPr>
          <p:cNvSpPr txBox="1"/>
          <p:nvPr/>
        </p:nvSpPr>
        <p:spPr>
          <a:xfrm>
            <a:off x="609600" y="3810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>
                <a:solidFill>
                  <a:srgbClr val="E8682C"/>
                </a:solidFill>
                <a:latin typeface="Arial" panose="020B0604020202020204" pitchFamily="34" charset="0"/>
              </a:rPr>
              <a:t>RESULTS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07A964-68E2-05E9-BC73-6918B468A0F8}"/>
              </a:ext>
            </a:extLst>
          </p:cNvPr>
          <p:cNvSpPr txBox="1"/>
          <p:nvPr/>
        </p:nvSpPr>
        <p:spPr>
          <a:xfrm>
            <a:off x="609600" y="6350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000" b="1">
                <a:solidFill>
                  <a:srgbClr val="1E2430"/>
                </a:solidFill>
                <a:latin typeface="Arial" panose="020B0604020202020204" pitchFamily="34" charset="0"/>
              </a:rPr>
              <a:t>Field evaluation, 17 October 2026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A4DCB0-81CC-2A21-1B1A-74FADB7BFF0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422400"/>
            <a:ext cx="5588000" cy="4191000"/>
          </a:xfrm>
          <a:prstGeom prst="rect">
            <a:avLst/>
          </a:prstGeom>
          <a:ln w="12700">
            <a:solidFill>
              <a:srgbClr val="D0D4DC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C82D22D-0057-3062-275A-0F1332A71478}"/>
              </a:ext>
            </a:extLst>
          </p:cNvPr>
          <p:cNvSpPr txBox="1"/>
          <p:nvPr/>
        </p:nvSpPr>
        <p:spPr>
          <a:xfrm>
            <a:off x="609600" y="5715000"/>
            <a:ext cx="558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>
                <a:solidFill>
                  <a:srgbClr val="5B6270"/>
                </a:solidFill>
                <a:latin typeface="Arial" panose="020B0604020202020204" pitchFamily="34" charset="0"/>
              </a:rPr>
              <a:t>A game during the evaluation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08BD4F4-6030-E7A4-A502-424628CB03FF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1600" y="1422400"/>
            <a:ext cx="2540000" cy="1905000"/>
          </a:xfrm>
          <a:prstGeom prst="rect">
            <a:avLst/>
          </a:prstGeom>
          <a:ln w="12700">
            <a:solidFill>
              <a:srgbClr val="D0D4DC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E053187-EB16-9B40-20EB-6AA4C03931F3}"/>
              </a:ext>
            </a:extLst>
          </p:cNvPr>
          <p:cNvSpPr txBox="1"/>
          <p:nvPr/>
        </p:nvSpPr>
        <p:spPr>
          <a:xfrm>
            <a:off x="6451600" y="34036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>
                <a:solidFill>
                  <a:srgbClr val="5B6270"/>
                </a:solidFill>
                <a:latin typeface="Arial" panose="020B0604020202020204" pitchFamily="34" charset="0"/>
              </a:rPr>
              <a:t>MeQ in use at the court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565F0A8-AD15-1541-237C-973FA463EC19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2400" y="1422400"/>
            <a:ext cx="2540000" cy="1905000"/>
          </a:xfrm>
          <a:prstGeom prst="rect">
            <a:avLst/>
          </a:prstGeom>
          <a:ln w="12700">
            <a:solidFill>
              <a:srgbClr val="D0D4DC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24D5789-8056-89CA-188D-0AA865D795D8}"/>
              </a:ext>
            </a:extLst>
          </p:cNvPr>
          <p:cNvSpPr txBox="1"/>
          <p:nvPr/>
        </p:nvSpPr>
        <p:spPr>
          <a:xfrm>
            <a:off x="9042400" y="34036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>
                <a:solidFill>
                  <a:srgbClr val="5B6270"/>
                </a:solidFill>
                <a:latin typeface="Arial" panose="020B0604020202020204" pitchFamily="34" charset="0"/>
              </a:rPr>
              <a:t>Planned court: no lights (maintenance)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FAB074-F6BA-6E3A-238C-4EDDE128F150}"/>
              </a:ext>
            </a:extLst>
          </p:cNvPr>
          <p:cNvSpPr txBox="1"/>
          <p:nvPr/>
        </p:nvSpPr>
        <p:spPr>
          <a:xfrm>
            <a:off x="6451600" y="4038600"/>
            <a:ext cx="5130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03200" indent="-203200">
              <a:spcAft>
                <a:spcPts val="900"/>
              </a:spcAft>
              <a:buClr>
                <a:srgbClr val="E8682C"/>
              </a:buClr>
              <a:buFont typeface="+mj-lt"/>
              <a:buChar char="•"/>
            </a:pPr>
            <a:r>
              <a:rPr lang="en-US" sz="1500">
                <a:solidFill>
                  <a:srgbClr val="1E2430"/>
                </a:solidFill>
                <a:latin typeface="Arial" panose="020B0604020202020204" pitchFamily="34" charset="0"/>
              </a:rPr>
              <a:t>Moved to the Faculty of Science court, played as 3x3</a:t>
            </a:r>
          </a:p>
          <a:p>
            <a:pPr marL="203200" indent="-203200">
              <a:spcAft>
                <a:spcPts val="900"/>
              </a:spcAft>
              <a:buClr>
                <a:srgbClr val="E8682C"/>
              </a:buClr>
              <a:buFont typeface="+mj-lt"/>
              <a:buChar char="•"/>
            </a:pPr>
            <a:r>
              <a:rPr lang="en-US" sz="1500">
                <a:solidFill>
                  <a:srgbClr val="1E2430"/>
                </a:solidFill>
                <a:latin typeface="Arial" panose="020B0604020202020204" pitchFamily="34" charset="0"/>
              </a:rPr>
              <a:t>13 players; four teams played, 17:20–18:30</a:t>
            </a:r>
          </a:p>
          <a:p>
            <a:pPr marL="203200" indent="-203200">
              <a:spcAft>
                <a:spcPts val="900"/>
              </a:spcAft>
              <a:buClr>
                <a:srgbClr val="E8682C"/>
              </a:buClr>
              <a:buFont typeface="+mj-lt"/>
              <a:buChar char="•"/>
            </a:pPr>
            <a:r>
              <a:rPr lang="en-US" sz="1500">
                <a:solidFill>
                  <a:srgbClr val="1E2430"/>
                </a:solidFill>
                <a:latin typeface="Arial" panose="020B0604020202020204" pitchFamily="34" charset="0"/>
              </a:rPr>
              <a:t>Queue, check-in, play, scores, and a maintenance report</a:t>
            </a:r>
          </a:p>
          <a:p>
            <a:pPr marL="203200" indent="-203200">
              <a:spcAft>
                <a:spcPts val="900"/>
              </a:spcAft>
              <a:buClr>
                <a:srgbClr val="E8682C"/>
              </a:buClr>
              <a:buFont typeface="+mj-lt"/>
              <a:buChar char="•"/>
            </a:pPr>
            <a:r>
              <a:rPr lang="en-US" sz="1500">
                <a:solidFill>
                  <a:srgbClr val="1E2430"/>
                </a:solidFill>
                <a:latin typeface="Arial" panose="020B0604020202020204" pitchFamily="34" charset="0"/>
              </a:rPr>
              <a:t>Check-in failed at first: the court point was moved on site</a:t>
            </a:r>
          </a:p>
          <a:p>
            <a:pPr marL="203200" indent="-203200">
              <a:spcAft>
                <a:spcPts val="900"/>
              </a:spcAft>
              <a:buClr>
                <a:srgbClr val="E8682C"/>
              </a:buClr>
              <a:buFont typeface="+mj-lt"/>
              <a:buChar char="•"/>
            </a:pPr>
            <a:r>
              <a:rPr lang="en-US" sz="1500">
                <a:solidFill>
                  <a:srgbClr val="1E2430"/>
                </a:solidFill>
                <a:latin typeface="Arial" panose="020B0604020202020204" pitchFamily="34" charset="0"/>
              </a:rPr>
              <a:t>SUS questionnaire answered the same evening</a:t>
            </a:r>
          </a:p>
        </p:txBody>
      </p:sp>
    </p:spTree>
    <p:extLst>
      <p:ext uri="{BB962C8B-B14F-4D97-AF65-F5344CB8AC3E}">
        <p14:creationId xmlns:p14="http://schemas.microsoft.com/office/powerpoint/2010/main" val="15005187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DB8C0F-21E1-5AC2-785D-732623855F8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4987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74A39A-ED16-C439-4AA6-0EFF8CCF7F9E}"/>
              </a:ext>
            </a:extLst>
          </p:cNvPr>
          <p:cNvSpPr txBox="1"/>
          <p:nvPr/>
        </p:nvSpPr>
        <p:spPr>
          <a:xfrm>
            <a:off x="609600" y="3810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>
                <a:solidFill>
                  <a:srgbClr val="E8682C"/>
                </a:solidFill>
                <a:latin typeface="Arial" panose="020B0604020202020204" pitchFamily="34" charset="0"/>
              </a:rPr>
              <a:t>RESULTS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9EF064-FB47-06C3-AF44-13EF571F40C0}"/>
              </a:ext>
            </a:extLst>
          </p:cNvPr>
          <p:cNvSpPr txBox="1"/>
          <p:nvPr/>
        </p:nvSpPr>
        <p:spPr>
          <a:xfrm>
            <a:off x="609600" y="6350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000" b="1">
                <a:solidFill>
                  <a:srgbClr val="1E2430"/>
                </a:solidFill>
                <a:latin typeface="Arial" panose="020B0604020202020204" pitchFamily="34" charset="0"/>
              </a:rPr>
              <a:t>Real players found what the tests missed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FFCC160-F96C-ABEE-F8C0-025D6DCABC4E}"/>
              </a:ext>
            </a:extLst>
          </p:cNvPr>
          <p:cNvSpPr/>
          <p:nvPr/>
        </p:nvSpPr>
        <p:spPr>
          <a:xfrm>
            <a:off x="609600" y="1498600"/>
            <a:ext cx="3479800" cy="3149600"/>
          </a:xfrm>
          <a:prstGeom prst="roundRect">
            <a:avLst>
              <a:gd name="adj" fmla="val 5645"/>
            </a:avLst>
          </a:prstGeom>
          <a:solidFill>
            <a:srgbClr val="F3F4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A469B0F-AE08-73DA-1FC5-1B071918D864}"/>
              </a:ext>
            </a:extLst>
          </p:cNvPr>
          <p:cNvSpPr/>
          <p:nvPr/>
        </p:nvSpPr>
        <p:spPr>
          <a:xfrm>
            <a:off x="863600" y="1752600"/>
            <a:ext cx="457200" cy="457200"/>
          </a:xfrm>
          <a:prstGeom prst="ellipse">
            <a:avLst/>
          </a:prstGeom>
          <a:solidFill>
            <a:srgbClr val="E8682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F4E2FD-70E2-150D-2A8D-30D8CAC9C476}"/>
              </a:ext>
            </a:extLst>
          </p:cNvPr>
          <p:cNvSpPr txBox="1"/>
          <p:nvPr/>
        </p:nvSpPr>
        <p:spPr>
          <a:xfrm>
            <a:off x="863600" y="2413000"/>
            <a:ext cx="2971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1E2430"/>
                </a:solidFill>
                <a:latin typeface="Arial" panose="020B0604020202020204" pitchFamily="34" charset="0"/>
              </a:rPr>
              <a:t>Queue stalled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15F8E3-9B3E-6B6E-5D3A-E2ECD6F60E61}"/>
              </a:ext>
            </a:extLst>
          </p:cNvPr>
          <p:cNvSpPr txBox="1"/>
          <p:nvPr/>
        </p:nvSpPr>
        <p:spPr>
          <a:xfrm>
            <a:off x="863600" y="3098800"/>
            <a:ext cx="2971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>
                <a:solidFill>
                  <a:srgbClr val="5B6270"/>
                </a:solidFill>
                <a:latin typeface="Arial" panose="020B0604020202020204" pitchFamily="34" charset="0"/>
              </a:rPr>
              <a:t>The queue stopped advancing after a team requeued. Fixed in the database, with a new test.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AB14DF6-20D2-84F7-93F9-963267FB73F7}"/>
              </a:ext>
            </a:extLst>
          </p:cNvPr>
          <p:cNvSpPr/>
          <p:nvPr/>
        </p:nvSpPr>
        <p:spPr>
          <a:xfrm>
            <a:off x="4356100" y="1498600"/>
            <a:ext cx="3479800" cy="3149600"/>
          </a:xfrm>
          <a:prstGeom prst="roundRect">
            <a:avLst>
              <a:gd name="adj" fmla="val 5645"/>
            </a:avLst>
          </a:prstGeom>
          <a:solidFill>
            <a:srgbClr val="F3F4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DE3FA4C-4C56-61BA-E133-318CE3B99187}"/>
              </a:ext>
            </a:extLst>
          </p:cNvPr>
          <p:cNvSpPr/>
          <p:nvPr/>
        </p:nvSpPr>
        <p:spPr>
          <a:xfrm>
            <a:off x="4610100" y="1752600"/>
            <a:ext cx="457200" cy="457200"/>
          </a:xfrm>
          <a:prstGeom prst="ellipse">
            <a:avLst/>
          </a:prstGeom>
          <a:solidFill>
            <a:srgbClr val="E8682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158E24-291F-3FFE-DCE2-C95F6FF09FD1}"/>
              </a:ext>
            </a:extLst>
          </p:cNvPr>
          <p:cNvSpPr txBox="1"/>
          <p:nvPr/>
        </p:nvSpPr>
        <p:spPr>
          <a:xfrm>
            <a:off x="4610100" y="2413000"/>
            <a:ext cx="2971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1E2430"/>
                </a:solidFill>
                <a:latin typeface="Arial" panose="020B0604020202020204" pitchFamily="34" charset="0"/>
              </a:rPr>
              <a:t>Challenger dropped (16 Oct)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C4B64B-EAAB-D9C6-70A5-CB785B019816}"/>
              </a:ext>
            </a:extLst>
          </p:cNvPr>
          <p:cNvSpPr txBox="1"/>
          <p:nvPr/>
        </p:nvSpPr>
        <p:spPr>
          <a:xfrm>
            <a:off x="4610100" y="3098800"/>
            <a:ext cx="2971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>
                <a:solidFill>
                  <a:srgbClr val="5B6270"/>
                </a:solidFill>
                <a:latin typeface="Arial" panose="020B0604020202020204" pitchFamily="34" charset="0"/>
              </a:rPr>
              <a:t>When a winner left, the called challenger vanished from the queue. Fixed the same day, with a new test.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715F555-B8E2-9F30-7531-C94452F59298}"/>
              </a:ext>
            </a:extLst>
          </p:cNvPr>
          <p:cNvSpPr/>
          <p:nvPr/>
        </p:nvSpPr>
        <p:spPr>
          <a:xfrm>
            <a:off x="8102600" y="1498600"/>
            <a:ext cx="3479800" cy="3149600"/>
          </a:xfrm>
          <a:prstGeom prst="roundRect">
            <a:avLst>
              <a:gd name="adj" fmla="val 5645"/>
            </a:avLst>
          </a:prstGeom>
          <a:solidFill>
            <a:srgbClr val="F3F4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8AE37F2-9C16-DD42-08F6-E614209AF5E5}"/>
              </a:ext>
            </a:extLst>
          </p:cNvPr>
          <p:cNvSpPr/>
          <p:nvPr/>
        </p:nvSpPr>
        <p:spPr>
          <a:xfrm>
            <a:off x="8356600" y="1752600"/>
            <a:ext cx="457200" cy="457200"/>
          </a:xfrm>
          <a:prstGeom prst="ellipse">
            <a:avLst/>
          </a:prstGeom>
          <a:solidFill>
            <a:srgbClr val="E8682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3708E8-0ED7-73B5-6DC8-2FC162191D3B}"/>
              </a:ext>
            </a:extLst>
          </p:cNvPr>
          <p:cNvSpPr txBox="1"/>
          <p:nvPr/>
        </p:nvSpPr>
        <p:spPr>
          <a:xfrm>
            <a:off x="8356600" y="2413000"/>
            <a:ext cx="2971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1E2430"/>
                </a:solidFill>
                <a:latin typeface="Arial" panose="020B0604020202020204" pitchFamily="34" charset="0"/>
              </a:rPr>
              <a:t>Statistics showed 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E4C239-D277-8D16-1E10-C6C9C2785AFB}"/>
              </a:ext>
            </a:extLst>
          </p:cNvPr>
          <p:cNvSpPr txBox="1"/>
          <p:nvPr/>
        </p:nvSpPr>
        <p:spPr>
          <a:xfrm>
            <a:off x="8356600" y="3098800"/>
            <a:ext cx="2971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>
                <a:solidFill>
                  <a:srgbClr val="5B6270"/>
                </a:solidFill>
                <a:latin typeface="Arial" panose="020B0604020202020204" pitchFamily="34" charset="0"/>
              </a:rPr>
              <a:t>A missing permission grant hid players' statistics. Fixed and verified on the live site.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99ADC49-8167-FB57-5055-729854320AE6}"/>
              </a:ext>
            </a:extLst>
          </p:cNvPr>
          <p:cNvSpPr/>
          <p:nvPr/>
        </p:nvSpPr>
        <p:spPr>
          <a:xfrm>
            <a:off x="609600" y="4953000"/>
            <a:ext cx="10972800" cy="1066800"/>
          </a:xfrm>
          <a:prstGeom prst="roundRect">
            <a:avLst>
              <a:gd name="adj" fmla="val 12000"/>
            </a:avLst>
          </a:prstGeom>
          <a:solidFill>
            <a:srgbClr val="FDEEE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04800" rtlCol="0" anchor="ctr"/>
          <a:lstStyle/>
          <a:p>
            <a:r>
              <a:rPr lang="en-US" sz="1900" b="1">
                <a:solidFill>
                  <a:srgbClr val="1E2430"/>
                </a:solidFill>
                <a:latin typeface="Arial" panose="020B0604020202020204" pitchFamily="34" charset="0"/>
              </a:rPr>
              <a:t>Lesson: every automated test passed, but real users on real phones found the edge cases.</a:t>
            </a:r>
          </a:p>
        </p:txBody>
      </p:sp>
    </p:spTree>
    <p:extLst>
      <p:ext uri="{BB962C8B-B14F-4D97-AF65-F5344CB8AC3E}">
        <p14:creationId xmlns:p14="http://schemas.microsoft.com/office/powerpoint/2010/main" val="16069662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3C9D0F-0DD2-4E98-21A6-BA5269FA4D98}"/>
              </a:ext>
            </a:extLst>
          </p:cNvPr>
          <p:cNvSpPr txBox="1"/>
          <p:nvPr/>
        </p:nvSpPr>
        <p:spPr>
          <a:xfrm>
            <a:off x="609600" y="3810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>
                <a:solidFill>
                  <a:srgbClr val="E8682C"/>
                </a:solidFill>
                <a:latin typeface="Arial" panose="020B0604020202020204" pitchFamily="34" charset="0"/>
              </a:rPr>
              <a:t>IMPACT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BBAD0D-B3D0-9BC8-01E4-E39C4540DA08}"/>
              </a:ext>
            </a:extLst>
          </p:cNvPr>
          <p:cNvSpPr txBox="1"/>
          <p:nvPr/>
        </p:nvSpPr>
        <p:spPr>
          <a:xfrm>
            <a:off x="609600" y="6350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000" b="1">
                <a:solidFill>
                  <a:srgbClr val="1E2430"/>
                </a:solidFill>
                <a:latin typeface="Arial" panose="020B0604020202020204" pitchFamily="34" charset="0"/>
              </a:rPr>
              <a:t>Impact, limitations, and future work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D6B3C8A-9A02-0C34-024E-F16DC7644F4E}"/>
              </a:ext>
            </a:extLst>
          </p:cNvPr>
          <p:cNvSpPr/>
          <p:nvPr/>
        </p:nvSpPr>
        <p:spPr>
          <a:xfrm>
            <a:off x="609600" y="1498600"/>
            <a:ext cx="3479800" cy="3810000"/>
          </a:xfrm>
          <a:prstGeom prst="roundRect">
            <a:avLst>
              <a:gd name="adj" fmla="val 5109"/>
            </a:avLst>
          </a:prstGeom>
          <a:solidFill>
            <a:srgbClr val="FDEEE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BF1686-4A3E-52EB-F6EE-524C619CF292}"/>
              </a:ext>
            </a:extLst>
          </p:cNvPr>
          <p:cNvSpPr txBox="1"/>
          <p:nvPr/>
        </p:nvSpPr>
        <p:spPr>
          <a:xfrm>
            <a:off x="889000" y="1778000"/>
            <a:ext cx="292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E8682C"/>
                </a:solidFill>
                <a:latin typeface="Arial" panose="020B0604020202020204" pitchFamily="34" charset="0"/>
              </a:rPr>
              <a:t>Impact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533D19-7E81-AF2B-20F3-3BDA4976719B}"/>
              </a:ext>
            </a:extLst>
          </p:cNvPr>
          <p:cNvSpPr txBox="1"/>
          <p:nvPr/>
        </p:nvSpPr>
        <p:spPr>
          <a:xfrm>
            <a:off x="889000" y="2336800"/>
            <a:ext cx="292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03200" indent="-203200">
              <a:spcAft>
                <a:spcPts val="900"/>
              </a:spcAft>
              <a:buClr>
                <a:srgbClr val="E8682C"/>
              </a:buClr>
              <a:buFont typeface="+mj-lt"/>
              <a:buChar char="•"/>
            </a:pPr>
            <a:r>
              <a:rPr lang="en-US" sz="1500">
                <a:solidFill>
                  <a:srgbClr val="1E2430"/>
                </a:solidFill>
                <a:latin typeface="Arial" panose="020B0604020202020204" pitchFamily="34" charset="0"/>
              </a:rPr>
              <a:t>A visible, fair queue: fewer arguments, no standing by the court</a:t>
            </a:r>
          </a:p>
          <a:p>
            <a:pPr marL="203200" indent="-203200">
              <a:spcAft>
                <a:spcPts val="900"/>
              </a:spcAft>
              <a:buClr>
                <a:srgbClr val="E8682C"/>
              </a:buClr>
              <a:buFont typeface="+mj-lt"/>
              <a:buChar char="•"/>
            </a:pPr>
            <a:r>
              <a:rPr lang="en-US" sz="1500">
                <a:solidFill>
                  <a:srgbClr val="1E2430"/>
                </a:solidFill>
                <a:latin typeface="Arial" panose="020B0604020202020204" pitchFamily="34" charset="0"/>
              </a:rPr>
              <a:t>Damage reaches the staff sooner; players follow the repair</a:t>
            </a:r>
          </a:p>
          <a:p>
            <a:pPr marL="203200" indent="-203200">
              <a:spcAft>
                <a:spcPts val="900"/>
              </a:spcAft>
              <a:buClr>
                <a:srgbClr val="E8682C"/>
              </a:buClr>
              <a:buFont typeface="+mj-lt"/>
              <a:buChar char="•"/>
            </a:pPr>
            <a:r>
              <a:rPr lang="en-US" sz="1500">
                <a:solidFill>
                  <a:srgbClr val="1E2430"/>
                </a:solidFill>
                <a:latin typeface="Arial" panose="020B0604020202020204" pitchFamily="34" charset="0"/>
              </a:rPr>
              <a:t>Free infrastructure that other facilities can reuse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ED14534-D31B-E307-B958-71B76ABA1B15}"/>
              </a:ext>
            </a:extLst>
          </p:cNvPr>
          <p:cNvSpPr/>
          <p:nvPr/>
        </p:nvSpPr>
        <p:spPr>
          <a:xfrm>
            <a:off x="4356100" y="1498600"/>
            <a:ext cx="3479800" cy="3810000"/>
          </a:xfrm>
          <a:prstGeom prst="roundRect">
            <a:avLst>
              <a:gd name="adj" fmla="val 5109"/>
            </a:avLst>
          </a:prstGeom>
          <a:solidFill>
            <a:srgbClr val="F3F4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983298-B18B-B9CD-3BE7-CCC85F612BD9}"/>
              </a:ext>
            </a:extLst>
          </p:cNvPr>
          <p:cNvSpPr txBox="1"/>
          <p:nvPr/>
        </p:nvSpPr>
        <p:spPr>
          <a:xfrm>
            <a:off x="4635500" y="1778000"/>
            <a:ext cx="292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E8682C"/>
                </a:solidFill>
                <a:latin typeface="Arial" panose="020B0604020202020204" pitchFamily="34" charset="0"/>
              </a:rPr>
              <a:t>Limitations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BD48E8-C2BE-60E3-D3F6-D13F0A2252F0}"/>
              </a:ext>
            </a:extLst>
          </p:cNvPr>
          <p:cNvSpPr txBox="1"/>
          <p:nvPr/>
        </p:nvSpPr>
        <p:spPr>
          <a:xfrm>
            <a:off x="4635500" y="2336800"/>
            <a:ext cx="292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03200" indent="-203200">
              <a:spcAft>
                <a:spcPts val="900"/>
              </a:spcAft>
              <a:buClr>
                <a:srgbClr val="E8682C"/>
              </a:buClr>
              <a:buFont typeface="+mj-lt"/>
              <a:buChar char="•"/>
            </a:pPr>
            <a:r>
              <a:rPr lang="en-US" sz="1500">
                <a:solidFill>
                  <a:srgbClr val="1E2430"/>
                </a:solidFill>
                <a:latin typeface="Arial" panose="020B0604020202020204" pitchFamily="34" charset="0"/>
              </a:rPr>
              <a:t>A faked GPS location cannot be detected</a:t>
            </a:r>
          </a:p>
          <a:p>
            <a:pPr marL="203200" indent="-203200">
              <a:spcAft>
                <a:spcPts val="900"/>
              </a:spcAft>
              <a:buClr>
                <a:srgbClr val="E8682C"/>
              </a:buClr>
              <a:buFont typeface="+mj-lt"/>
              <a:buChar char="•"/>
            </a:pPr>
            <a:r>
              <a:rPr lang="en-US" sz="1500">
                <a:solidFill>
                  <a:srgbClr val="1E2430"/>
                </a:solidFill>
                <a:latin typeface="Arial" panose="020B0604020202020204" pitchFamily="34" charset="0"/>
              </a:rPr>
              <a:t>Scores are entered by the teams themselves</a:t>
            </a:r>
          </a:p>
          <a:p>
            <a:pPr marL="203200" indent="-203200">
              <a:spcAft>
                <a:spcPts val="900"/>
              </a:spcAft>
              <a:buClr>
                <a:srgbClr val="E8682C"/>
              </a:buClr>
              <a:buFont typeface="+mj-lt"/>
              <a:buChar char="•"/>
            </a:pPr>
            <a:r>
              <a:rPr lang="en-US" sz="1500">
                <a:solidFill>
                  <a:srgbClr val="1E2430"/>
                </a:solidFill>
                <a:latin typeface="Arial" panose="020B0604020202020204" pitchFamily="34" charset="0"/>
              </a:rPr>
              <a:t>First use needs guidance (SUS 67.5)</a:t>
            </a:r>
          </a:p>
          <a:p>
            <a:pPr marL="203200" indent="-203200">
              <a:spcAft>
                <a:spcPts val="900"/>
              </a:spcAft>
              <a:buClr>
                <a:srgbClr val="E8682C"/>
              </a:buClr>
              <a:buFont typeface="+mj-lt"/>
              <a:buChar char="•"/>
            </a:pPr>
            <a:r>
              <a:rPr lang="en-US" sz="1500">
                <a:solidFill>
                  <a:srgbClr val="1E2430"/>
                </a:solidFill>
                <a:latin typeface="Arial" panose="020B0604020202020204" pitchFamily="34" charset="0"/>
              </a:rPr>
              <a:t>One facility and a small sample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7B53549-29CF-8021-3FA6-0846BE01BEDD}"/>
              </a:ext>
            </a:extLst>
          </p:cNvPr>
          <p:cNvSpPr/>
          <p:nvPr/>
        </p:nvSpPr>
        <p:spPr>
          <a:xfrm>
            <a:off x="8102600" y="1498600"/>
            <a:ext cx="3479800" cy="3810000"/>
          </a:xfrm>
          <a:prstGeom prst="roundRect">
            <a:avLst>
              <a:gd name="adj" fmla="val 5109"/>
            </a:avLst>
          </a:prstGeom>
          <a:solidFill>
            <a:srgbClr val="F3F4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36B693-A43E-A67E-13E3-FA2A070AD01C}"/>
              </a:ext>
            </a:extLst>
          </p:cNvPr>
          <p:cNvSpPr txBox="1"/>
          <p:nvPr/>
        </p:nvSpPr>
        <p:spPr>
          <a:xfrm>
            <a:off x="8382000" y="1778000"/>
            <a:ext cx="292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E8682C"/>
                </a:solidFill>
                <a:latin typeface="Arial" panose="020B0604020202020204" pitchFamily="34" charset="0"/>
              </a:rPr>
              <a:t>Future work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FFA74F-E354-DD24-1188-1123A427E757}"/>
              </a:ext>
            </a:extLst>
          </p:cNvPr>
          <p:cNvSpPr txBox="1"/>
          <p:nvPr/>
        </p:nvSpPr>
        <p:spPr>
          <a:xfrm>
            <a:off x="8382000" y="2336800"/>
            <a:ext cx="292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03200" indent="-203200">
              <a:spcAft>
                <a:spcPts val="900"/>
              </a:spcAft>
              <a:buClr>
                <a:srgbClr val="E8682C"/>
              </a:buClr>
              <a:buFont typeface="+mj-lt"/>
              <a:buChar char="•"/>
            </a:pPr>
            <a:r>
              <a:rPr lang="en-US" sz="1500">
                <a:solidFill>
                  <a:srgbClr val="1E2430"/>
                </a:solidFill>
                <a:latin typeface="Arial" panose="020B0604020202020204" pitchFamily="34" charset="0"/>
              </a:rPr>
              <a:t>Queues visible without sign-in; guided first use</a:t>
            </a:r>
          </a:p>
          <a:p>
            <a:pPr marL="203200" indent="-203200">
              <a:spcAft>
                <a:spcPts val="900"/>
              </a:spcAft>
              <a:buClr>
                <a:srgbClr val="E8682C"/>
              </a:buClr>
              <a:buFont typeface="+mj-lt"/>
              <a:buChar char="•"/>
            </a:pPr>
            <a:r>
              <a:rPr lang="en-US" sz="1500">
                <a:solidFill>
                  <a:srgbClr val="1E2430"/>
                </a:solidFill>
                <a:latin typeface="Arial" panose="020B0604020202020204" pitchFamily="34" charset="0"/>
              </a:rPr>
              <a:t>QR code check-in at the court</a:t>
            </a:r>
          </a:p>
          <a:p>
            <a:pPr marL="203200" indent="-203200">
              <a:spcAft>
                <a:spcPts val="900"/>
              </a:spcAft>
              <a:buClr>
                <a:srgbClr val="E8682C"/>
              </a:buClr>
              <a:buFont typeface="+mj-lt"/>
              <a:buChar char="•"/>
            </a:pPr>
            <a:r>
              <a:rPr lang="en-US" sz="1500">
                <a:solidFill>
                  <a:srgbClr val="1E2430"/>
                </a:solidFill>
                <a:latin typeface="Arial" panose="020B0604020202020204" pitchFamily="34" charset="0"/>
              </a:rPr>
              <a:t>Futsal and volleyball courts</a:t>
            </a:r>
          </a:p>
          <a:p>
            <a:pPr marL="203200" indent="-203200">
              <a:spcAft>
                <a:spcPts val="900"/>
              </a:spcAft>
              <a:buClr>
                <a:srgbClr val="E8682C"/>
              </a:buClr>
              <a:buFont typeface="+mj-lt"/>
              <a:buChar char="•"/>
            </a:pPr>
            <a:r>
              <a:rPr lang="en-US" sz="1500">
                <a:solidFill>
                  <a:srgbClr val="1E2430"/>
                </a:solidFill>
                <a:latin typeface="Arial" panose="020B0604020202020204" pitchFamily="34" charset="0"/>
              </a:rPr>
              <a:t>Measure disputes before and after deployment</a:t>
            </a:r>
          </a:p>
        </p:txBody>
      </p:sp>
    </p:spTree>
    <p:extLst>
      <p:ext uri="{BB962C8B-B14F-4D97-AF65-F5344CB8AC3E}">
        <p14:creationId xmlns:p14="http://schemas.microsoft.com/office/powerpoint/2010/main" val="37636432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77631F-FC6E-9F34-2D3F-529A2F638071}"/>
              </a:ext>
            </a:extLst>
          </p:cNvPr>
          <p:cNvSpPr txBox="1"/>
          <p:nvPr/>
        </p:nvSpPr>
        <p:spPr>
          <a:xfrm>
            <a:off x="609600" y="2159000"/>
            <a:ext cx="660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6400" b="1">
                <a:solidFill>
                  <a:srgbClr val="FFFFFF"/>
                </a:solidFill>
                <a:latin typeface="Arial" panose="020B0604020202020204" pitchFamily="34" charset="0"/>
              </a:rPr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BB0A3D-4E6F-21AC-00FB-7B67F27DCD6D}"/>
              </a:ext>
            </a:extLst>
          </p:cNvPr>
          <p:cNvSpPr txBox="1"/>
          <p:nvPr/>
        </p:nvSpPr>
        <p:spPr>
          <a:xfrm>
            <a:off x="609600" y="3327400"/>
            <a:ext cx="660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000" b="1">
                <a:solidFill>
                  <a:srgbClr val="E8682C"/>
                </a:solidFill>
                <a:latin typeface="Arial" panose="020B0604020202020204" pitchFamily="34" charset="0"/>
              </a:rPr>
              <a:t>Questions?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0B788E-12BC-6768-5F95-23541A186CFA}"/>
              </a:ext>
            </a:extLst>
          </p:cNvPr>
          <p:cNvSpPr txBox="1"/>
          <p:nvPr/>
        </p:nvSpPr>
        <p:spPr>
          <a:xfrm>
            <a:off x="609600" y="4318000"/>
            <a:ext cx="660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>
                <a:solidFill>
                  <a:srgbClr val="C9CED8"/>
                </a:solidFill>
                <a:latin typeface="Arial" panose="020B0604020202020204" pitchFamily="34" charset="0"/>
              </a:rPr>
              <a:t>[Website link or QR code]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375448-C452-5A20-BFA1-3D8CA824AE4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00" y="889000"/>
            <a:ext cx="2286000" cy="5080000"/>
          </a:xfrm>
          <a:prstGeom prst="rect">
            <a:avLst/>
          </a:prstGeom>
          <a:ln w="12700">
            <a:solidFill>
              <a:srgbClr val="D0D4DC"/>
            </a:solidFill>
          </a:ln>
        </p:spPr>
      </p:pic>
    </p:spTree>
    <p:extLst>
      <p:ext uri="{BB962C8B-B14F-4D97-AF65-F5344CB8AC3E}">
        <p14:creationId xmlns:p14="http://schemas.microsoft.com/office/powerpoint/2010/main" val="21128204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1736</Words>
  <Application>Microsoft Office PowerPoint</Application>
  <PresentationFormat>Custom</PresentationFormat>
  <Paragraphs>186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นศท.ณัฐวุฒิ วันมา</dc:creator>
  <cp:lastModifiedBy>นศท.ณัฐวุฒิ วันมา</cp:lastModifiedBy>
  <cp:revision>1</cp:revision>
  <dcterms:created xsi:type="dcterms:W3CDTF">2026-10-17T16:15:49Z</dcterms:created>
  <dcterms:modified xsi:type="dcterms:W3CDTF">2026-10-17T16:15:49Z</dcterms:modified>
</cp:coreProperties>
</file>