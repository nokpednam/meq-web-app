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B7D4B2-E218-452D-99E9-63BD11401319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71D7A3-68A0-47E9-B95A-6F4A835FF3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9738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สวัสดีครับ ผม ... วันนี้จะนำเสนอโปรเจกต์ </a:t>
            </a:r>
            <a:r>
              <a:rPr lang="en-US"/>
              <a:t>MeQ </a:t>
            </a:r>
            <a:r>
              <a:rPr lang="th-TH"/>
              <a:t>ระบบคิวสนามบาสและแจ้งซ่อมของมหาวิทยาลัยนเรศวร (20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71D7A3-68A0-47E9-B95A-6F4A835FF38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98463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ตอนเย็นทีมที่มารอมีมากกว่าจำนวนสนาม คิวมีอยู่แค่ในความจำของผู้เล่น ทีมที่มาใหม่ต้องถามว่าใครต่อคิวท้ายสุด ทุกคนมองไม่เห็นลำดับ และไม่มีอะไรบังคับให้เป็นไปตามลำดับ เลยทะเลาะกันบ่อย งานวิจัยเรื่องคิวบอกว่าความยุติธรรมที่ผู้คนมองเห็นสำคัญพอ ๆ กับเวลาที่ต้องรอ อีกปัญหาหนึ่งคืออุปกรณ์เสียแล้วไม่มีช่องทางแจ้ง ระบบจองของมหาวิทยาลัยมีอยู่แล้ว แต่ใช้สำหรับจองล่วงหน้า ไม่ได้รองรับคนที่เดินมาเล่น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71D7A3-68A0-47E9-B95A-6F4A835FF38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7074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คำถามหลักคือ คิวที่ฐานข้อมูลเป็นคนบังคับกติกา บวกกับการแจ้งเตือนผ่าน </a:t>
            </a:r>
            <a:r>
              <a:rPr lang="en-US"/>
              <a:t>LINE </a:t>
            </a:r>
            <a:r>
              <a:rPr lang="th-TH"/>
              <a:t>จะใช้แทนการต่อคิวแบบปากต่อปากได้ไหม ผมแบ่งเป็นวัตถุประสงค์ 4 ข้อ และตั้งเกณฑ์วัดผล 7 ตัวไว้ก่อนเริ่มวัดผล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71D7A3-68A0-47E9-B95A-6F4A835FF38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1127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MeQ </a:t>
            </a:r>
            <a:r>
              <a:rPr lang="th-TH"/>
              <a:t>เป็นเว็บแอปที่เปิดบนมือถือ ไม่ต้องติดตั้ง ผู้ใช้ล็อกอินด้วย </a:t>
            </a:r>
            <a:r>
              <a:rPr lang="en-US"/>
              <a:t>LINE </a:t>
            </a:r>
            <a:r>
              <a:rPr lang="th-TH"/>
              <a:t>สร้างทีม เชิญเพื่อน แล้วเข้าคิวสนามที่ต้องการ เมื่อถึงคิว ระบบเรียกทีมและแจ้งเตือนผ่าน </a:t>
            </a:r>
            <a:r>
              <a:rPr lang="en-US"/>
              <a:t>LINE </a:t>
            </a:r>
            <a:r>
              <a:rPr lang="th-TH"/>
              <a:t>ทุกคนในทีมต้องเช็กอินที่สนาม พอเล่นจบ ทั้งสองทีมส่งคะแนน ระบบตรวจว่าคะแนนตรงกันแล้วบันทึกลงสถิติ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71D7A3-68A0-47E9-B95A-6F4A835FF38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0754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กติกาเหล่านี้เป็นกติกาที่ผู้เล่นใช้กันอยู่แล้วที่สนาม ผมแค่เอามาให้ระบบบังคับใช้แทนคน ที่ผู้เล่นสนใจที่สุดคือข้อทีมชนะอยู่ต่อได้ 2 เกมแล้วต้องพัก เพื่อไม่ให้ทีมเก่งทีมเดียวครองสนามทั้งคืน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71D7A3-68A0-47E9-B95A-6F4A835FF38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78642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ผู้เล่นถ่ายรูปจุดที่เสียแล้วส่งรายงาน แอดมินได้รับแจ้งเตือนผ่าน </a:t>
            </a:r>
            <a:r>
              <a:rPr lang="en-US"/>
              <a:t>LINE </a:t>
            </a:r>
            <a:r>
              <a:rPr lang="th-TH"/>
              <a:t>ทันที ทุกครั้งที่สถานะเปลี่ยน ผู้แจ้งได้รับแจ้งเตือน และระบบเก็บประวัติไว้ทุกขั้น (40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71D7A3-68A0-47E9-B95A-6F4A835FF38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0482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หน้าเว็บทำด้วย </a:t>
            </a:r>
            <a:r>
              <a:rPr lang="en-US"/>
              <a:t>Next.js </a:t>
            </a:r>
            <a:r>
              <a:rPr lang="th-TH"/>
              <a:t>และ </a:t>
            </a:r>
            <a:r>
              <a:rPr lang="en-US"/>
              <a:t>deploy </a:t>
            </a:r>
            <a:r>
              <a:rPr lang="th-TH"/>
              <a:t>บน </a:t>
            </a:r>
            <a:r>
              <a:rPr lang="en-US"/>
              <a:t>Vercel </a:t>
            </a:r>
            <a:r>
              <a:rPr lang="th-TH"/>
              <a:t>ฝั่งหลังบ้านใช้ </a:t>
            </a:r>
            <a:r>
              <a:rPr lang="en-US"/>
              <a:t>Supabase </a:t>
            </a:r>
            <a:r>
              <a:rPr lang="th-TH"/>
              <a:t>ซึ่งมีฐานข้อมูล </a:t>
            </a:r>
            <a:r>
              <a:rPr lang="en-US"/>
              <a:t>PostgreSQL </a:t>
            </a:r>
            <a:r>
              <a:rPr lang="th-TH"/>
              <a:t>ระบบล็อกอิน และที่เก็บรูป การแจ้งเตือนส่งผ่าน </a:t>
            </a:r>
            <a:r>
              <a:rPr lang="en-US"/>
              <a:t>LINE Messaging API </a:t>
            </a:r>
            <a:r>
              <a:rPr lang="th-TH"/>
              <a:t>ทั้งหมดใช้บริการแบบฟรี (1 นาที 10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71D7A3-68A0-47E9-B95A-6F4A835FF38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8034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นี่คือหัวใจของงาน ถ้าให้หน้าเว็บเป็นคนตัดสินกติกา คนที่รู้วิธีก็โกงได้ หรือถ้าสองทีมกดเข้าคิวพร้อมกันก็อาจได้คิวซ้อนกัน ผมจึงให้ฐานข้อมูลเป็นกรรมการ ทุกการเปลี่ยนแปลงต้องผ่านฟังก์ชันที่ตรวจสิทธิ์และกติกาภายใน </a:t>
            </a:r>
            <a:r>
              <a:rPr lang="en-US"/>
              <a:t>transaction </a:t>
            </a:r>
            <a:r>
              <a:rPr lang="th-TH"/>
              <a:t>ตำแหน่ง </a:t>
            </a:r>
            <a:r>
              <a:rPr lang="en-US"/>
              <a:t>GPS </a:t>
            </a:r>
            <a:r>
              <a:rPr lang="th-TH"/>
              <a:t>ก็คำนวณระยะทางที่เซิร์ฟเวอร์ ไม่เชื่อค่าที่หน้าเว็บส่งมาว่าอยู่ในระยะ (1 นาที 10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71D7A3-68A0-47E9-B95A-6F4A835FF38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5498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ผมพัฒนาแบบสร้าง ทดสอบ แล้วปรับปรุง ทุกครั้งที่แก้โค้ด </a:t>
            </a:r>
            <a:r>
              <a:rPr lang="en-US"/>
              <a:t>GitHub </a:t>
            </a:r>
            <a:r>
              <a:rPr lang="th-TH"/>
              <a:t>จะรันเทสอัตโนมัติ 147 ข้อ ถ้าข้อไหนไม่ผ่านจะ </a:t>
            </a:r>
            <a:r>
              <a:rPr lang="en-US"/>
              <a:t>merge </a:t>
            </a:r>
            <a:r>
              <a:rPr lang="th-TH"/>
              <a:t>ไม่ได้ และบั๊กที่เจอจากการทดสอบที่สนามจริง แก้แล้วจะเขียนเทสเพิ่มเพื่อไม่ให้บั๊กนั้นกลับมาอีก (50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71D7A3-68A0-47E9-B95A-6F4A835FF38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0513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(พูดตามวิดีโอ) อัดหน้าจอระหว่างเทสที่สนามวันที่ 17 ต.ค. ตัดให้เหลือไม่เกิน 90 วินาที แล้ววางแทนกล่องวิดีโอ (1 นาที 30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71D7A3-68A0-47E9-B95A-6F4A835FF38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3429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ทุกเกณฑ์ตั้งไว้ก่อนวัดผล ผลออกมาผ่าน 6 ตัว รอผล </a:t>
            </a:r>
            <a:r>
              <a:rPr lang="en-US"/>
              <a:t>SUS </a:t>
            </a:r>
            <a:r>
              <a:rPr lang="th-TH"/>
              <a:t>อยู่ โดยเฉพาะ </a:t>
            </a:r>
            <a:r>
              <a:rPr lang="en-US"/>
              <a:t>KPI-1 </a:t>
            </a:r>
            <a:r>
              <a:rPr lang="th-TH"/>
              <a:t>ที่จำลองผู้ใช้ 50 คนกดเข้าออกคิวพร้อมกัน ไม่มีครั้งไหนที่คิวผิดกติกาเลย และมีการกดเข้าคิวซ้ำพร้อมกัน 533 ครั้ง ระบบไม่ยอมรับแม้แต่ครั้งเดียว (1 นาที 30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71D7A3-68A0-47E9-B95A-6F4A835FF38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7268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สิ่งที่ได้เรียนรู้มากที่สุดคือ เทสอัตโนมัติผ่านหมดก็ยังไม่พอ ต้องให้คนจริงใช้จริง บั๊กที่ร้ายแรงที่สุดเจอจากการทดสอบที่สนาม รวมทั้งหมดเจอ 11 จุด แก้ครบและเพิ่มเทสทุกครั้ง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71D7A3-68A0-47E9-B95A-6F4A835FF38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4469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ข้อจำกัดที่ตอบตรง ๆ ได้คือ ถ้ามีคนปลอม </a:t>
            </a:r>
            <a:r>
              <a:rPr lang="en-US"/>
              <a:t>GPS </a:t>
            </a:r>
            <a:r>
              <a:rPr lang="th-TH"/>
              <a:t>ระบบตรวจไม่ได้ และคะแนนเป็นค่าที่ผู้เล่นกรอกเอง ระบบตรวจได้แค่ว่าสองทีมกรอกตรงกัน งานต่อยอดคือขยายไปสนามกีฬาอื่น และใช้ </a:t>
            </a:r>
            <a:r>
              <a:rPr lang="en-US"/>
              <a:t>QR code </a:t>
            </a:r>
            <a:r>
              <a:rPr lang="th-TH"/>
              <a:t>ที่สนามเพื่อยืนยันว่ามาจริง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71D7A3-68A0-47E9-B95A-6F4A835FF38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12060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ขอบคุณครับ ยินดีตอบคำถามครับ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71D7A3-68A0-47E9-B95A-6F4A835FF38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2123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EED2B-0E35-99C3-0709-B366F3F17C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0E85D1-46CA-6C70-939F-450E228CD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CABFCB-030F-95F1-CD5D-767ACFCB98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80B4F-DDF4-4AC3-AA9A-BEE87A2BBBCA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D799EF-AD2E-EF33-6469-8DED4BDADF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347A8B-37F9-5F4D-1742-C1652F498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D1EB-58F9-4747-A109-F6F02E3A55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339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24423-4C18-556D-7360-C2B090819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3AEF4-308D-D332-7B7F-D9ED5EF63C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2B2A27-6181-CF80-84CC-ED8CD4CD1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80B4F-DDF4-4AC3-AA9A-BEE87A2BBBCA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D8C012-BC0A-6945-1264-C02BFC74A7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A6D1BD-1ABC-4A47-DFEB-A1799462F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D1EB-58F9-4747-A109-F6F02E3A55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9297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E1C85-4579-E926-9168-0EB888EF9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B25324-7E01-B75B-B823-84EDABD8D3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0623BF-877D-4575-7EC1-DF7109E05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80B4F-DDF4-4AC3-AA9A-BEE87A2BBBCA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96AC67-5E0E-5B07-C8EF-587F1A732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294A66-11AB-52E8-CC3E-092CEC69B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D1EB-58F9-4747-A109-F6F02E3A55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9602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AC0C5-9E3D-1FA5-28C2-5FED10846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4DE671-4D4B-5869-308A-19211D9441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8D149-51C4-2846-CE25-D4B0F6BDE2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BA4F9B-6BEB-F19C-CC49-6592AC1FC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80B4F-DDF4-4AC3-AA9A-BEE87A2BBBCA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10B42E-59EB-0657-931E-D81595E74C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20AF4A-AD30-63AA-87DC-208A69F0F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D1EB-58F9-4747-A109-F6F02E3A55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8910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B81C6-1A97-50DB-568E-3562602B4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BF5318-9F90-5462-6DAC-D8A17AAA0B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0AE111-6FC5-56BF-13FE-8775560E64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4956752-187A-D91C-7254-0755C466E8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B42DCB9-55F8-15F8-596E-E0D00EB83B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C0FD18A-8499-7173-6BDF-3D16D6FD40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80B4F-DDF4-4AC3-AA9A-BEE87A2BBBCA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00CF5D-5519-9DC4-D448-3C8D2F31BB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3C9A41-6B3D-F603-2383-4167BF1E5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D1EB-58F9-4747-A109-F6F02E3A55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6079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3FF97-4B43-F77C-8B56-BBD53285F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E3959D-A17E-13C7-D5C2-78D17A3F11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80B4F-DDF4-4AC3-AA9A-BEE87A2BBBCA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472B88-BADF-58A8-A8EE-F87E70FE1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A00F4D-CAD1-C91A-1D02-62DDAEB105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D1EB-58F9-4747-A109-F6F02E3A55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969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2B873A-1B51-4EC9-437B-9E73D3E54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80B4F-DDF4-4AC3-AA9A-BEE87A2BBBCA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E3E6C3-3922-CF4D-3369-412810B1C1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41A4A3-5B45-1D97-F6CF-9D99E2A35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D1EB-58F9-4747-A109-F6F02E3A55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6117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68747-55D5-E0D5-E503-DF7E3E0C2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E388F-1526-6C12-5C46-C0BF17C8D6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5690ED-2089-B528-732E-99E00F5A71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306E30-A62B-8C03-C21D-7A8514BFC8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80B4F-DDF4-4AC3-AA9A-BEE87A2BBBCA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3F51AA-F2EB-CE24-050E-15C9720AA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7FDBF9-71A3-4D6D-50F8-0B9690FD6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D1EB-58F9-4747-A109-F6F02E3A55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776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5F388-08C4-A703-1658-76D61B1DD3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E68B983-9869-7CF2-9A0D-720F661948AB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2C7153-6CAF-326B-5634-7BE57965AE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551FED-9D53-A943-C05F-7CD56943D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80B4F-DDF4-4AC3-AA9A-BEE87A2BBBCA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798C4A-BF5D-8FFD-9E5E-774EAFC3A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389DC0-4899-DF34-11A5-5D736BBF6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D1EB-58F9-4747-A109-F6F02E3A55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0844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CFFBE-1943-A99A-465D-3C22F96F8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551C81-CE17-6A54-F896-F30FB6E961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3A7B4B-F317-76E9-F1D3-267DCA9DD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80B4F-DDF4-4AC3-AA9A-BEE87A2BBBCA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508164-55B0-2CB7-D0A9-2F90D6197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91198D-590B-7327-9919-9EFA7796E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D1EB-58F9-4747-A109-F6F02E3A55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910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211B19C-1025-2082-FC26-D30C01DB9B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ACF562-9B6E-16F9-16FE-7761958815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AA0A92-5382-2B38-21F5-44379349A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80B4F-DDF4-4AC3-AA9A-BEE87A2BBBCA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D2F6EF-DDFA-F0C9-AE30-014E1C5BF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7B42A7-6061-487A-B261-E0872D254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D1EB-58F9-4747-A109-F6F02E3A55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754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8D3EE8C-6FC9-BEEB-D2CB-E3C4585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372058-4700-A9A5-8D4D-3E87CCC76C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EE0294-2FD4-BAE5-4C85-C899BB37F9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480B4F-DDF4-4AC3-AA9A-BEE87A2BBBCA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AA910F-EC48-F390-4ECA-B6EF5E5EC6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1F648-F575-B51F-75AE-244E8297DE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F3D1EB-58F9-4747-A109-F6F02E3A55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5212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B12BCE-33C1-DA88-990B-646DEB1ABE58}"/>
              </a:ext>
            </a:extLst>
          </p:cNvPr>
          <p:cNvSpPr txBox="1"/>
          <p:nvPr/>
        </p:nvSpPr>
        <p:spPr>
          <a:xfrm>
            <a:off x="609600" y="15240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FINAL-YEAR PROJECT · COMPUTER SCIENCE · NARESUAN UNIVERSITY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2524DE-4597-F1B7-B18D-41D872A128A4}"/>
              </a:ext>
            </a:extLst>
          </p:cNvPr>
          <p:cNvSpPr txBox="1"/>
          <p:nvPr/>
        </p:nvSpPr>
        <p:spPr>
          <a:xfrm>
            <a:off x="609600" y="18542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200" b="1">
                <a:solidFill>
                  <a:srgbClr val="FFFFFF"/>
                </a:solidFill>
                <a:latin typeface="Arial" panose="020B0604020202020204" pitchFamily="34" charset="0"/>
              </a:rPr>
              <a:t>MeQ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C95243-53A2-1A86-74CA-34C8B0D346D0}"/>
              </a:ext>
            </a:extLst>
          </p:cNvPr>
          <p:cNvSpPr txBox="1"/>
          <p:nvPr/>
        </p:nvSpPr>
        <p:spPr>
          <a:xfrm>
            <a:off x="609600" y="30480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Arial" panose="020B0604020202020204" pitchFamily="34" charset="0"/>
              </a:rPr>
              <a:t>A mobile web application for basketball court queues and maintenance reports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870C52-24C0-24C3-767B-0D71E536065F}"/>
              </a:ext>
            </a:extLst>
          </p:cNvPr>
          <p:cNvSpPr txBox="1"/>
          <p:nvPr/>
        </p:nvSpPr>
        <p:spPr>
          <a:xfrm>
            <a:off x="609600" y="47244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[Your name] · [Student ID]</a:t>
            </a:r>
          </a:p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Advisor: [Advisor name]</a:t>
            </a:r>
          </a:p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2026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D459CC-E66A-BD40-35CB-DAC8715E2EC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02A5736-5FD3-6C37-69BC-DAE36D695C6D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8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39133819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0EFCD3-CFC0-E613-59E0-CF02F117FD64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E2E565-3F35-ACCC-247A-57D3CC83E432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No one can see the queue, and no one can enforce 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1A5358-50BD-6C94-CC45-AA6D2FC9B1C3}"/>
              </a:ext>
            </a:extLst>
          </p:cNvPr>
          <p:cNvSpPr txBox="1"/>
          <p:nvPr/>
        </p:nvSpPr>
        <p:spPr>
          <a:xfrm>
            <a:off x="609600" y="15875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3 courts (3x3 A, 3x3 B, 5x5), free walk-in play, crowded every evening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The queue lives only in players' memory: "Who is last?"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No one can see the order or enforce it, so disputes follow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Broken hoops and lights go unreported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The NU sports booking system handles reservations, not walk-in queues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2EC9B8A-6385-B1DA-4E51-A84C4CC926E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0" y="1778000"/>
            <a:ext cx="5232400" cy="28194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5BA43F4-C639-8A04-67F4-03B478D028C4}"/>
              </a:ext>
            </a:extLst>
          </p:cNvPr>
          <p:cNvSpPr txBox="1"/>
          <p:nvPr/>
        </p:nvSpPr>
        <p:spPr>
          <a:xfrm>
            <a:off x="6350000" y="4724400"/>
            <a:ext cx="523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The official NU sports page handles reservations, not walk-in play</a:t>
            </a:r>
          </a:p>
        </p:txBody>
      </p:sp>
    </p:spTree>
    <p:extLst>
      <p:ext uri="{BB962C8B-B14F-4D97-AF65-F5344CB8AC3E}">
        <p14:creationId xmlns:p14="http://schemas.microsoft.com/office/powerpoint/2010/main" val="5993814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B17F4FE-6A45-3D39-11B1-BED146C007BD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4101A0-7EC1-9E1E-70B5-6870116938E0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Research question and objectives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18E7BC3-F5EF-A208-9A24-EFA2F3D50948}"/>
              </a:ext>
            </a:extLst>
          </p:cNvPr>
          <p:cNvSpPr/>
          <p:nvPr/>
        </p:nvSpPr>
        <p:spPr>
          <a:xfrm>
            <a:off x="609600" y="1422400"/>
            <a:ext cx="10972800" cy="10668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rIns="304800" rtlCol="0" anchor="ctr"/>
          <a:lstStyle/>
          <a:p>
            <a:r>
              <a:rPr lang="en-US" sz="2000" i="1">
                <a:solidFill>
                  <a:srgbClr val="1E2430"/>
                </a:solidFill>
                <a:latin typeface="Arial" panose="020B0604020202020204" pitchFamily="34" charset="0"/>
              </a:rPr>
              <a:t>Can a queue whose rules are enforced by the database, together with push notifications, replace word-of-mouth queuing?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BF6F231-9638-7DF7-1912-2F1824DC7B87}"/>
              </a:ext>
            </a:extLst>
          </p:cNvPr>
          <p:cNvSpPr/>
          <p:nvPr/>
        </p:nvSpPr>
        <p:spPr>
          <a:xfrm>
            <a:off x="609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AFCA753-E688-137F-2080-E817D8CF2011}"/>
              </a:ext>
            </a:extLst>
          </p:cNvPr>
          <p:cNvSpPr/>
          <p:nvPr/>
        </p:nvSpPr>
        <p:spPr>
          <a:xfrm>
            <a:off x="863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0D83BF-6712-9280-94B1-C220CAD151F8}"/>
              </a:ext>
            </a:extLst>
          </p:cNvPr>
          <p:cNvSpPr txBox="1"/>
          <p:nvPr/>
        </p:nvSpPr>
        <p:spPr>
          <a:xfrm>
            <a:off x="863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Queues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259A5F-B979-7E7C-1F44-BF7AD2DA0D23}"/>
              </a:ext>
            </a:extLst>
          </p:cNvPr>
          <p:cNvSpPr txBox="1"/>
          <p:nvPr/>
        </p:nvSpPr>
        <p:spPr>
          <a:xfrm>
            <a:off x="863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Show every court's queue and enforce the court rules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E0ECE19-26E8-16BF-2F74-8506D296A7DA}"/>
              </a:ext>
            </a:extLst>
          </p:cNvPr>
          <p:cNvSpPr/>
          <p:nvPr/>
        </p:nvSpPr>
        <p:spPr>
          <a:xfrm>
            <a:off x="3403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5C89550-E261-ABA1-F393-981EDA0D17FD}"/>
              </a:ext>
            </a:extLst>
          </p:cNvPr>
          <p:cNvSpPr/>
          <p:nvPr/>
        </p:nvSpPr>
        <p:spPr>
          <a:xfrm>
            <a:off x="3657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FD0AE8-F437-DBEF-D944-6DD892B20F4A}"/>
              </a:ext>
            </a:extLst>
          </p:cNvPr>
          <p:cNvSpPr txBox="1"/>
          <p:nvPr/>
        </p:nvSpPr>
        <p:spPr>
          <a:xfrm>
            <a:off x="3657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Presence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C4536D-7039-AF54-E8AC-FD71BAF72956}"/>
              </a:ext>
            </a:extLst>
          </p:cNvPr>
          <p:cNvSpPr txBox="1"/>
          <p:nvPr/>
        </p:nvSpPr>
        <p:spPr>
          <a:xfrm>
            <a:off x="3657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Verify that teams are at the court, with GPS checked on the server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614680B-6622-33A5-68DA-10006C0F410A}"/>
              </a:ext>
            </a:extLst>
          </p:cNvPr>
          <p:cNvSpPr/>
          <p:nvPr/>
        </p:nvSpPr>
        <p:spPr>
          <a:xfrm>
            <a:off x="6197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8D1832C-28B7-4ADE-C2D3-30C76AC94B1F}"/>
              </a:ext>
            </a:extLst>
          </p:cNvPr>
          <p:cNvSpPr/>
          <p:nvPr/>
        </p:nvSpPr>
        <p:spPr>
          <a:xfrm>
            <a:off x="6451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0B0095-947F-277C-7914-3199950B3A1A}"/>
              </a:ext>
            </a:extLst>
          </p:cNvPr>
          <p:cNvSpPr txBox="1"/>
          <p:nvPr/>
        </p:nvSpPr>
        <p:spPr>
          <a:xfrm>
            <a:off x="6451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Maintenance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E365BF5-C6DB-120C-13BC-D862E6434EA0}"/>
              </a:ext>
            </a:extLst>
          </p:cNvPr>
          <p:cNvSpPr txBox="1"/>
          <p:nvPr/>
        </p:nvSpPr>
        <p:spPr>
          <a:xfrm>
            <a:off x="6451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Reports with photos, tracked to resolution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1606395-850D-4CAA-3099-A48981A42C63}"/>
              </a:ext>
            </a:extLst>
          </p:cNvPr>
          <p:cNvSpPr/>
          <p:nvPr/>
        </p:nvSpPr>
        <p:spPr>
          <a:xfrm>
            <a:off x="8991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AD8120E-194A-1D22-0934-CA241B8819A0}"/>
              </a:ext>
            </a:extLst>
          </p:cNvPr>
          <p:cNvSpPr/>
          <p:nvPr/>
        </p:nvSpPr>
        <p:spPr>
          <a:xfrm>
            <a:off x="9245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2B56EAE-726F-597D-7B41-43A05B98B3AD}"/>
              </a:ext>
            </a:extLst>
          </p:cNvPr>
          <p:cNvSpPr txBox="1"/>
          <p:nvPr/>
        </p:nvSpPr>
        <p:spPr>
          <a:xfrm>
            <a:off x="9245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Notify, evaluate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9478AD0-A9FA-8D06-8EC9-0859A4259979}"/>
              </a:ext>
            </a:extLst>
          </p:cNvPr>
          <p:cNvSpPr txBox="1"/>
          <p:nvPr/>
        </p:nvSpPr>
        <p:spPr>
          <a:xfrm>
            <a:off x="9245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LINE notifications and 7 KPIs fixed before measuring</a:t>
            </a:r>
          </a:p>
        </p:txBody>
      </p:sp>
    </p:spTree>
    <p:extLst>
      <p:ext uri="{BB962C8B-B14F-4D97-AF65-F5344CB8AC3E}">
        <p14:creationId xmlns:p14="http://schemas.microsoft.com/office/powerpoint/2010/main" val="27789463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B441068-7BFE-6034-11E9-8BD083ED4A58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A414C6-6700-076D-D735-25B4133D4893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MeQ in one picture: from sign-in to statistics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ACCE47-4F26-33D4-E4EB-A5E732158CD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AE2E0B51-C2F8-1879-842E-D0484C021B85}"/>
              </a:ext>
            </a:extLst>
          </p:cNvPr>
          <p:cNvSpPr/>
          <p:nvPr/>
        </p:nvSpPr>
        <p:spPr>
          <a:xfrm>
            <a:off x="6096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D2EEE1-3BC9-1A38-D564-2A03DD7D8BE3}"/>
              </a:ext>
            </a:extLst>
          </p:cNvPr>
          <p:cNvSpPr txBox="1"/>
          <p:nvPr/>
        </p:nvSpPr>
        <p:spPr>
          <a:xfrm>
            <a:off x="10668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Sign in with LINE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AAFA05B-F73B-3DF1-8D66-C7442D690FA3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3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14AF485B-E085-88FA-B390-E893B963CF29}"/>
              </a:ext>
            </a:extLst>
          </p:cNvPr>
          <p:cNvSpPr/>
          <p:nvPr/>
        </p:nvSpPr>
        <p:spPr>
          <a:xfrm>
            <a:off x="28829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592599-4816-DC1A-3A36-9250BE0D4781}"/>
              </a:ext>
            </a:extLst>
          </p:cNvPr>
          <p:cNvSpPr txBox="1"/>
          <p:nvPr/>
        </p:nvSpPr>
        <p:spPr>
          <a:xfrm>
            <a:off x="33401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Create a team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0C1B4E4-4E19-FC93-2EDB-746125F48D2B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6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E0BD69C5-AFD6-020B-8676-32D06EF4E7E8}"/>
              </a:ext>
            </a:extLst>
          </p:cNvPr>
          <p:cNvSpPr/>
          <p:nvPr/>
        </p:nvSpPr>
        <p:spPr>
          <a:xfrm>
            <a:off x="51562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7E7B53E-6DCF-3591-C217-195AC616DF23}"/>
              </a:ext>
            </a:extLst>
          </p:cNvPr>
          <p:cNvSpPr txBox="1"/>
          <p:nvPr/>
        </p:nvSpPr>
        <p:spPr>
          <a:xfrm>
            <a:off x="56134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Join a court queue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2F7872E-D3B9-BC2B-3A33-7F9C15E48805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49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2458968-5059-2D3A-1C89-7D6EC0E3EF0C}"/>
              </a:ext>
            </a:extLst>
          </p:cNvPr>
          <p:cNvSpPr/>
          <p:nvPr/>
        </p:nvSpPr>
        <p:spPr>
          <a:xfrm>
            <a:off x="74295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8386E8-2C4F-8188-68BC-A089093164F6}"/>
              </a:ext>
            </a:extLst>
          </p:cNvPr>
          <p:cNvSpPr txBox="1"/>
          <p:nvPr/>
        </p:nvSpPr>
        <p:spPr>
          <a:xfrm>
            <a:off x="78867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Check in at the court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B7C63AA-C404-0F96-0B32-044BD84788C9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82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22" name="Oval 21">
            <a:extLst>
              <a:ext uri="{FF2B5EF4-FFF2-40B4-BE49-F238E27FC236}">
                <a16:creationId xmlns:a16="http://schemas.microsoft.com/office/drawing/2014/main" id="{A81290CC-A3BE-431C-0EA5-F8FB1AABA33F}"/>
              </a:ext>
            </a:extLst>
          </p:cNvPr>
          <p:cNvSpPr/>
          <p:nvPr/>
        </p:nvSpPr>
        <p:spPr>
          <a:xfrm>
            <a:off x="97028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19213FA-1207-779D-059F-A1F30AA76AD3}"/>
              </a:ext>
            </a:extLst>
          </p:cNvPr>
          <p:cNvSpPr txBox="1"/>
          <p:nvPr/>
        </p:nvSpPr>
        <p:spPr>
          <a:xfrm>
            <a:off x="101600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Result and statistics</a:t>
            </a:r>
          </a:p>
        </p:txBody>
      </p:sp>
    </p:spTree>
    <p:extLst>
      <p:ext uri="{BB962C8B-B14F-4D97-AF65-F5344CB8AC3E}">
        <p14:creationId xmlns:p14="http://schemas.microsoft.com/office/powerpoint/2010/main" val="14761158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F36612-24BB-830E-B739-E3527B6AB7E0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723A6F-6421-9922-FDE2-5F9226F760FC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The court rules, enforced by the system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A150B04-63EB-1C68-2A2C-55D884D0B23A}"/>
              </a:ext>
            </a:extLst>
          </p:cNvPr>
          <p:cNvSpPr/>
          <p:nvPr/>
        </p:nvSpPr>
        <p:spPr>
          <a:xfrm>
            <a:off x="609600" y="1498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3D0A13-5139-5F9C-56FE-1BE02CEE7894}"/>
              </a:ext>
            </a:extLst>
          </p:cNvPr>
          <p:cNvSpPr txBox="1"/>
          <p:nvPr/>
        </p:nvSpPr>
        <p:spPr>
          <a:xfrm>
            <a:off x="1270000" y="14732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Full roster only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3x3 needs 3 players; 5x5 needs 5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EDF093B-1ABA-E441-FA18-C5E92928D2E2}"/>
              </a:ext>
            </a:extLst>
          </p:cNvPr>
          <p:cNvSpPr/>
          <p:nvPr/>
        </p:nvSpPr>
        <p:spPr>
          <a:xfrm>
            <a:off x="609600" y="24638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5B8DB8-4901-A2A2-9C32-ACDE4ABCEEB5}"/>
              </a:ext>
            </a:extLst>
          </p:cNvPr>
          <p:cNvSpPr txBox="1"/>
          <p:nvPr/>
        </p:nvSpPr>
        <p:spPr>
          <a:xfrm>
            <a:off x="1270000" y="24384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One team, one queue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player belongs to one team; a team waits in one queue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F73BC5F-AC36-5C33-3634-C060CF7D0F6F}"/>
              </a:ext>
            </a:extLst>
          </p:cNvPr>
          <p:cNvSpPr/>
          <p:nvPr/>
        </p:nvSpPr>
        <p:spPr>
          <a:xfrm>
            <a:off x="609600" y="34290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E788ED-23E3-C4E3-B41A-E0626DFDBC02}"/>
              </a:ext>
            </a:extLst>
          </p:cNvPr>
          <p:cNvSpPr txBox="1"/>
          <p:nvPr/>
        </p:nvSpPr>
        <p:spPr>
          <a:xfrm>
            <a:off x="1270000" y="34036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Check-in deadline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called team must check in at the court in time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88AEF98-5816-85BB-2285-E7C099514E7B}"/>
              </a:ext>
            </a:extLst>
          </p:cNvPr>
          <p:cNvSpPr/>
          <p:nvPr/>
        </p:nvSpPr>
        <p:spPr>
          <a:xfrm>
            <a:off x="609600" y="43942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15A386-B1B7-8427-7A77-91641777DA87}"/>
              </a:ext>
            </a:extLst>
          </p:cNvPr>
          <p:cNvSpPr txBox="1"/>
          <p:nvPr/>
        </p:nvSpPr>
        <p:spPr>
          <a:xfrm>
            <a:off x="1270000" y="43688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Winners stay for 2 games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Then rest 1 game; losers have 3 minutes to requeue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B29E84C-35D6-B055-6EC8-2218A807789A}"/>
              </a:ext>
            </a:extLst>
          </p:cNvPr>
          <p:cNvSpPr/>
          <p:nvPr/>
        </p:nvSpPr>
        <p:spPr>
          <a:xfrm>
            <a:off x="609600" y="53594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310C69-A770-896B-5F6F-121198CDF556}"/>
              </a:ext>
            </a:extLst>
          </p:cNvPr>
          <p:cNvSpPr txBox="1"/>
          <p:nvPr/>
        </p:nvSpPr>
        <p:spPr>
          <a:xfrm>
            <a:off x="1270000" y="53340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Both teams agree on the score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Otherwise they resubmit, or an admin decides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EFA0C7B-4181-02E8-40BE-3A519712ED5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1600" y="1422400"/>
            <a:ext cx="38735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29473032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AA0CFE0-EB79-F450-AD23-192DA0CA681B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50FE99-8032-7A09-BE0B-8E6BBE896FAD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Maintenance reports, tracked to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971020-422C-16B9-EA45-42A5592B4FB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22400"/>
            <a:ext cx="2194560" cy="48768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07A503-2786-717B-DF68-B08494E772E6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7200" y="1422400"/>
            <a:ext cx="2194560" cy="48768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C11604-8398-A9E6-5F4A-3B04A870E4CC}"/>
              </a:ext>
            </a:extLst>
          </p:cNvPr>
          <p:cNvSpPr/>
          <p:nvPr/>
        </p:nvSpPr>
        <p:spPr>
          <a:xfrm>
            <a:off x="57404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New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800D07-9C0E-8DFE-C827-D14A8FD70D1E}"/>
              </a:ext>
            </a:extLst>
          </p:cNvPr>
          <p:cNvSpPr txBox="1"/>
          <p:nvPr/>
        </p:nvSpPr>
        <p:spPr>
          <a:xfrm>
            <a:off x="70358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3F0EB2E-711D-1BC9-5FFE-78EEAFD37D50}"/>
              </a:ext>
            </a:extLst>
          </p:cNvPr>
          <p:cNvSpPr/>
          <p:nvPr/>
        </p:nvSpPr>
        <p:spPr>
          <a:xfrm>
            <a:off x="72390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Accepted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08FEC5-704F-E7DC-CCC3-EF28CE97F7FD}"/>
              </a:ext>
            </a:extLst>
          </p:cNvPr>
          <p:cNvSpPr txBox="1"/>
          <p:nvPr/>
        </p:nvSpPr>
        <p:spPr>
          <a:xfrm>
            <a:off x="85344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3152C29-8187-AE85-1642-2859050BEB6B}"/>
              </a:ext>
            </a:extLst>
          </p:cNvPr>
          <p:cNvSpPr/>
          <p:nvPr/>
        </p:nvSpPr>
        <p:spPr>
          <a:xfrm>
            <a:off x="87376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Waiting for caretaker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7DAC7D-3209-72C4-7D67-42B8BB5F8595}"/>
              </a:ext>
            </a:extLst>
          </p:cNvPr>
          <p:cNvSpPr txBox="1"/>
          <p:nvPr/>
        </p:nvSpPr>
        <p:spPr>
          <a:xfrm>
            <a:off x="100330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D4ABD9A-9B0B-8E88-91D9-DA7765CAF73A}"/>
              </a:ext>
            </a:extLst>
          </p:cNvPr>
          <p:cNvSpPr/>
          <p:nvPr/>
        </p:nvSpPr>
        <p:spPr>
          <a:xfrm>
            <a:off x="102362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Resolved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B579B20-4F5D-2782-2036-363E6BC23078}"/>
              </a:ext>
            </a:extLst>
          </p:cNvPr>
          <p:cNvSpPr txBox="1"/>
          <p:nvPr/>
        </p:nvSpPr>
        <p:spPr>
          <a:xfrm>
            <a:off x="5740400" y="23114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or Rejected, if the report is not valid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A4DB91-0D43-9B83-E144-A77DB34BA8A2}"/>
              </a:ext>
            </a:extLst>
          </p:cNvPr>
          <p:cNvSpPr txBox="1"/>
          <p:nvPr/>
        </p:nvSpPr>
        <p:spPr>
          <a:xfrm>
            <a:off x="5740400" y="28702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Players report damage with a photo; the admin is notified on LINE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The reporter is notified of every status change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Every change is recorded in the history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A second report of an open problem is refused</a:t>
            </a:r>
          </a:p>
        </p:txBody>
      </p:sp>
    </p:spTree>
    <p:extLst>
      <p:ext uri="{BB962C8B-B14F-4D97-AF65-F5344CB8AC3E}">
        <p14:creationId xmlns:p14="http://schemas.microsoft.com/office/powerpoint/2010/main" val="2386699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E69959-9315-DCBD-6A4B-8BDCADEB2EEB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D1DE6D-1A10-D3E4-45A5-D6C59278E36A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Architecture: free-tier services, one source of truth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1D21D2-1C1D-D06F-CA95-673B2B83D63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73200"/>
            <a:ext cx="7239000" cy="4826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311416C-5FDD-2025-3B0E-978ABF35415E}"/>
              </a:ext>
            </a:extLst>
          </p:cNvPr>
          <p:cNvSpPr/>
          <p:nvPr/>
        </p:nvSpPr>
        <p:spPr>
          <a:xfrm>
            <a:off x="8178800" y="15240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22A929-DA5C-C5EE-562B-2C010FC516CC}"/>
              </a:ext>
            </a:extLst>
          </p:cNvPr>
          <p:cNvSpPr txBox="1"/>
          <p:nvPr/>
        </p:nvSpPr>
        <p:spPr>
          <a:xfrm>
            <a:off x="8382000" y="17018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Next.js 16 on Vercel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Pages and Server Actions, in TypeScript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76600AE-C7FF-3C00-2E0E-84B723F28C3D}"/>
              </a:ext>
            </a:extLst>
          </p:cNvPr>
          <p:cNvSpPr/>
          <p:nvPr/>
        </p:nvSpPr>
        <p:spPr>
          <a:xfrm>
            <a:off x="8178800" y="27178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6381B9-2E9E-597E-C381-00122BA4172B}"/>
              </a:ext>
            </a:extLst>
          </p:cNvPr>
          <p:cNvSpPr txBox="1"/>
          <p:nvPr/>
        </p:nvSpPr>
        <p:spPr>
          <a:xfrm>
            <a:off x="8382000" y="2895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it-IT" sz="1600" b="1">
                <a:solidFill>
                  <a:srgbClr val="1E2430"/>
                </a:solidFill>
                <a:latin typeface="Arial" panose="020B0604020202020204" pitchFamily="34" charset="0"/>
              </a:rPr>
              <a:t>Supabase</a:t>
            </a:r>
          </a:p>
          <a:p>
            <a:r>
              <a:rPr lang="it-IT" sz="1300">
                <a:solidFill>
                  <a:srgbClr val="5B6270"/>
                </a:solidFill>
                <a:latin typeface="Arial" panose="020B0604020202020204" pitchFamily="34" charset="0"/>
              </a:rPr>
              <a:t>PostgreSQL, LINE sign-in, private photo storage</a:t>
            </a:r>
            <a:endParaRPr lang="en-US" sz="1300">
              <a:solidFill>
                <a:srgbClr val="5B6270"/>
              </a:solidFill>
              <a:latin typeface="Arial" panose="020B0604020202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8E130C0-2412-968E-E3D6-8555F9AD1AA8}"/>
              </a:ext>
            </a:extLst>
          </p:cNvPr>
          <p:cNvSpPr/>
          <p:nvPr/>
        </p:nvSpPr>
        <p:spPr>
          <a:xfrm>
            <a:off x="8178800" y="39116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880E2B-10E5-0D6B-F914-3B3BE28FF001}"/>
              </a:ext>
            </a:extLst>
          </p:cNvPr>
          <p:cNvSpPr txBox="1"/>
          <p:nvPr/>
        </p:nvSpPr>
        <p:spPr>
          <a:xfrm>
            <a:off x="8382000" y="40894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LINE Messaging API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Push notifications to players and admins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4ECFF53-63E8-4A60-5291-E73FA5726210}"/>
              </a:ext>
            </a:extLst>
          </p:cNvPr>
          <p:cNvSpPr/>
          <p:nvPr/>
        </p:nvSpPr>
        <p:spPr>
          <a:xfrm>
            <a:off x="8178800" y="51054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CADC393-4341-47E0-C421-DDD989EFAB9D}"/>
              </a:ext>
            </a:extLst>
          </p:cNvPr>
          <p:cNvSpPr txBox="1"/>
          <p:nvPr/>
        </p:nvSpPr>
        <p:spPr>
          <a:xfrm>
            <a:off x="8382000" y="5283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pg_cron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Advances every queue each 30 seconds</a:t>
            </a:r>
          </a:p>
        </p:txBody>
      </p:sp>
    </p:spTree>
    <p:extLst>
      <p:ext uri="{BB962C8B-B14F-4D97-AF65-F5344CB8AC3E}">
        <p14:creationId xmlns:p14="http://schemas.microsoft.com/office/powerpoint/2010/main" val="14577747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AD7C3D5-CEA5-6B23-8343-7942B741CD85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B8E913-3E7C-0F19-2472-6266CCEE3EEF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The database is the referee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F8DE04-F89D-9EDC-4CF7-EA08F4AB5094}"/>
              </a:ext>
            </a:extLst>
          </p:cNvPr>
          <p:cNvSpPr txBox="1"/>
          <p:nvPr/>
        </p:nvSpPr>
        <p:spPr>
          <a:xfrm>
            <a:off x="609600" y="1473200"/>
            <a:ext cx="546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>
                <a:solidFill>
                  <a:srgbClr val="E8682C"/>
                </a:solidFill>
                <a:latin typeface="Arial" panose="020B0604020202020204" pitchFamily="34" charset="0"/>
              </a:rPr>
              <a:t>The browser only asks.</a:t>
            </a:r>
          </a:p>
          <a:p>
            <a:r>
              <a:rPr lang="en-US" sz="2800" b="1">
                <a:solidFill>
                  <a:srgbClr val="E8682C"/>
                </a:solidFill>
                <a:latin typeface="Arial" panose="020B0604020202020204" pitchFamily="34" charset="0"/>
              </a:rPr>
              <a:t>The database decides.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C1F669-2F46-D4F6-4BD1-B1110FEFAA13}"/>
              </a:ext>
            </a:extLst>
          </p:cNvPr>
          <p:cNvSpPr txBox="1"/>
          <p:nvPr/>
        </p:nvSpPr>
        <p:spPr>
          <a:xfrm>
            <a:off x="609600" y="2921000"/>
            <a:ext cx="546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Every change runs in one transaction that checks the user and the rules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Row-level security blocks direct writes to queue and score tables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GPS: the server computes the distance; a phone's "in range" is never trusted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Notifications are saved with the change, so none is lost or sent twice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8B99CD2-DED3-B957-3A8F-3703080E0637}"/>
              </a:ext>
            </a:extLst>
          </p:cNvPr>
          <p:cNvSpPr/>
          <p:nvPr/>
        </p:nvSpPr>
        <p:spPr>
          <a:xfrm>
            <a:off x="6451600" y="1473200"/>
            <a:ext cx="5130800" cy="3683000"/>
          </a:xfrm>
          <a:prstGeom prst="roundRect">
            <a:avLst>
              <a:gd name="adj" fmla="val 4828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4EE3080-07EB-95B1-9758-C1C0B3098F2F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4800" y="2413000"/>
            <a:ext cx="4724400" cy="17907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7541CD9-FA3F-E52D-3282-36CE2C9A2FD0}"/>
              </a:ext>
            </a:extLst>
          </p:cNvPr>
          <p:cNvSpPr txBox="1"/>
          <p:nvPr/>
        </p:nvSpPr>
        <p:spPr>
          <a:xfrm>
            <a:off x="6654800" y="44450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Notification outbox: saved in the same transaction as the change, then sent once</a:t>
            </a:r>
          </a:p>
        </p:txBody>
      </p:sp>
    </p:spTree>
    <p:extLst>
      <p:ext uri="{BB962C8B-B14F-4D97-AF65-F5344CB8AC3E}">
        <p14:creationId xmlns:p14="http://schemas.microsoft.com/office/powerpoint/2010/main" val="8911168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C0F3A13-917B-0962-6729-9783D996F194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DA2E0F-0423-19A1-EEFE-3209934D2465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Built and tested in small, verified steps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181FBCF-4FA6-6999-74DC-29AC4128700D}"/>
              </a:ext>
            </a:extLst>
          </p:cNvPr>
          <p:cNvSpPr/>
          <p:nvPr/>
        </p:nvSpPr>
        <p:spPr>
          <a:xfrm>
            <a:off x="609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22E727-F221-60F6-AC69-628A7A458CF1}"/>
              </a:ext>
            </a:extLst>
          </p:cNvPr>
          <p:cNvSpPr txBox="1"/>
          <p:nvPr/>
        </p:nvSpPr>
        <p:spPr>
          <a:xfrm>
            <a:off x="863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39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8BB799-7EAC-EBCC-E6CC-57AD8AB5CEAE}"/>
              </a:ext>
            </a:extLst>
          </p:cNvPr>
          <p:cNvSpPr txBox="1"/>
          <p:nvPr/>
        </p:nvSpPr>
        <p:spPr>
          <a:xfrm>
            <a:off x="863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database migrations, each versioned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9D587C8-A684-E185-4F17-A2E9F7624D46}"/>
              </a:ext>
            </a:extLst>
          </p:cNvPr>
          <p:cNvSpPr/>
          <p:nvPr/>
        </p:nvSpPr>
        <p:spPr>
          <a:xfrm>
            <a:off x="3403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6E098A-E26B-0233-831D-33E2672DFF6C}"/>
              </a:ext>
            </a:extLst>
          </p:cNvPr>
          <p:cNvSpPr txBox="1"/>
          <p:nvPr/>
        </p:nvSpPr>
        <p:spPr>
          <a:xfrm>
            <a:off x="3657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147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AD1FBB-EA6B-7519-4106-BDD2C61C0D7D}"/>
              </a:ext>
            </a:extLst>
          </p:cNvPr>
          <p:cNvSpPr txBox="1"/>
          <p:nvPr/>
        </p:nvSpPr>
        <p:spPr>
          <a:xfrm>
            <a:off x="3657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automated tests on every change: 115 database + 32 unit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A3E975E-05B7-4EA1-9E56-E41CC08DD4A9}"/>
              </a:ext>
            </a:extLst>
          </p:cNvPr>
          <p:cNvSpPr/>
          <p:nvPr/>
        </p:nvSpPr>
        <p:spPr>
          <a:xfrm>
            <a:off x="6197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95A28D-E58B-3A4D-F1D7-0268709FB0FF}"/>
              </a:ext>
            </a:extLst>
          </p:cNvPr>
          <p:cNvSpPr txBox="1"/>
          <p:nvPr/>
        </p:nvSpPr>
        <p:spPr>
          <a:xfrm>
            <a:off x="6451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592156-09A8-885A-94F0-106EC4B57D8D}"/>
              </a:ext>
            </a:extLst>
          </p:cNvPr>
          <p:cNvSpPr txBox="1"/>
          <p:nvPr/>
        </p:nvSpPr>
        <p:spPr>
          <a:xfrm>
            <a:off x="6451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field tests with real players on their own phones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5FE018F-287E-7C90-8388-ED5EB86CD661}"/>
              </a:ext>
            </a:extLst>
          </p:cNvPr>
          <p:cNvSpPr/>
          <p:nvPr/>
        </p:nvSpPr>
        <p:spPr>
          <a:xfrm>
            <a:off x="8991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58D35D-9519-29FF-D417-EF036729F313}"/>
              </a:ext>
            </a:extLst>
          </p:cNvPr>
          <p:cNvSpPr txBox="1"/>
          <p:nvPr/>
        </p:nvSpPr>
        <p:spPr>
          <a:xfrm>
            <a:off x="9245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11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3BAE49E-03B0-57C2-8F24-F7E01C4FBF96}"/>
              </a:ext>
            </a:extLst>
          </p:cNvPr>
          <p:cNvSpPr txBox="1"/>
          <p:nvPr/>
        </p:nvSpPr>
        <p:spPr>
          <a:xfrm>
            <a:off x="9245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defects found and fixed, each covered by a new test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E49C52D-A6FD-DA3D-D7BA-09493F7C5606}"/>
              </a:ext>
            </a:extLst>
          </p:cNvPr>
          <p:cNvSpPr/>
          <p:nvPr/>
        </p:nvSpPr>
        <p:spPr>
          <a:xfrm>
            <a:off x="6096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Design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011B80-281A-3138-BCC2-045D39E5651E}"/>
              </a:ext>
            </a:extLst>
          </p:cNvPr>
          <p:cNvSpPr txBox="1"/>
          <p:nvPr/>
        </p:nvSpPr>
        <p:spPr>
          <a:xfrm>
            <a:off x="25654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D80233C-9E69-2DBF-0475-EEB30C0DA131}"/>
              </a:ext>
            </a:extLst>
          </p:cNvPr>
          <p:cNvSpPr/>
          <p:nvPr/>
        </p:nvSpPr>
        <p:spPr>
          <a:xfrm>
            <a:off x="28702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Build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BC0725-8A1E-2F7E-A8D8-F82136399BA0}"/>
              </a:ext>
            </a:extLst>
          </p:cNvPr>
          <p:cNvSpPr txBox="1"/>
          <p:nvPr/>
        </p:nvSpPr>
        <p:spPr>
          <a:xfrm>
            <a:off x="48260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56FC714-6FF1-DC4F-74D1-2A136B4895FD}"/>
              </a:ext>
            </a:extLst>
          </p:cNvPr>
          <p:cNvSpPr/>
          <p:nvPr/>
        </p:nvSpPr>
        <p:spPr>
          <a:xfrm>
            <a:off x="51308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Test in CI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91C1B3F-47F2-6E49-B69F-408A09C71F89}"/>
              </a:ext>
            </a:extLst>
          </p:cNvPr>
          <p:cNvSpPr txBox="1"/>
          <p:nvPr/>
        </p:nvSpPr>
        <p:spPr>
          <a:xfrm>
            <a:off x="70866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BE87962-1C01-AC4E-CFC0-87112CF15C23}"/>
              </a:ext>
            </a:extLst>
          </p:cNvPr>
          <p:cNvSpPr/>
          <p:nvPr/>
        </p:nvSpPr>
        <p:spPr>
          <a:xfrm>
            <a:off x="73914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Arial" panose="020B0604020202020204" pitchFamily="34" charset="0"/>
              </a:rPr>
              <a:t>Field test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664907-6F59-29FB-D356-AE4190FB5DC7}"/>
              </a:ext>
            </a:extLst>
          </p:cNvPr>
          <p:cNvSpPr txBox="1"/>
          <p:nvPr/>
        </p:nvSpPr>
        <p:spPr>
          <a:xfrm>
            <a:off x="93472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CE0A62BA-AA92-3735-372F-87D5F1288D67}"/>
              </a:ext>
            </a:extLst>
          </p:cNvPr>
          <p:cNvSpPr/>
          <p:nvPr/>
        </p:nvSpPr>
        <p:spPr>
          <a:xfrm>
            <a:off x="96520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Fix + new test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C5DFC2-1BF1-22E9-1A7E-C2474EF56675}"/>
              </a:ext>
            </a:extLst>
          </p:cNvPr>
          <p:cNvSpPr txBox="1"/>
          <p:nvPr/>
        </p:nvSpPr>
        <p:spPr>
          <a:xfrm>
            <a:off x="609600" y="58166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B6270"/>
                </a:solidFill>
                <a:latin typeface="Arial" panose="020B0604020202020204" pitchFamily="34" charset="0"/>
              </a:rPr>
              <a:t>Design science research: build, evaluate, improve</a:t>
            </a:r>
          </a:p>
        </p:txBody>
      </p:sp>
    </p:spTree>
    <p:extLst>
      <p:ext uri="{BB962C8B-B14F-4D97-AF65-F5344CB8AC3E}">
        <p14:creationId xmlns:p14="http://schemas.microsoft.com/office/powerpoint/2010/main" val="11286820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1F68CC8-ABE7-C20B-50F8-1C8632B06A06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DEMO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17627F-E00E-CE71-2A50-53AFD34090FF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FFFFFF"/>
                </a:solidFill>
                <a:latin typeface="Arial" panose="020B0604020202020204" pitchFamily="34" charset="0"/>
              </a:rPr>
              <a:t>One round on the court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0817991-BE29-A7E3-64E9-C0E9DA1A6294}"/>
              </a:ext>
            </a:extLst>
          </p:cNvPr>
          <p:cNvSpPr/>
          <p:nvPr/>
        </p:nvSpPr>
        <p:spPr>
          <a:xfrm>
            <a:off x="609600" y="1473200"/>
            <a:ext cx="6350000" cy="4826000"/>
          </a:xfrm>
          <a:prstGeom prst="roundRect">
            <a:avLst>
              <a:gd name="adj" fmla="val 3684"/>
            </a:avLst>
          </a:prstGeom>
          <a:solidFill>
            <a:srgbClr val="2A314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Arial" panose="020B0604020202020204" pitchFamily="34" charset="0"/>
              </a:rPr>
              <a:t>[ Demo video, 60–90 s ]</a:t>
            </a:r>
          </a:p>
          <a:p>
            <a:pPr algn="ctr"/>
            <a:r>
              <a:rPr lang="en-US">
                <a:solidFill>
                  <a:srgbClr val="C9CED8"/>
                </a:solidFill>
                <a:latin typeface="Arial" panose="020B0604020202020204" pitchFamily="34" charset="0"/>
              </a:rPr>
              <a:t>Join queue → LINE message → check in → scores → result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A82DFD5-EBD4-4429-4713-5C69D34E1B0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0" y="1473200"/>
            <a:ext cx="2171700" cy="4826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134B66A-34A2-2A2D-ED0B-42C7AABE4BE4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0700" y="1473200"/>
            <a:ext cx="2171700" cy="4826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24923116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454EA23-F519-2CEA-FEFC-9E64234A5B9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4881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4CD6C8-C833-11B7-36AF-44476902E8A9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8DB2DA-B7B2-044D-90F6-76B69BEC59C2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Real players found what the tests missed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B2533E6-1189-EEF6-DE6E-37C8464D568D}"/>
              </a:ext>
            </a:extLst>
          </p:cNvPr>
          <p:cNvSpPr/>
          <p:nvPr/>
        </p:nvSpPr>
        <p:spPr>
          <a:xfrm>
            <a:off x="6096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E441D78-9ED4-9108-B15C-C96A7C09A359}"/>
              </a:ext>
            </a:extLst>
          </p:cNvPr>
          <p:cNvSpPr/>
          <p:nvPr/>
        </p:nvSpPr>
        <p:spPr>
          <a:xfrm>
            <a:off x="8636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4035FD-E5CE-CB03-CB9A-C2E49C13FDB4}"/>
              </a:ext>
            </a:extLst>
          </p:cNvPr>
          <p:cNvSpPr txBox="1"/>
          <p:nvPr/>
        </p:nvSpPr>
        <p:spPr>
          <a:xfrm>
            <a:off x="8636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Queue stalled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721A89-BD99-B82B-620A-5CA651A8F64C}"/>
              </a:ext>
            </a:extLst>
          </p:cNvPr>
          <p:cNvSpPr txBox="1"/>
          <p:nvPr/>
        </p:nvSpPr>
        <p:spPr>
          <a:xfrm>
            <a:off x="8636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The queue stopped advancing after a team requeued. Fixed in the database, with a new test.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512EE58-3A98-05E7-DA32-B986A238A803}"/>
              </a:ext>
            </a:extLst>
          </p:cNvPr>
          <p:cNvSpPr/>
          <p:nvPr/>
        </p:nvSpPr>
        <p:spPr>
          <a:xfrm>
            <a:off x="43561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9AAFEA1-1BDA-EB7D-4A4E-D6615C08D700}"/>
              </a:ext>
            </a:extLst>
          </p:cNvPr>
          <p:cNvSpPr/>
          <p:nvPr/>
        </p:nvSpPr>
        <p:spPr>
          <a:xfrm>
            <a:off x="46101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79FE88-5E53-F35C-3DF9-527D61EEFDA1}"/>
              </a:ext>
            </a:extLst>
          </p:cNvPr>
          <p:cNvSpPr txBox="1"/>
          <p:nvPr/>
        </p:nvSpPr>
        <p:spPr>
          <a:xfrm>
            <a:off x="46101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Challenger dropped (16 Oct)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0ADBD83-66EC-606E-4789-A81AB39762AD}"/>
              </a:ext>
            </a:extLst>
          </p:cNvPr>
          <p:cNvSpPr txBox="1"/>
          <p:nvPr/>
        </p:nvSpPr>
        <p:spPr>
          <a:xfrm>
            <a:off x="46101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When a winner left, the called challenger vanished from the queue. Fixed the same day, with a new test.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4C606FE-4940-46DF-8490-ED7E354E1A1D}"/>
              </a:ext>
            </a:extLst>
          </p:cNvPr>
          <p:cNvSpPr/>
          <p:nvPr/>
        </p:nvSpPr>
        <p:spPr>
          <a:xfrm>
            <a:off x="81026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08A937E-320F-B6FB-B9E6-45E576F14316}"/>
              </a:ext>
            </a:extLst>
          </p:cNvPr>
          <p:cNvSpPr/>
          <p:nvPr/>
        </p:nvSpPr>
        <p:spPr>
          <a:xfrm>
            <a:off x="83566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C3393F-CF81-BE50-5614-F363334D5C12}"/>
              </a:ext>
            </a:extLst>
          </p:cNvPr>
          <p:cNvSpPr txBox="1"/>
          <p:nvPr/>
        </p:nvSpPr>
        <p:spPr>
          <a:xfrm>
            <a:off x="83566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Statistics showed 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7D6DB5E-C8A4-DA14-46B9-9F5EC85838A2}"/>
              </a:ext>
            </a:extLst>
          </p:cNvPr>
          <p:cNvSpPr txBox="1"/>
          <p:nvPr/>
        </p:nvSpPr>
        <p:spPr>
          <a:xfrm>
            <a:off x="83566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missing permission grant hid players' statistics. Fixed and verified on the live site.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1F7E56A-3869-074C-8923-E883D34D8257}"/>
              </a:ext>
            </a:extLst>
          </p:cNvPr>
          <p:cNvSpPr/>
          <p:nvPr/>
        </p:nvSpPr>
        <p:spPr>
          <a:xfrm>
            <a:off x="609600" y="4953000"/>
            <a:ext cx="10972800" cy="10668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rtlCol="0" anchor="ctr"/>
          <a:lstStyle/>
          <a:p>
            <a:r>
              <a:rPr lang="en-US" sz="1900" b="1">
                <a:solidFill>
                  <a:srgbClr val="1E2430"/>
                </a:solidFill>
                <a:latin typeface="Arial" panose="020B0604020202020204" pitchFamily="34" charset="0"/>
              </a:rPr>
              <a:t>Lesson: every automated test passed, but real users on real phones found the edge cases.</a:t>
            </a:r>
          </a:p>
        </p:txBody>
      </p:sp>
    </p:spTree>
    <p:extLst>
      <p:ext uri="{BB962C8B-B14F-4D97-AF65-F5344CB8AC3E}">
        <p14:creationId xmlns:p14="http://schemas.microsoft.com/office/powerpoint/2010/main" val="12400300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A344BA-ED8E-D903-D2C7-2F9DF390965A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IMPACT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7308DD-3E1D-BDC0-2E04-3C94AAC27107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Impact, limitations, and future work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79AB88D-585C-81D2-A2BE-5E07264B43FB}"/>
              </a:ext>
            </a:extLst>
          </p:cNvPr>
          <p:cNvSpPr/>
          <p:nvPr/>
        </p:nvSpPr>
        <p:spPr>
          <a:xfrm>
            <a:off x="609600" y="1498600"/>
            <a:ext cx="3479800" cy="3810000"/>
          </a:xfrm>
          <a:prstGeom prst="roundRect">
            <a:avLst>
              <a:gd name="adj" fmla="val 5109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A3F35E-49C3-D3DF-7260-12070D732908}"/>
              </a:ext>
            </a:extLst>
          </p:cNvPr>
          <p:cNvSpPr txBox="1"/>
          <p:nvPr/>
        </p:nvSpPr>
        <p:spPr>
          <a:xfrm>
            <a:off x="8890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Impact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695B3E-74C4-35E3-56E2-AABCE8DC6AC8}"/>
              </a:ext>
            </a:extLst>
          </p:cNvPr>
          <p:cNvSpPr txBox="1"/>
          <p:nvPr/>
        </p:nvSpPr>
        <p:spPr>
          <a:xfrm>
            <a:off x="8890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A visible, fair queue: fewer arguments, no standing by the court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Damage reaches the staff sooner; players follow the repair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Free infrastructure that other facilities can reuse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91342C1-15A5-EFE2-63B1-04D014B4C6B6}"/>
              </a:ext>
            </a:extLst>
          </p:cNvPr>
          <p:cNvSpPr/>
          <p:nvPr/>
        </p:nvSpPr>
        <p:spPr>
          <a:xfrm>
            <a:off x="4356100" y="1498600"/>
            <a:ext cx="3479800" cy="3810000"/>
          </a:xfrm>
          <a:prstGeom prst="roundRect">
            <a:avLst>
              <a:gd name="adj" fmla="val 5109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C541A9-F32F-F8D4-C16D-BE19816E9171}"/>
              </a:ext>
            </a:extLst>
          </p:cNvPr>
          <p:cNvSpPr txBox="1"/>
          <p:nvPr/>
        </p:nvSpPr>
        <p:spPr>
          <a:xfrm>
            <a:off x="46355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Limitations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4E726C-4FFF-34AC-53DA-24C552C212DA}"/>
              </a:ext>
            </a:extLst>
          </p:cNvPr>
          <p:cNvSpPr txBox="1"/>
          <p:nvPr/>
        </p:nvSpPr>
        <p:spPr>
          <a:xfrm>
            <a:off x="46355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A faked GPS location cannot be detected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Scores are entered by the teams themselves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One facility and a small sample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F892297-1A3C-4F90-35F4-7C608152D6B9}"/>
              </a:ext>
            </a:extLst>
          </p:cNvPr>
          <p:cNvSpPr/>
          <p:nvPr/>
        </p:nvSpPr>
        <p:spPr>
          <a:xfrm>
            <a:off x="8102600" y="1498600"/>
            <a:ext cx="3479800" cy="3810000"/>
          </a:xfrm>
          <a:prstGeom prst="roundRect">
            <a:avLst>
              <a:gd name="adj" fmla="val 5109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F69FE5-7465-F556-9547-C2BE0AE7017B}"/>
              </a:ext>
            </a:extLst>
          </p:cNvPr>
          <p:cNvSpPr txBox="1"/>
          <p:nvPr/>
        </p:nvSpPr>
        <p:spPr>
          <a:xfrm>
            <a:off x="83820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Future work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5DF2FF6-C223-F98E-8EE0-F8CC7C9EC2B7}"/>
              </a:ext>
            </a:extLst>
          </p:cNvPr>
          <p:cNvSpPr txBox="1"/>
          <p:nvPr/>
        </p:nvSpPr>
        <p:spPr>
          <a:xfrm>
            <a:off x="83820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Futsal and volleyball courts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QR code check-in at the court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Measure disputes before and after deployment</a:t>
            </a:r>
          </a:p>
        </p:txBody>
      </p:sp>
    </p:spTree>
    <p:extLst>
      <p:ext uri="{BB962C8B-B14F-4D97-AF65-F5344CB8AC3E}">
        <p14:creationId xmlns:p14="http://schemas.microsoft.com/office/powerpoint/2010/main" val="12928205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981870-5D6D-ADE7-F453-F3B8AA0A3527}"/>
              </a:ext>
            </a:extLst>
          </p:cNvPr>
          <p:cNvSpPr txBox="1"/>
          <p:nvPr/>
        </p:nvSpPr>
        <p:spPr>
          <a:xfrm>
            <a:off x="609600" y="2159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6400" b="1">
                <a:solidFill>
                  <a:srgbClr val="FFFFFF"/>
                </a:solidFill>
                <a:latin typeface="Arial" panose="020B0604020202020204" pitchFamily="34" charset="0"/>
              </a:rPr>
              <a:t>Thank you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76AA6E-72D1-1133-8CBC-D5D8B29231EC}"/>
              </a:ext>
            </a:extLst>
          </p:cNvPr>
          <p:cNvSpPr txBox="1"/>
          <p:nvPr/>
        </p:nvSpPr>
        <p:spPr>
          <a:xfrm>
            <a:off x="609600" y="33274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E8682C"/>
                </a:solidFill>
                <a:latin typeface="Arial" panose="020B0604020202020204" pitchFamily="34" charset="0"/>
              </a:rPr>
              <a:t>Questions?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2C125F-114B-A628-8418-42E49FE0832C}"/>
              </a:ext>
            </a:extLst>
          </p:cNvPr>
          <p:cNvSpPr txBox="1"/>
          <p:nvPr/>
        </p:nvSpPr>
        <p:spPr>
          <a:xfrm>
            <a:off x="609600" y="4318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[Website link or QR code]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8FAB702-E514-989D-2377-ADA3795BCD08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5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31784014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1515</Words>
  <Application>Microsoft Office PowerPoint</Application>
  <PresentationFormat>Custom</PresentationFormat>
  <Paragraphs>172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นศท.ณัฐวุฒิ วันมา</dc:creator>
  <cp:lastModifiedBy>นศท.ณัฐวุฒิ วันมา</cp:lastModifiedBy>
  <cp:revision>1</cp:revision>
  <dcterms:created xsi:type="dcterms:W3CDTF">2026-10-17T09:03:59Z</dcterms:created>
  <dcterms:modified xsi:type="dcterms:W3CDTF">2026-10-17T09:03:59Z</dcterms:modified>
</cp:coreProperties>
</file>